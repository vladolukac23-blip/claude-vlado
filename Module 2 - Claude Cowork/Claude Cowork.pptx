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565" r:id="rId2"/>
    <p:sldId id="4203" r:id="rId3"/>
    <p:sldId id="4208" r:id="rId4"/>
    <p:sldId id="569" r:id="rId5"/>
    <p:sldId id="4302" r:id="rId6"/>
    <p:sldId id="4207" r:id="rId7"/>
    <p:sldId id="4291" r:id="rId8"/>
    <p:sldId id="4292" r:id="rId9"/>
    <p:sldId id="4211" r:id="rId10"/>
    <p:sldId id="4298" r:id="rId11"/>
    <p:sldId id="4209" r:id="rId12"/>
    <p:sldId id="4297" r:id="rId13"/>
    <p:sldId id="4290" r:id="rId14"/>
    <p:sldId id="259" r:id="rId15"/>
    <p:sldId id="257" r:id="rId16"/>
    <p:sldId id="4306" r:id="rId17"/>
    <p:sldId id="4307" r:id="rId18"/>
    <p:sldId id="4308" r:id="rId19"/>
    <p:sldId id="4277" r:id="rId20"/>
    <p:sldId id="4278" r:id="rId21"/>
    <p:sldId id="4281" r:id="rId22"/>
    <p:sldId id="4282" r:id="rId23"/>
    <p:sldId id="4305" r:id="rId24"/>
    <p:sldId id="4295" r:id="rId25"/>
    <p:sldId id="4212" r:id="rId26"/>
    <p:sldId id="4213" r:id="rId27"/>
    <p:sldId id="4296" r:id="rId28"/>
    <p:sldId id="4303" r:id="rId29"/>
    <p:sldId id="4304" r:id="rId30"/>
    <p:sldId id="4299" r:id="rId31"/>
    <p:sldId id="4214" r:id="rId32"/>
    <p:sldId id="4309" r:id="rId33"/>
    <p:sldId id="4210" r:id="rId34"/>
    <p:sldId id="4300" r:id="rId35"/>
    <p:sldId id="4301" r:id="rId36"/>
    <p:sldId id="4310" r:id="rId37"/>
    <p:sldId id="4293" r:id="rId38"/>
    <p:sldId id="4294" r:id="rId39"/>
    <p:sldId id="277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1BBFD1"/>
    <a:srgbClr val="D56E48"/>
    <a:srgbClr val="11CCDD"/>
    <a:srgbClr val="F9F9F9"/>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50" autoAdjust="0"/>
    <p:restoredTop sz="94721"/>
  </p:normalViewPr>
  <p:slideViewPr>
    <p:cSldViewPr snapToGrid="0" snapToObjects="1">
      <p:cViewPr varScale="1">
        <p:scale>
          <a:sx n="157" d="100"/>
          <a:sy n="157" d="100"/>
        </p:scale>
        <p:origin x="281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BB715B-7861-4623-B455-2278A068250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69F15D09-4FB3-476C-8B81-089C5D955308}">
      <dgm:prSet custT="1"/>
      <dgm:spPr>
        <a:solidFill>
          <a:srgbClr val="0C1752"/>
        </a:solidFill>
      </dgm:spPr>
      <dgm:t>
        <a:bodyPr/>
        <a:lstStyle/>
        <a:p>
          <a:pPr>
            <a:buNone/>
          </a:pPr>
          <a:r>
            <a:rPr lang="en-US" sz="1700" dirty="0">
              <a:latin typeface="Montserrat" panose="00000500000000000000" pitchFamily="2" charset="0"/>
            </a:rPr>
            <a:t>Explain what Claude </a:t>
          </a:r>
          <a:r>
            <a:rPr lang="en-US" sz="1700" dirty="0" err="1">
              <a:latin typeface="Montserrat" panose="00000500000000000000" pitchFamily="2" charset="0"/>
            </a:rPr>
            <a:t>Cowork</a:t>
          </a:r>
          <a:r>
            <a:rPr lang="en-US" sz="1700" dirty="0">
              <a:latin typeface="Montserrat" panose="00000500000000000000" pitchFamily="2" charset="0"/>
            </a:rPr>
            <a:t> is and how its core components (Skills, Plugins, and Connectors like Gmail) work together.</a:t>
          </a:r>
        </a:p>
      </dgm:t>
    </dgm:pt>
    <dgm:pt modelId="{FE03FB4A-8C35-4BDF-A455-6B4CA7979D93}" type="parTrans" cxnId="{D05E3E76-4C9F-4D0E-B6E2-E32CD7F6128E}">
      <dgm:prSet/>
      <dgm:spPr/>
      <dgm:t>
        <a:bodyPr/>
        <a:lstStyle/>
        <a:p>
          <a:endParaRPr lang="en-CA"/>
        </a:p>
      </dgm:t>
    </dgm:pt>
    <dgm:pt modelId="{AA84B12C-7878-437C-B9E2-1F0D60EBBF75}" type="sibTrans" cxnId="{D05E3E76-4C9F-4D0E-B6E2-E32CD7F6128E}">
      <dgm:prSet/>
      <dgm:spPr/>
      <dgm:t>
        <a:bodyPr/>
        <a:lstStyle/>
        <a:p>
          <a:endParaRPr lang="en-CA"/>
        </a:p>
      </dgm:t>
    </dgm:pt>
    <dgm:pt modelId="{29863779-49CA-4E64-AC7E-ED5B5378EFA9}">
      <dgm:prSet custT="1"/>
      <dgm:spPr>
        <a:solidFill>
          <a:srgbClr val="D56E48"/>
        </a:solidFill>
      </dgm:spPr>
      <dgm:t>
        <a:bodyPr/>
        <a:lstStyle/>
        <a:p>
          <a:pPr>
            <a:buNone/>
          </a:pPr>
          <a:r>
            <a:rPr lang="en-US" sz="1700" dirty="0">
              <a:latin typeface="Montserrat" panose="00000500000000000000" pitchFamily="2" charset="0"/>
            </a:rPr>
            <a:t>Effectively use existing Skills and Plugins to automate workflows and improve productivity.</a:t>
          </a:r>
        </a:p>
      </dgm:t>
    </dgm:pt>
    <dgm:pt modelId="{43BE335C-6957-4A26-84CA-935A1F6E868F}" type="parTrans" cxnId="{0A84CB0C-C4CE-477B-A99E-3E7D9F9E38D9}">
      <dgm:prSet/>
      <dgm:spPr/>
      <dgm:t>
        <a:bodyPr/>
        <a:lstStyle/>
        <a:p>
          <a:endParaRPr lang="en-CA"/>
        </a:p>
      </dgm:t>
    </dgm:pt>
    <dgm:pt modelId="{E44E0B3C-7448-45FD-A60D-3C0BB11D81E5}" type="sibTrans" cxnId="{0A84CB0C-C4CE-477B-A99E-3E7D9F9E38D9}">
      <dgm:prSet/>
      <dgm:spPr/>
      <dgm:t>
        <a:bodyPr/>
        <a:lstStyle/>
        <a:p>
          <a:endParaRPr lang="en-CA"/>
        </a:p>
      </dgm:t>
    </dgm:pt>
    <dgm:pt modelId="{323C0682-8FB4-4D5A-BD0C-18A9A848096B}">
      <dgm:prSet custT="1"/>
      <dgm:spPr>
        <a:solidFill>
          <a:schemeClr val="bg1">
            <a:lumMod val="65000"/>
          </a:schemeClr>
        </a:solidFill>
      </dgm:spPr>
      <dgm:t>
        <a:bodyPr/>
        <a:lstStyle/>
        <a:p>
          <a:pPr>
            <a:buNone/>
          </a:pPr>
          <a:r>
            <a:rPr lang="en-US" sz="1700">
              <a:latin typeface="Montserrat" panose="00000500000000000000" pitchFamily="2" charset="0"/>
            </a:rPr>
            <a:t>Build and deploy custom Skills and Plugins tailored to specific business needs.</a:t>
          </a:r>
        </a:p>
      </dgm:t>
    </dgm:pt>
    <dgm:pt modelId="{8526D693-98E5-4E0F-83A2-A85683CA00FE}" type="parTrans" cxnId="{F94D4E8B-EDD4-4207-99DC-903FAA52236E}">
      <dgm:prSet/>
      <dgm:spPr/>
      <dgm:t>
        <a:bodyPr/>
        <a:lstStyle/>
        <a:p>
          <a:endParaRPr lang="en-CA"/>
        </a:p>
      </dgm:t>
    </dgm:pt>
    <dgm:pt modelId="{A7701AB6-8899-418C-946C-B985D677FE42}" type="sibTrans" cxnId="{F94D4E8B-EDD4-4207-99DC-903FAA52236E}">
      <dgm:prSet/>
      <dgm:spPr/>
      <dgm:t>
        <a:bodyPr/>
        <a:lstStyle/>
        <a:p>
          <a:endParaRPr lang="en-CA"/>
        </a:p>
      </dgm:t>
    </dgm:pt>
    <dgm:pt modelId="{69F6342D-F165-4D4D-9F97-6F4D4CA7F740}">
      <dgm:prSet custT="1"/>
      <dgm:spPr>
        <a:solidFill>
          <a:srgbClr val="1BBFD1"/>
        </a:solidFill>
      </dgm:spPr>
      <dgm:t>
        <a:bodyPr/>
        <a:lstStyle/>
        <a:p>
          <a:pPr>
            <a:buNone/>
          </a:pPr>
          <a:r>
            <a:rPr lang="en-US" sz="1700">
              <a:latin typeface="Montserrat" panose="00000500000000000000" pitchFamily="2" charset="0"/>
            </a:rPr>
            <a:t>Automate task scheduling, organize information, and manage complex multitask workflows (e.g., deep research and document synthesis).</a:t>
          </a:r>
        </a:p>
      </dgm:t>
    </dgm:pt>
    <dgm:pt modelId="{42066717-48EB-4E2E-8C5A-B76357948DC4}" type="parTrans" cxnId="{B4123DCF-FAB6-4813-BC69-6F503865E441}">
      <dgm:prSet/>
      <dgm:spPr/>
      <dgm:t>
        <a:bodyPr/>
        <a:lstStyle/>
        <a:p>
          <a:endParaRPr lang="en-CA"/>
        </a:p>
      </dgm:t>
    </dgm:pt>
    <dgm:pt modelId="{ACD42603-1E69-4DA9-9DFC-A2825FC65E48}" type="sibTrans" cxnId="{B4123DCF-FAB6-4813-BC69-6F503865E441}">
      <dgm:prSet/>
      <dgm:spPr/>
      <dgm:t>
        <a:bodyPr/>
        <a:lstStyle/>
        <a:p>
          <a:endParaRPr lang="en-CA"/>
        </a:p>
      </dgm:t>
    </dgm:pt>
    <dgm:pt modelId="{2D7DF396-94F6-4E06-837F-ED2FBB5A791A}">
      <dgm:prSet custT="1"/>
      <dgm:spPr>
        <a:solidFill>
          <a:srgbClr val="0C1752"/>
        </a:solidFill>
      </dgm:spPr>
      <dgm:t>
        <a:bodyPr/>
        <a:lstStyle/>
        <a:p>
          <a:pPr>
            <a:buNone/>
          </a:pPr>
          <a:r>
            <a:rPr lang="en-US" sz="1700" dirty="0">
              <a:latin typeface="Montserrat" panose="00000500000000000000" pitchFamily="2" charset="0"/>
            </a:rPr>
            <a:t>Apply Claude </a:t>
          </a:r>
          <a:r>
            <a:rPr lang="en-US" sz="1700" dirty="0" err="1">
              <a:latin typeface="Montserrat" panose="00000500000000000000" pitchFamily="2" charset="0"/>
            </a:rPr>
            <a:t>Cowork</a:t>
          </a:r>
          <a:r>
            <a:rPr lang="en-US" sz="1700" dirty="0">
              <a:latin typeface="Montserrat" panose="00000500000000000000" pitchFamily="2" charset="0"/>
            </a:rPr>
            <a:t> to real business use cases, including marketing, finance, financial analysis, and competitor research.</a:t>
          </a:r>
        </a:p>
      </dgm:t>
    </dgm:pt>
    <dgm:pt modelId="{6F34B8EC-9006-4B09-A6D3-A4DD57802AB3}" type="parTrans" cxnId="{27E7A66B-7A2A-42D0-90BA-108AA7B30DFC}">
      <dgm:prSet/>
      <dgm:spPr/>
      <dgm:t>
        <a:bodyPr/>
        <a:lstStyle/>
        <a:p>
          <a:endParaRPr lang="en-CA"/>
        </a:p>
      </dgm:t>
    </dgm:pt>
    <dgm:pt modelId="{E487503F-EE56-4F10-ACAF-FC22719A618D}" type="sibTrans" cxnId="{27E7A66B-7A2A-42D0-90BA-108AA7B30DFC}">
      <dgm:prSet/>
      <dgm:spPr/>
      <dgm:t>
        <a:bodyPr/>
        <a:lstStyle/>
        <a:p>
          <a:endParaRPr lang="en-CA"/>
        </a:p>
      </dgm:t>
    </dgm:pt>
    <dgm:pt modelId="{89639BA3-1BB7-4678-AE5F-D08A4B1A5B6F}">
      <dgm:prSet custT="1"/>
      <dgm:spPr>
        <a:solidFill>
          <a:srgbClr val="D56E48"/>
        </a:solidFill>
      </dgm:spPr>
      <dgm:t>
        <a:bodyPr/>
        <a:lstStyle/>
        <a:p>
          <a:pPr>
            <a:buNone/>
          </a:pPr>
          <a:r>
            <a:rPr lang="en-US" sz="1700" dirty="0">
              <a:latin typeface="Montserrat" panose="00000500000000000000" pitchFamily="2" charset="0"/>
            </a:rPr>
            <a:t>Design and implement a practical project using Claude </a:t>
          </a:r>
          <a:r>
            <a:rPr lang="en-US" sz="1700" dirty="0" err="1">
              <a:latin typeface="Montserrat" panose="00000500000000000000" pitchFamily="2" charset="0"/>
            </a:rPr>
            <a:t>Cowork</a:t>
          </a:r>
          <a:r>
            <a:rPr lang="en-US" sz="1700" dirty="0">
              <a:latin typeface="Montserrat" panose="00000500000000000000" pitchFamily="2" charset="0"/>
            </a:rPr>
            <a:t> in a real-world scenario.</a:t>
          </a:r>
        </a:p>
      </dgm:t>
    </dgm:pt>
    <dgm:pt modelId="{1D1F5A87-31F3-47D8-A2B5-80B233B65149}" type="parTrans" cxnId="{5D77B69C-F271-4217-B865-CD3246D40223}">
      <dgm:prSet/>
      <dgm:spPr/>
      <dgm:t>
        <a:bodyPr/>
        <a:lstStyle/>
        <a:p>
          <a:endParaRPr lang="en-CA"/>
        </a:p>
      </dgm:t>
    </dgm:pt>
    <dgm:pt modelId="{B53D294E-D418-4B21-8813-BF89E3A41479}" type="sibTrans" cxnId="{5D77B69C-F271-4217-B865-CD3246D40223}">
      <dgm:prSet/>
      <dgm:spPr/>
      <dgm:t>
        <a:bodyPr/>
        <a:lstStyle/>
        <a:p>
          <a:endParaRPr lang="en-CA"/>
        </a:p>
      </dgm:t>
    </dgm:pt>
    <dgm:pt modelId="{A3C8DA71-1FBA-4D51-933F-DA890777F95A}" type="pres">
      <dgm:prSet presAssocID="{21BB715B-7861-4623-B455-2278A068250D}" presName="diagram" presStyleCnt="0">
        <dgm:presLayoutVars>
          <dgm:dir/>
          <dgm:resizeHandles val="exact"/>
        </dgm:presLayoutVars>
      </dgm:prSet>
      <dgm:spPr/>
    </dgm:pt>
    <dgm:pt modelId="{69CE8057-0DF9-434C-8846-744BD4E37834}" type="pres">
      <dgm:prSet presAssocID="{69F15D09-4FB3-476C-8B81-089C5D955308}" presName="node" presStyleLbl="node1" presStyleIdx="0" presStyleCnt="6">
        <dgm:presLayoutVars>
          <dgm:bulletEnabled val="1"/>
        </dgm:presLayoutVars>
      </dgm:prSet>
      <dgm:spPr/>
    </dgm:pt>
    <dgm:pt modelId="{272B1A47-9F25-4A88-B777-E8016CC6609E}" type="pres">
      <dgm:prSet presAssocID="{AA84B12C-7878-437C-B9E2-1F0D60EBBF75}" presName="sibTrans" presStyleCnt="0"/>
      <dgm:spPr/>
    </dgm:pt>
    <dgm:pt modelId="{0834A8D9-3DDC-4044-9B45-2B9128E47F48}" type="pres">
      <dgm:prSet presAssocID="{29863779-49CA-4E64-AC7E-ED5B5378EFA9}" presName="node" presStyleLbl="node1" presStyleIdx="1" presStyleCnt="6">
        <dgm:presLayoutVars>
          <dgm:bulletEnabled val="1"/>
        </dgm:presLayoutVars>
      </dgm:prSet>
      <dgm:spPr/>
    </dgm:pt>
    <dgm:pt modelId="{6FE21B4F-5F4F-4E7A-A380-C523AA26C233}" type="pres">
      <dgm:prSet presAssocID="{E44E0B3C-7448-45FD-A60D-3C0BB11D81E5}" presName="sibTrans" presStyleCnt="0"/>
      <dgm:spPr/>
    </dgm:pt>
    <dgm:pt modelId="{55528C55-457D-462C-9CD9-2224288C1FA2}" type="pres">
      <dgm:prSet presAssocID="{323C0682-8FB4-4D5A-BD0C-18A9A848096B}" presName="node" presStyleLbl="node1" presStyleIdx="2" presStyleCnt="6">
        <dgm:presLayoutVars>
          <dgm:bulletEnabled val="1"/>
        </dgm:presLayoutVars>
      </dgm:prSet>
      <dgm:spPr/>
    </dgm:pt>
    <dgm:pt modelId="{09941833-DFA9-46A4-94B6-4D2FE7A45F77}" type="pres">
      <dgm:prSet presAssocID="{A7701AB6-8899-418C-946C-B985D677FE42}" presName="sibTrans" presStyleCnt="0"/>
      <dgm:spPr/>
    </dgm:pt>
    <dgm:pt modelId="{1128222C-25A7-456E-A265-1D059DEF86CA}" type="pres">
      <dgm:prSet presAssocID="{69F6342D-F165-4D4D-9F97-6F4D4CA7F740}" presName="node" presStyleLbl="node1" presStyleIdx="3" presStyleCnt="6">
        <dgm:presLayoutVars>
          <dgm:bulletEnabled val="1"/>
        </dgm:presLayoutVars>
      </dgm:prSet>
      <dgm:spPr/>
    </dgm:pt>
    <dgm:pt modelId="{D29B27E4-EDCA-4C0B-8662-F48981C50C3F}" type="pres">
      <dgm:prSet presAssocID="{ACD42603-1E69-4DA9-9DFC-A2825FC65E48}" presName="sibTrans" presStyleCnt="0"/>
      <dgm:spPr/>
    </dgm:pt>
    <dgm:pt modelId="{3884100F-46BE-4B67-98EB-C6A0A0A4B69E}" type="pres">
      <dgm:prSet presAssocID="{2D7DF396-94F6-4E06-837F-ED2FBB5A791A}" presName="node" presStyleLbl="node1" presStyleIdx="4" presStyleCnt="6">
        <dgm:presLayoutVars>
          <dgm:bulletEnabled val="1"/>
        </dgm:presLayoutVars>
      </dgm:prSet>
      <dgm:spPr/>
    </dgm:pt>
    <dgm:pt modelId="{3ED59332-68E2-4F0F-988B-FFA1941AF904}" type="pres">
      <dgm:prSet presAssocID="{E487503F-EE56-4F10-ACAF-FC22719A618D}" presName="sibTrans" presStyleCnt="0"/>
      <dgm:spPr/>
    </dgm:pt>
    <dgm:pt modelId="{2D31528C-39AB-4F4F-8DE1-72F80BD3C233}" type="pres">
      <dgm:prSet presAssocID="{89639BA3-1BB7-4678-AE5F-D08A4B1A5B6F}" presName="node" presStyleLbl="node1" presStyleIdx="5" presStyleCnt="6">
        <dgm:presLayoutVars>
          <dgm:bulletEnabled val="1"/>
        </dgm:presLayoutVars>
      </dgm:prSet>
      <dgm:spPr/>
    </dgm:pt>
  </dgm:ptLst>
  <dgm:cxnLst>
    <dgm:cxn modelId="{94C1F404-B358-4333-B048-03A20D2B93E5}" type="presOf" srcId="{21BB715B-7861-4623-B455-2278A068250D}" destId="{A3C8DA71-1FBA-4D51-933F-DA890777F95A}" srcOrd="0" destOrd="0" presId="urn:microsoft.com/office/officeart/2005/8/layout/default"/>
    <dgm:cxn modelId="{0A84CB0C-C4CE-477B-A99E-3E7D9F9E38D9}" srcId="{21BB715B-7861-4623-B455-2278A068250D}" destId="{29863779-49CA-4E64-AC7E-ED5B5378EFA9}" srcOrd="1" destOrd="0" parTransId="{43BE335C-6957-4A26-84CA-935A1F6E868F}" sibTransId="{E44E0B3C-7448-45FD-A60D-3C0BB11D81E5}"/>
    <dgm:cxn modelId="{51D24E0F-9806-4DAC-958D-80010AB2F879}" type="presOf" srcId="{69F6342D-F165-4D4D-9F97-6F4D4CA7F740}" destId="{1128222C-25A7-456E-A265-1D059DEF86CA}" srcOrd="0" destOrd="0" presId="urn:microsoft.com/office/officeart/2005/8/layout/default"/>
    <dgm:cxn modelId="{B439DB45-F0E0-4E0A-AD60-443CD65325D0}" type="presOf" srcId="{323C0682-8FB4-4D5A-BD0C-18A9A848096B}" destId="{55528C55-457D-462C-9CD9-2224288C1FA2}" srcOrd="0" destOrd="0" presId="urn:microsoft.com/office/officeart/2005/8/layout/default"/>
    <dgm:cxn modelId="{27E7A66B-7A2A-42D0-90BA-108AA7B30DFC}" srcId="{21BB715B-7861-4623-B455-2278A068250D}" destId="{2D7DF396-94F6-4E06-837F-ED2FBB5A791A}" srcOrd="4" destOrd="0" parTransId="{6F34B8EC-9006-4B09-A6D3-A4DD57802AB3}" sibTransId="{E487503F-EE56-4F10-ACAF-FC22719A618D}"/>
    <dgm:cxn modelId="{F482CE6E-9D53-42F4-8CF8-C7248C59AD99}" type="presOf" srcId="{69F15D09-4FB3-476C-8B81-089C5D955308}" destId="{69CE8057-0DF9-434C-8846-744BD4E37834}" srcOrd="0" destOrd="0" presId="urn:microsoft.com/office/officeart/2005/8/layout/default"/>
    <dgm:cxn modelId="{D05E3E76-4C9F-4D0E-B6E2-E32CD7F6128E}" srcId="{21BB715B-7861-4623-B455-2278A068250D}" destId="{69F15D09-4FB3-476C-8B81-089C5D955308}" srcOrd="0" destOrd="0" parTransId="{FE03FB4A-8C35-4BDF-A455-6B4CA7979D93}" sibTransId="{AA84B12C-7878-437C-B9E2-1F0D60EBBF75}"/>
    <dgm:cxn modelId="{F94D4E8B-EDD4-4207-99DC-903FAA52236E}" srcId="{21BB715B-7861-4623-B455-2278A068250D}" destId="{323C0682-8FB4-4D5A-BD0C-18A9A848096B}" srcOrd="2" destOrd="0" parTransId="{8526D693-98E5-4E0F-83A2-A85683CA00FE}" sibTransId="{A7701AB6-8899-418C-946C-B985D677FE42}"/>
    <dgm:cxn modelId="{5D77B69C-F271-4217-B865-CD3246D40223}" srcId="{21BB715B-7861-4623-B455-2278A068250D}" destId="{89639BA3-1BB7-4678-AE5F-D08A4B1A5B6F}" srcOrd="5" destOrd="0" parTransId="{1D1F5A87-31F3-47D8-A2B5-80B233B65149}" sibTransId="{B53D294E-D418-4B21-8813-BF89E3A41479}"/>
    <dgm:cxn modelId="{79B3A4A8-D175-46BD-9FD8-CE4ABF2B84D2}" type="presOf" srcId="{2D7DF396-94F6-4E06-837F-ED2FBB5A791A}" destId="{3884100F-46BE-4B67-98EB-C6A0A0A4B69E}" srcOrd="0" destOrd="0" presId="urn:microsoft.com/office/officeart/2005/8/layout/default"/>
    <dgm:cxn modelId="{68B37FCC-59F7-46FC-88BF-96A3F48DE81E}" type="presOf" srcId="{29863779-49CA-4E64-AC7E-ED5B5378EFA9}" destId="{0834A8D9-3DDC-4044-9B45-2B9128E47F48}" srcOrd="0" destOrd="0" presId="urn:microsoft.com/office/officeart/2005/8/layout/default"/>
    <dgm:cxn modelId="{B4123DCF-FAB6-4813-BC69-6F503865E441}" srcId="{21BB715B-7861-4623-B455-2278A068250D}" destId="{69F6342D-F165-4D4D-9F97-6F4D4CA7F740}" srcOrd="3" destOrd="0" parTransId="{42066717-48EB-4E2E-8C5A-B76357948DC4}" sibTransId="{ACD42603-1E69-4DA9-9DFC-A2825FC65E48}"/>
    <dgm:cxn modelId="{237D0DDF-37B3-4D93-9765-8F404C3A28BE}" type="presOf" srcId="{89639BA3-1BB7-4678-AE5F-D08A4B1A5B6F}" destId="{2D31528C-39AB-4F4F-8DE1-72F80BD3C233}" srcOrd="0" destOrd="0" presId="urn:microsoft.com/office/officeart/2005/8/layout/default"/>
    <dgm:cxn modelId="{1BF3D82F-BB40-4CA7-B9E2-80D1EAA6E22B}" type="presParOf" srcId="{A3C8DA71-1FBA-4D51-933F-DA890777F95A}" destId="{69CE8057-0DF9-434C-8846-744BD4E37834}" srcOrd="0" destOrd="0" presId="urn:microsoft.com/office/officeart/2005/8/layout/default"/>
    <dgm:cxn modelId="{93703590-56E8-4345-AF4A-5D204A00B28E}" type="presParOf" srcId="{A3C8DA71-1FBA-4D51-933F-DA890777F95A}" destId="{272B1A47-9F25-4A88-B777-E8016CC6609E}" srcOrd="1" destOrd="0" presId="urn:microsoft.com/office/officeart/2005/8/layout/default"/>
    <dgm:cxn modelId="{AF61214A-A9F8-4ABC-88B1-754C1A3D83D2}" type="presParOf" srcId="{A3C8DA71-1FBA-4D51-933F-DA890777F95A}" destId="{0834A8D9-3DDC-4044-9B45-2B9128E47F48}" srcOrd="2" destOrd="0" presId="urn:microsoft.com/office/officeart/2005/8/layout/default"/>
    <dgm:cxn modelId="{66848080-4952-4EBC-8048-ABEC90373E2C}" type="presParOf" srcId="{A3C8DA71-1FBA-4D51-933F-DA890777F95A}" destId="{6FE21B4F-5F4F-4E7A-A380-C523AA26C233}" srcOrd="3" destOrd="0" presId="urn:microsoft.com/office/officeart/2005/8/layout/default"/>
    <dgm:cxn modelId="{517894B9-E79F-41EB-8871-65E727D2597E}" type="presParOf" srcId="{A3C8DA71-1FBA-4D51-933F-DA890777F95A}" destId="{55528C55-457D-462C-9CD9-2224288C1FA2}" srcOrd="4" destOrd="0" presId="urn:microsoft.com/office/officeart/2005/8/layout/default"/>
    <dgm:cxn modelId="{04DB2366-A427-485E-9EB3-E818FA89764C}" type="presParOf" srcId="{A3C8DA71-1FBA-4D51-933F-DA890777F95A}" destId="{09941833-DFA9-46A4-94B6-4D2FE7A45F77}" srcOrd="5" destOrd="0" presId="urn:microsoft.com/office/officeart/2005/8/layout/default"/>
    <dgm:cxn modelId="{3D9952C2-C77A-4E0F-8CF1-57D35FE566E5}" type="presParOf" srcId="{A3C8DA71-1FBA-4D51-933F-DA890777F95A}" destId="{1128222C-25A7-456E-A265-1D059DEF86CA}" srcOrd="6" destOrd="0" presId="urn:microsoft.com/office/officeart/2005/8/layout/default"/>
    <dgm:cxn modelId="{8C308B3E-A605-4836-A809-6E1798B86375}" type="presParOf" srcId="{A3C8DA71-1FBA-4D51-933F-DA890777F95A}" destId="{D29B27E4-EDCA-4C0B-8662-F48981C50C3F}" srcOrd="7" destOrd="0" presId="urn:microsoft.com/office/officeart/2005/8/layout/default"/>
    <dgm:cxn modelId="{A0A8C7D0-3B4C-4698-AF94-237297B2D12B}" type="presParOf" srcId="{A3C8DA71-1FBA-4D51-933F-DA890777F95A}" destId="{3884100F-46BE-4B67-98EB-C6A0A0A4B69E}" srcOrd="8" destOrd="0" presId="urn:microsoft.com/office/officeart/2005/8/layout/default"/>
    <dgm:cxn modelId="{56F0A098-79FB-4010-8F5A-3523ADD9BC37}" type="presParOf" srcId="{A3C8DA71-1FBA-4D51-933F-DA890777F95A}" destId="{3ED59332-68E2-4F0F-988B-FFA1941AF904}" srcOrd="9" destOrd="0" presId="urn:microsoft.com/office/officeart/2005/8/layout/default"/>
    <dgm:cxn modelId="{795EBEE7-76AE-40FA-8910-9268BA5F2E9A}" type="presParOf" srcId="{A3C8DA71-1FBA-4D51-933F-DA890777F95A}" destId="{2D31528C-39AB-4F4F-8DE1-72F80BD3C233}"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E8057-0DF9-434C-8846-744BD4E37834}">
      <dsp:nvSpPr>
        <dsp:cNvPr id="0" name=""/>
        <dsp:cNvSpPr/>
      </dsp:nvSpPr>
      <dsp:spPr>
        <a:xfrm>
          <a:off x="0" y="424052"/>
          <a:ext cx="3515816" cy="2109489"/>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Explain what Claude </a:t>
          </a:r>
          <a:r>
            <a:rPr lang="en-US" sz="1700" kern="1200" dirty="0" err="1">
              <a:latin typeface="Montserrat" panose="00000500000000000000" pitchFamily="2" charset="0"/>
            </a:rPr>
            <a:t>Cowork</a:t>
          </a:r>
          <a:r>
            <a:rPr lang="en-US" sz="1700" kern="1200" dirty="0">
              <a:latin typeface="Montserrat" panose="00000500000000000000" pitchFamily="2" charset="0"/>
            </a:rPr>
            <a:t> is and how its core components (Skills, Plugins, and Connectors like Gmail) work together.</a:t>
          </a:r>
        </a:p>
      </dsp:txBody>
      <dsp:txXfrm>
        <a:off x="0" y="424052"/>
        <a:ext cx="3515816" cy="2109489"/>
      </dsp:txXfrm>
    </dsp:sp>
    <dsp:sp modelId="{0834A8D9-3DDC-4044-9B45-2B9128E47F48}">
      <dsp:nvSpPr>
        <dsp:cNvPr id="0" name=""/>
        <dsp:cNvSpPr/>
      </dsp:nvSpPr>
      <dsp:spPr>
        <a:xfrm>
          <a:off x="3867398" y="424052"/>
          <a:ext cx="3515816" cy="2109489"/>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Effectively use existing Skills and Plugins to automate workflows and improve productivity.</a:t>
          </a:r>
        </a:p>
      </dsp:txBody>
      <dsp:txXfrm>
        <a:off x="3867398" y="424052"/>
        <a:ext cx="3515816" cy="2109489"/>
      </dsp:txXfrm>
    </dsp:sp>
    <dsp:sp modelId="{55528C55-457D-462C-9CD9-2224288C1FA2}">
      <dsp:nvSpPr>
        <dsp:cNvPr id="0" name=""/>
        <dsp:cNvSpPr/>
      </dsp:nvSpPr>
      <dsp:spPr>
        <a:xfrm>
          <a:off x="7734796" y="424052"/>
          <a:ext cx="3515816" cy="2109489"/>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Montserrat" panose="00000500000000000000" pitchFamily="2" charset="0"/>
            </a:rPr>
            <a:t>Build and deploy custom Skills and Plugins tailored to specific business needs.</a:t>
          </a:r>
        </a:p>
      </dsp:txBody>
      <dsp:txXfrm>
        <a:off x="7734796" y="424052"/>
        <a:ext cx="3515816" cy="2109489"/>
      </dsp:txXfrm>
    </dsp:sp>
    <dsp:sp modelId="{1128222C-25A7-456E-A265-1D059DEF86CA}">
      <dsp:nvSpPr>
        <dsp:cNvPr id="0" name=""/>
        <dsp:cNvSpPr/>
      </dsp:nvSpPr>
      <dsp:spPr>
        <a:xfrm>
          <a:off x="0" y="2885124"/>
          <a:ext cx="3515816" cy="2109489"/>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latin typeface="Montserrat" panose="00000500000000000000" pitchFamily="2" charset="0"/>
            </a:rPr>
            <a:t>Automate task scheduling, organize information, and manage complex multitask workflows (e.g., deep research and document synthesis).</a:t>
          </a:r>
        </a:p>
      </dsp:txBody>
      <dsp:txXfrm>
        <a:off x="0" y="2885124"/>
        <a:ext cx="3515816" cy="2109489"/>
      </dsp:txXfrm>
    </dsp:sp>
    <dsp:sp modelId="{3884100F-46BE-4B67-98EB-C6A0A0A4B69E}">
      <dsp:nvSpPr>
        <dsp:cNvPr id="0" name=""/>
        <dsp:cNvSpPr/>
      </dsp:nvSpPr>
      <dsp:spPr>
        <a:xfrm>
          <a:off x="3867398" y="2885124"/>
          <a:ext cx="3515816" cy="2109489"/>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Apply Claude </a:t>
          </a:r>
          <a:r>
            <a:rPr lang="en-US" sz="1700" kern="1200" dirty="0" err="1">
              <a:latin typeface="Montserrat" panose="00000500000000000000" pitchFamily="2" charset="0"/>
            </a:rPr>
            <a:t>Cowork</a:t>
          </a:r>
          <a:r>
            <a:rPr lang="en-US" sz="1700" kern="1200" dirty="0">
              <a:latin typeface="Montserrat" panose="00000500000000000000" pitchFamily="2" charset="0"/>
            </a:rPr>
            <a:t> to real business use cases, including marketing, finance, financial analysis, and competitor research.</a:t>
          </a:r>
        </a:p>
      </dsp:txBody>
      <dsp:txXfrm>
        <a:off x="3867398" y="2885124"/>
        <a:ext cx="3515816" cy="2109489"/>
      </dsp:txXfrm>
    </dsp:sp>
    <dsp:sp modelId="{2D31528C-39AB-4F4F-8DE1-72F80BD3C233}">
      <dsp:nvSpPr>
        <dsp:cNvPr id="0" name=""/>
        <dsp:cNvSpPr/>
      </dsp:nvSpPr>
      <dsp:spPr>
        <a:xfrm>
          <a:off x="7734796" y="2885124"/>
          <a:ext cx="3515816" cy="2109489"/>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Design and implement a practical project using Claude </a:t>
          </a:r>
          <a:r>
            <a:rPr lang="en-US" sz="1700" kern="1200" dirty="0" err="1">
              <a:latin typeface="Montserrat" panose="00000500000000000000" pitchFamily="2" charset="0"/>
            </a:rPr>
            <a:t>Cowork</a:t>
          </a:r>
          <a:r>
            <a:rPr lang="en-US" sz="1700" kern="1200" dirty="0">
              <a:latin typeface="Montserrat" panose="00000500000000000000" pitchFamily="2" charset="0"/>
            </a:rPr>
            <a:t> in a real-world scenario.</a:t>
          </a:r>
        </a:p>
      </dsp:txBody>
      <dsp:txXfrm>
        <a:off x="7734796" y="2885124"/>
        <a:ext cx="3515816" cy="210948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3/7/2026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6AEE1EF-10EF-1031-2962-1D5997B5B865}"/>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36820379-55A3-1AC6-7060-B86CEDABB8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a:extLst>
              <a:ext uri="{FF2B5EF4-FFF2-40B4-BE49-F238E27FC236}">
                <a16:creationId xmlns:a16="http://schemas.microsoft.com/office/drawing/2014/main" id="{64D450F6-4A69-B2CF-A62F-DAB69098B3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1411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3/7/2026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3/7/2026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3/7/2026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3/7/2026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3/7/2026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3/7/2026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3/7/2026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3/7/2026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3/7/2026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3/7/2026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3/7/2026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3/7/2026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claude.com/product/cowork"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1.png"/><Relationship Id="rId12" Type="http://schemas.openxmlformats.org/officeDocument/2006/relationships/image" Target="../media/image2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0.jpeg"/><Relationship Id="rId11" Type="http://schemas.openxmlformats.org/officeDocument/2006/relationships/image" Target="../media/image25.pn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2.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anthropic.com/news/model-context-protocol" TargetMode="External"/><Relationship Id="rId5" Type="http://schemas.openxmlformats.org/officeDocument/2006/relationships/image" Target="../media/image2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platform.openai.com/tokenizer"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hyperlink" Target="https://futurism.com/altman-please-thanks-chatgpt" TargetMode="External"/><Relationship Id="rId4" Type="http://schemas.openxmlformats.org/officeDocument/2006/relationships/hyperlink" Target="https://platform.openai.com/tokenizer"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hyperlink" Target="https://www.skillhub.club/"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hyperlink" Target="https://skills.sh/" TargetMode="External"/><Relationship Id="rId4" Type="http://schemas.openxmlformats.org/officeDocument/2006/relationships/image" Target="../media/image35.png"/><Relationship Id="rId9" Type="http://schemas.openxmlformats.org/officeDocument/2006/relationships/hyperlink" Target="https://skillsmp.com/"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1.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293915" y="489004"/>
            <a:ext cx="4743450"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COWORK</a:t>
            </a: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F009C-BC70-F41E-E85C-AB4BA7B849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5FE73E-F233-502C-6C36-CEF10F073EFE}"/>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EB05584-537E-BC69-3A07-9397EB529AD0}"/>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15C37C86-8CBB-1B82-88F6-EF3C1BBF5084}"/>
              </a:ext>
            </a:extLst>
          </p:cNvPr>
          <p:cNvSpPr/>
          <p:nvPr/>
        </p:nvSpPr>
        <p:spPr>
          <a:xfrm>
            <a:off x="293914" y="793804"/>
            <a:ext cx="5578566"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MODULE INTRODUCTION &amp; KEY LEARNING OBJECTIVES</a:t>
            </a:r>
          </a:p>
        </p:txBody>
      </p:sp>
      <p:pic>
        <p:nvPicPr>
          <p:cNvPr id="5" name="Picture 4">
            <a:extLst>
              <a:ext uri="{FF2B5EF4-FFF2-40B4-BE49-F238E27FC236}">
                <a16:creationId xmlns:a16="http://schemas.microsoft.com/office/drawing/2014/main" id="{348AF497-3078-1D39-5F4A-9D51BB2A9C31}"/>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9031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1976-2AE7-4EF7-1560-C61D0DF230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DD5BA7-FB07-7089-F20D-24BB35AAE79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4664485-532C-5083-5A25-F8BB6A03806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71C1B3F-A8C9-9CB8-73B0-ED05DBBB3FAE}"/>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Module Agenda</a:t>
            </a:r>
          </a:p>
        </p:txBody>
      </p:sp>
      <p:sp>
        <p:nvSpPr>
          <p:cNvPr id="8" name="Content Placeholder 2">
            <a:extLst>
              <a:ext uri="{FF2B5EF4-FFF2-40B4-BE49-F238E27FC236}">
                <a16:creationId xmlns:a16="http://schemas.microsoft.com/office/drawing/2014/main" id="{A21F32ED-32F2-3596-8751-FFA0888A1210}"/>
              </a:ext>
            </a:extLst>
          </p:cNvPr>
          <p:cNvSpPr>
            <a:spLocks noGrp="1"/>
          </p:cNvSpPr>
          <p:nvPr>
            <p:ph idx="1"/>
          </p:nvPr>
        </p:nvSpPr>
        <p:spPr>
          <a:xfrm>
            <a:off x="378242" y="907669"/>
            <a:ext cx="11096264" cy="5228971"/>
          </a:xfrm>
        </p:spPr>
        <p:txBody>
          <a:bodyPr>
            <a:normAutofit/>
          </a:bodyPr>
          <a:lstStyle/>
          <a:p>
            <a:pPr>
              <a:buClr>
                <a:srgbClr val="1BBFD1"/>
              </a:buClr>
            </a:pPr>
            <a:r>
              <a:rPr lang="en-US" sz="1800" b="1" dirty="0">
                <a:latin typeface="Montserrat" panose="00000500000000000000" pitchFamily="2" charset="0"/>
              </a:rPr>
              <a:t>Introduction to Claude </a:t>
            </a:r>
            <a:r>
              <a:rPr lang="en-US" sz="1800" b="1" dirty="0" err="1">
                <a:latin typeface="Montserrat" panose="00000500000000000000" pitchFamily="2" charset="0"/>
              </a:rPr>
              <a:t>Cowork</a:t>
            </a:r>
            <a:r>
              <a:rPr lang="en-US" sz="1800" b="1" dirty="0">
                <a:latin typeface="Montserrat" panose="00000500000000000000" pitchFamily="2" charset="0"/>
              </a:rPr>
              <a:t>:</a:t>
            </a:r>
            <a:r>
              <a:rPr lang="en-US" sz="1800" dirty="0">
                <a:latin typeface="Montserrat" panose="00000500000000000000" pitchFamily="2" charset="0"/>
              </a:rPr>
              <a:t> Overview, core concepts, and how Skills, Plugins, and Connectors (e.g., Gmail) work together.</a:t>
            </a:r>
          </a:p>
          <a:p>
            <a:pPr>
              <a:buClr>
                <a:srgbClr val="1BBFD1"/>
              </a:buClr>
            </a:pPr>
            <a:endParaRPr lang="en-US" sz="1800" dirty="0">
              <a:latin typeface="Montserrat" panose="00000500000000000000" pitchFamily="2" charset="0"/>
            </a:endParaRPr>
          </a:p>
          <a:p>
            <a:pPr>
              <a:buClr>
                <a:srgbClr val="1BBFD1"/>
              </a:buClr>
            </a:pPr>
            <a:r>
              <a:rPr lang="en-US" sz="1800" b="1" dirty="0">
                <a:latin typeface="Montserrat" panose="00000500000000000000" pitchFamily="2" charset="0"/>
              </a:rPr>
              <a:t>Using the Claude </a:t>
            </a:r>
            <a:r>
              <a:rPr lang="en-US" sz="1800" b="1" dirty="0" err="1">
                <a:latin typeface="Montserrat" panose="00000500000000000000" pitchFamily="2" charset="0"/>
              </a:rPr>
              <a:t>Cowork</a:t>
            </a:r>
            <a:r>
              <a:rPr lang="en-US" sz="1800" b="1" dirty="0">
                <a:latin typeface="Montserrat" panose="00000500000000000000" pitchFamily="2" charset="0"/>
              </a:rPr>
              <a:t> Ecosystem:</a:t>
            </a:r>
            <a:r>
              <a:rPr lang="en-US" sz="1800" dirty="0">
                <a:latin typeface="Montserrat" panose="00000500000000000000" pitchFamily="2" charset="0"/>
              </a:rPr>
              <a:t> How to use existing Skills and Plugins to automate everyday workflows.</a:t>
            </a:r>
          </a:p>
          <a:p>
            <a:pPr>
              <a:buClr>
                <a:srgbClr val="1BBFD1"/>
              </a:buClr>
            </a:pPr>
            <a:endParaRPr lang="en-US" sz="1800" dirty="0">
              <a:latin typeface="Montserrat" panose="00000500000000000000" pitchFamily="2" charset="0"/>
            </a:endParaRPr>
          </a:p>
          <a:p>
            <a:pPr>
              <a:buClr>
                <a:srgbClr val="1BBFD1"/>
              </a:buClr>
            </a:pPr>
            <a:r>
              <a:rPr lang="en-US" sz="1800" b="1" dirty="0">
                <a:latin typeface="Montserrat" panose="00000500000000000000" pitchFamily="2" charset="0"/>
              </a:rPr>
              <a:t>Building Custom Capabilities: </a:t>
            </a:r>
            <a:r>
              <a:rPr lang="en-US" sz="1800" dirty="0">
                <a:latin typeface="Montserrat" panose="00000500000000000000" pitchFamily="2" charset="0"/>
              </a:rPr>
              <a:t>Creating your own Skills and Plugins to extend Claude </a:t>
            </a:r>
            <a:r>
              <a:rPr lang="en-US" sz="1800" dirty="0" err="1">
                <a:latin typeface="Montserrat" panose="00000500000000000000" pitchFamily="2" charset="0"/>
              </a:rPr>
              <a:t>Cowork</a:t>
            </a:r>
            <a:r>
              <a:rPr lang="en-US" sz="1800" dirty="0">
                <a:latin typeface="Montserrat" panose="00000500000000000000" pitchFamily="2" charset="0"/>
              </a:rPr>
              <a:t> functionality.</a:t>
            </a:r>
          </a:p>
          <a:p>
            <a:pPr>
              <a:buClr>
                <a:srgbClr val="1BBFD1"/>
              </a:buClr>
            </a:pPr>
            <a:endParaRPr lang="en-US" sz="1800" dirty="0">
              <a:latin typeface="Montserrat" panose="00000500000000000000" pitchFamily="2" charset="0"/>
            </a:endParaRPr>
          </a:p>
          <a:p>
            <a:pPr>
              <a:buClr>
                <a:srgbClr val="1BBFD1"/>
              </a:buClr>
            </a:pPr>
            <a:r>
              <a:rPr lang="en-US" sz="1800" b="1" dirty="0">
                <a:latin typeface="Montserrat" panose="00000500000000000000" pitchFamily="2" charset="0"/>
              </a:rPr>
              <a:t>Productivity &amp; Workflow Automation:</a:t>
            </a:r>
            <a:r>
              <a:rPr lang="en-US" sz="1800" dirty="0">
                <a:latin typeface="Montserrat" panose="00000500000000000000" pitchFamily="2" charset="0"/>
              </a:rPr>
              <a:t> Scheduling tasks, organizing folders, and managing multitask workflows like deep research and document synthesis.</a:t>
            </a:r>
          </a:p>
          <a:p>
            <a:pPr>
              <a:buClr>
                <a:srgbClr val="1BBFD1"/>
              </a:buClr>
            </a:pPr>
            <a:endParaRPr lang="en-US" sz="1800" dirty="0">
              <a:latin typeface="Montserrat" panose="00000500000000000000" pitchFamily="2" charset="0"/>
            </a:endParaRPr>
          </a:p>
          <a:p>
            <a:pPr>
              <a:buClr>
                <a:srgbClr val="1BBFD1"/>
              </a:buClr>
            </a:pPr>
            <a:r>
              <a:rPr lang="en-US" sz="1800" b="1" dirty="0">
                <a:latin typeface="Montserrat" panose="00000500000000000000" pitchFamily="2" charset="0"/>
              </a:rPr>
              <a:t>Business Applications:</a:t>
            </a:r>
            <a:r>
              <a:rPr lang="en-US" sz="1800" dirty="0">
                <a:latin typeface="Montserrat" panose="00000500000000000000" pitchFamily="2" charset="0"/>
              </a:rPr>
              <a:t> Using Claude </a:t>
            </a:r>
            <a:r>
              <a:rPr lang="en-US" sz="1800" dirty="0" err="1">
                <a:latin typeface="Montserrat" panose="00000500000000000000" pitchFamily="2" charset="0"/>
              </a:rPr>
              <a:t>Cowork</a:t>
            </a:r>
            <a:r>
              <a:rPr lang="en-US" sz="1800" dirty="0">
                <a:latin typeface="Montserrat" panose="00000500000000000000" pitchFamily="2" charset="0"/>
              </a:rPr>
              <a:t> for marketing, legal, and finance tasks, including financial data analysis and competitor research.</a:t>
            </a:r>
          </a:p>
          <a:p>
            <a:pPr marL="0" indent="0">
              <a:buClr>
                <a:srgbClr val="1BBFD1"/>
              </a:buClr>
              <a:buNone/>
            </a:pPr>
            <a:endParaRPr lang="en-US" sz="1800" dirty="0">
              <a:latin typeface="Montserrat" panose="00000500000000000000" pitchFamily="2" charset="0"/>
            </a:endParaRPr>
          </a:p>
        </p:txBody>
      </p:sp>
      <p:sp>
        <p:nvSpPr>
          <p:cNvPr id="9" name="TextBox 8">
            <a:extLst>
              <a:ext uri="{FF2B5EF4-FFF2-40B4-BE49-F238E27FC236}">
                <a16:creationId xmlns:a16="http://schemas.microsoft.com/office/drawing/2014/main" id="{9B635601-1B01-6301-4C7A-EC04531AF16A}"/>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Tree>
    <p:extLst>
      <p:ext uri="{BB962C8B-B14F-4D97-AF65-F5344CB8AC3E}">
        <p14:creationId xmlns:p14="http://schemas.microsoft.com/office/powerpoint/2010/main" val="2688526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55F7-D3CE-503A-06B0-415EBF4A47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4BE74D-72DE-1ECA-0B68-A8F5C0DF635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68C15DF-79C1-8260-335D-38302FEC0BC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F172E0F-F674-1396-8D50-B98BB01F267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Intro to Claude </a:t>
            </a:r>
            <a:r>
              <a:rPr lang="en-US" sz="2400" dirty="0" err="1">
                <a:solidFill>
                  <a:schemeClr val="bg1"/>
                </a:solidFill>
                <a:latin typeface="Montserrat" charset="0"/>
                <a:ea typeface="Montserrat" charset="0"/>
                <a:cs typeface="Montserrat" charset="0"/>
              </a:rPr>
              <a:t>Cowork</a:t>
            </a:r>
            <a:endParaRPr lang="en-US" sz="2400" dirty="0">
              <a:solidFill>
                <a:schemeClr val="bg1"/>
              </a:solidFill>
              <a:latin typeface="Montserrat" charset="0"/>
              <a:ea typeface="Montserrat" charset="0"/>
              <a:cs typeface="Montserrat" charset="0"/>
            </a:endParaRPr>
          </a:p>
        </p:txBody>
      </p:sp>
      <p:sp>
        <p:nvSpPr>
          <p:cNvPr id="9" name="TextBox 8">
            <a:extLst>
              <a:ext uri="{FF2B5EF4-FFF2-40B4-BE49-F238E27FC236}">
                <a16:creationId xmlns:a16="http://schemas.microsoft.com/office/drawing/2014/main" id="{F4A68AC4-8901-A54A-0C5D-14603BCF598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3" name="TextBox 32">
            <a:extLst>
              <a:ext uri="{FF2B5EF4-FFF2-40B4-BE49-F238E27FC236}">
                <a16:creationId xmlns:a16="http://schemas.microsoft.com/office/drawing/2014/main" id="{D86BCDC4-1681-62E4-2C41-AA0478515F57}"/>
              </a:ext>
            </a:extLst>
          </p:cNvPr>
          <p:cNvSpPr txBox="1"/>
          <p:nvPr/>
        </p:nvSpPr>
        <p:spPr>
          <a:xfrm>
            <a:off x="302895" y="833163"/>
            <a:ext cx="11431905" cy="1200329"/>
          </a:xfrm>
          <a:prstGeom prst="rect">
            <a:avLst/>
          </a:prstGeom>
          <a:noFill/>
        </p:spPr>
        <p:txBody>
          <a:bodyPr wrap="square">
            <a:spAutoFit/>
          </a:bodyPr>
          <a:lstStyle/>
          <a:p>
            <a:pPr marL="285750" indent="-285750" algn="l">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Claude </a:t>
            </a:r>
            <a:r>
              <a:rPr lang="en-US" sz="1800" dirty="0" err="1">
                <a:latin typeface="Montserrat" panose="00000500000000000000" pitchFamily="2" charset="0"/>
                <a:ea typeface="Calibri" pitchFamily="34" charset="-122"/>
                <a:cs typeface="Calibri" pitchFamily="34" charset="-120"/>
              </a:rPr>
              <a:t>Cowork</a:t>
            </a:r>
            <a:r>
              <a:rPr lang="en-US" sz="1800" dirty="0">
                <a:latin typeface="Montserrat" panose="00000500000000000000" pitchFamily="2" charset="0"/>
                <a:ea typeface="Calibri" pitchFamily="34" charset="-122"/>
                <a:cs typeface="Calibri" pitchFamily="34" charset="-120"/>
              </a:rPr>
              <a:t> uses the same agentic architecture that powers Claude Code, now accessible within Claude Desktop and without opening the terminal. </a:t>
            </a:r>
          </a:p>
          <a:p>
            <a:pPr marL="285750" indent="-285750" algn="l">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Instead of responding to prompts one at a time, Claude can take on complex, multi-step tasks and execute them on your behalf.</a:t>
            </a:r>
            <a:endParaRPr lang="en-US" sz="1800" dirty="0">
              <a:latin typeface="Montserrat" panose="00000500000000000000" pitchFamily="2" charset="0"/>
            </a:endParaRPr>
          </a:p>
        </p:txBody>
      </p:sp>
      <p:pic>
        <p:nvPicPr>
          <p:cNvPr id="35" name="Picture 34">
            <a:extLst>
              <a:ext uri="{FF2B5EF4-FFF2-40B4-BE49-F238E27FC236}">
                <a16:creationId xmlns:a16="http://schemas.microsoft.com/office/drawing/2014/main" id="{4948EEFC-27B2-FEC4-C276-A6124862DF67}"/>
              </a:ext>
            </a:extLst>
          </p:cNvPr>
          <p:cNvPicPr>
            <a:picLocks noChangeAspect="1"/>
          </p:cNvPicPr>
          <p:nvPr/>
        </p:nvPicPr>
        <p:blipFill>
          <a:blip r:embed="rId4"/>
          <a:stretch>
            <a:fillRect/>
          </a:stretch>
        </p:blipFill>
        <p:spPr>
          <a:xfrm>
            <a:off x="7080090" y="1710014"/>
            <a:ext cx="1975836" cy="1988921"/>
          </a:xfrm>
          <a:prstGeom prst="rect">
            <a:avLst/>
          </a:prstGeom>
        </p:spPr>
      </p:pic>
      <p:pic>
        <p:nvPicPr>
          <p:cNvPr id="1029" name="Picture 5">
            <a:extLst>
              <a:ext uri="{FF2B5EF4-FFF2-40B4-BE49-F238E27FC236}">
                <a16:creationId xmlns:a16="http://schemas.microsoft.com/office/drawing/2014/main" id="{D4CC8C0E-26EA-1187-C451-6F31679AAA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6245" y="2206954"/>
            <a:ext cx="4429125" cy="95503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9DE35B6-7275-D48D-6100-47AF853A2E7E}"/>
              </a:ext>
            </a:extLst>
          </p:cNvPr>
          <p:cNvPicPr>
            <a:picLocks noChangeAspect="1"/>
          </p:cNvPicPr>
          <p:nvPr/>
        </p:nvPicPr>
        <p:blipFill>
          <a:blip r:embed="rId6"/>
          <a:stretch>
            <a:fillRect/>
          </a:stretch>
        </p:blipFill>
        <p:spPr>
          <a:xfrm>
            <a:off x="2749550" y="4113491"/>
            <a:ext cx="5016500" cy="2654020"/>
          </a:xfrm>
          <a:prstGeom prst="rect">
            <a:avLst/>
          </a:prstGeom>
        </p:spPr>
      </p:pic>
      <p:sp>
        <p:nvSpPr>
          <p:cNvPr id="8" name="TextBox 7">
            <a:extLst>
              <a:ext uri="{FF2B5EF4-FFF2-40B4-BE49-F238E27FC236}">
                <a16:creationId xmlns:a16="http://schemas.microsoft.com/office/drawing/2014/main" id="{46C2D35B-762E-B405-E64F-AC25D9BFE6EF}"/>
              </a:ext>
            </a:extLst>
          </p:cNvPr>
          <p:cNvSpPr txBox="1"/>
          <p:nvPr/>
        </p:nvSpPr>
        <p:spPr>
          <a:xfrm>
            <a:off x="3409950" y="3744159"/>
            <a:ext cx="6121400" cy="646331"/>
          </a:xfrm>
          <a:prstGeom prst="rect">
            <a:avLst/>
          </a:prstGeom>
          <a:noFill/>
        </p:spPr>
        <p:txBody>
          <a:bodyPr wrap="square">
            <a:spAutoFit/>
          </a:bodyPr>
          <a:lstStyle/>
          <a:p>
            <a:r>
              <a:rPr lang="en-CA" dirty="0">
                <a:hlinkClick r:id="rId7"/>
              </a:rPr>
              <a:t>https://claude.com/product/cowork</a:t>
            </a:r>
            <a:endParaRPr lang="en-CA" dirty="0"/>
          </a:p>
          <a:p>
            <a:endParaRPr lang="en-CA" dirty="0"/>
          </a:p>
        </p:txBody>
      </p:sp>
    </p:spTree>
    <p:extLst>
      <p:ext uri="{BB962C8B-B14F-4D97-AF65-F5344CB8AC3E}">
        <p14:creationId xmlns:p14="http://schemas.microsoft.com/office/powerpoint/2010/main" val="3419506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D89FF-3A8B-E247-3773-DBF60B363C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9AC04E-4B9D-3E19-0CB0-B1DDE565D324}"/>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625B5718-6EE5-D7C5-8DE6-6BAC906FBC26}"/>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412F3DE-5594-784D-F71A-B3BC9C6BDA3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Intro to Claude </a:t>
            </a:r>
            <a:r>
              <a:rPr lang="en-US" sz="2400" dirty="0" err="1">
                <a:solidFill>
                  <a:schemeClr val="bg1"/>
                </a:solidFill>
                <a:latin typeface="Montserrat" charset="0"/>
                <a:ea typeface="Montserrat" charset="0"/>
                <a:cs typeface="Montserrat" charset="0"/>
              </a:rPr>
              <a:t>Cowork</a:t>
            </a:r>
            <a:endParaRPr lang="en-US" sz="2400" dirty="0">
              <a:solidFill>
                <a:schemeClr val="bg1"/>
              </a:solidFill>
              <a:latin typeface="Montserrat" charset="0"/>
              <a:ea typeface="Montserrat" charset="0"/>
              <a:cs typeface="Montserrat" charset="0"/>
            </a:endParaRPr>
          </a:p>
        </p:txBody>
      </p:sp>
      <p:sp>
        <p:nvSpPr>
          <p:cNvPr id="9" name="TextBox 8">
            <a:extLst>
              <a:ext uri="{FF2B5EF4-FFF2-40B4-BE49-F238E27FC236}">
                <a16:creationId xmlns:a16="http://schemas.microsoft.com/office/drawing/2014/main" id="{24043236-FDDF-436D-3ACE-7E55FF70B45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2" name="Shape 4">
            <a:extLst>
              <a:ext uri="{FF2B5EF4-FFF2-40B4-BE49-F238E27FC236}">
                <a16:creationId xmlns:a16="http://schemas.microsoft.com/office/drawing/2014/main" id="{A2EA34AC-190B-7C95-748C-900356FEED7E}"/>
              </a:ext>
            </a:extLst>
          </p:cNvPr>
          <p:cNvSpPr/>
          <p:nvPr/>
        </p:nvSpPr>
        <p:spPr>
          <a:xfrm>
            <a:off x="1457565" y="1824213"/>
            <a:ext cx="3703320" cy="1234440"/>
          </a:xfrm>
          <a:prstGeom prst="rect">
            <a:avLst/>
          </a:prstGeom>
          <a:solidFill>
            <a:srgbClr val="D56E48"/>
          </a:solidFill>
          <a:ln/>
          <a:effectLst>
            <a:outerShdw blurRad="101600" dist="38100" dir="8100000" algn="bl" rotWithShape="0">
              <a:srgbClr val="000000">
                <a:alpha val="12000"/>
              </a:srgbClr>
            </a:outerShdw>
          </a:effectLst>
        </p:spPr>
        <p:txBody>
          <a:bodyPr/>
          <a:lstStyle/>
          <a:p>
            <a:endParaRPr lang="en-CA">
              <a:latin typeface="Montserrat" panose="00000500000000000000" pitchFamily="2" charset="0"/>
            </a:endParaRPr>
          </a:p>
        </p:txBody>
      </p:sp>
      <p:sp>
        <p:nvSpPr>
          <p:cNvPr id="13" name="Shape 5">
            <a:extLst>
              <a:ext uri="{FF2B5EF4-FFF2-40B4-BE49-F238E27FC236}">
                <a16:creationId xmlns:a16="http://schemas.microsoft.com/office/drawing/2014/main" id="{EA6EB15D-884C-3EB4-DED6-CE14712ADD66}"/>
              </a:ext>
            </a:extLst>
          </p:cNvPr>
          <p:cNvSpPr/>
          <p:nvPr/>
        </p:nvSpPr>
        <p:spPr>
          <a:xfrm>
            <a:off x="1686165" y="2098533"/>
            <a:ext cx="640080" cy="640080"/>
          </a:xfrm>
          <a:prstGeom prst="ellipse">
            <a:avLst/>
          </a:prstGeom>
          <a:solidFill>
            <a:srgbClr val="FFFFFF">
              <a:alpha val="80000"/>
            </a:srgbClr>
          </a:solidFill>
          <a:ln/>
        </p:spPr>
        <p:txBody>
          <a:bodyPr/>
          <a:lstStyle/>
          <a:p>
            <a:endParaRPr lang="en-CA">
              <a:latin typeface="Montserrat" panose="00000500000000000000" pitchFamily="2" charset="0"/>
            </a:endParaRPr>
          </a:p>
        </p:txBody>
      </p:sp>
      <p:pic>
        <p:nvPicPr>
          <p:cNvPr id="14" name="Image 0" descr="preencoded.png">
            <a:extLst>
              <a:ext uri="{FF2B5EF4-FFF2-40B4-BE49-F238E27FC236}">
                <a16:creationId xmlns:a16="http://schemas.microsoft.com/office/drawing/2014/main" id="{8C79DFF7-F6D9-1B51-879C-7740B833024C}"/>
              </a:ext>
            </a:extLst>
          </p:cNvPr>
          <p:cNvPicPr>
            <a:picLocks noChangeAspect="1"/>
          </p:cNvPicPr>
          <p:nvPr/>
        </p:nvPicPr>
        <p:blipFill>
          <a:blip r:embed="rId4"/>
          <a:stretch>
            <a:fillRect/>
          </a:stretch>
        </p:blipFill>
        <p:spPr>
          <a:xfrm>
            <a:off x="1805037" y="2217405"/>
            <a:ext cx="402336" cy="402336"/>
          </a:xfrm>
          <a:prstGeom prst="rect">
            <a:avLst/>
          </a:prstGeom>
        </p:spPr>
      </p:pic>
      <p:sp>
        <p:nvSpPr>
          <p:cNvPr id="15" name="Text 6">
            <a:extLst>
              <a:ext uri="{FF2B5EF4-FFF2-40B4-BE49-F238E27FC236}">
                <a16:creationId xmlns:a16="http://schemas.microsoft.com/office/drawing/2014/main" id="{DFD5D644-3C1C-BED2-B7A2-14A396C7E2AD}"/>
              </a:ext>
            </a:extLst>
          </p:cNvPr>
          <p:cNvSpPr/>
          <p:nvPr/>
        </p:nvSpPr>
        <p:spPr>
          <a:xfrm>
            <a:off x="2509125" y="2052813"/>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Montserrat" panose="00000500000000000000" pitchFamily="2" charset="0"/>
                <a:ea typeface="Trebuchet MS" pitchFamily="34" charset="-122"/>
                <a:cs typeface="Trebuchet MS" pitchFamily="34" charset="-120"/>
              </a:rPr>
              <a:t>Desktop App</a:t>
            </a:r>
            <a:endParaRPr lang="en-US" sz="1600" dirty="0">
              <a:latin typeface="Montserrat" panose="00000500000000000000" pitchFamily="2" charset="0"/>
            </a:endParaRPr>
          </a:p>
        </p:txBody>
      </p:sp>
      <p:sp>
        <p:nvSpPr>
          <p:cNvPr id="16" name="Text 7">
            <a:extLst>
              <a:ext uri="{FF2B5EF4-FFF2-40B4-BE49-F238E27FC236}">
                <a16:creationId xmlns:a16="http://schemas.microsoft.com/office/drawing/2014/main" id="{952EE6CA-DDAE-E4A9-3B33-6304D0D687D2}"/>
              </a:ext>
            </a:extLst>
          </p:cNvPr>
          <p:cNvSpPr/>
          <p:nvPr/>
        </p:nvSpPr>
        <p:spPr>
          <a:xfrm>
            <a:off x="2509125" y="2418573"/>
            <a:ext cx="2468880" cy="457200"/>
          </a:xfrm>
          <a:prstGeom prst="rect">
            <a:avLst/>
          </a:prstGeom>
          <a:noFill/>
          <a:ln/>
        </p:spPr>
        <p:txBody>
          <a:bodyPr wrap="square" lIns="0" tIns="0" rIns="0" bIns="0" rtlCol="0" anchor="ctr"/>
          <a:lstStyle/>
          <a:p>
            <a:pPr marL="0" indent="0">
              <a:buNone/>
            </a:pPr>
            <a:r>
              <a:rPr lang="en-US" sz="1200" dirty="0">
                <a:solidFill>
                  <a:schemeClr val="bg1"/>
                </a:solidFill>
                <a:latin typeface="Montserrat" panose="00000500000000000000" pitchFamily="2" charset="0"/>
                <a:ea typeface="Calibri" pitchFamily="34" charset="-122"/>
                <a:cs typeface="Calibri" pitchFamily="34" charset="-120"/>
              </a:rPr>
              <a:t>Runs on macOS &amp; Windows via Claude Desktop</a:t>
            </a:r>
            <a:endParaRPr lang="en-US" sz="1200" dirty="0">
              <a:solidFill>
                <a:schemeClr val="bg1"/>
              </a:solidFill>
              <a:latin typeface="Montserrat" panose="00000500000000000000" pitchFamily="2" charset="0"/>
            </a:endParaRPr>
          </a:p>
        </p:txBody>
      </p:sp>
      <p:sp>
        <p:nvSpPr>
          <p:cNvPr id="17" name="Shape 8">
            <a:extLst>
              <a:ext uri="{FF2B5EF4-FFF2-40B4-BE49-F238E27FC236}">
                <a16:creationId xmlns:a16="http://schemas.microsoft.com/office/drawing/2014/main" id="{DF19DCD0-41C2-0994-2082-C099F64422D8}"/>
              </a:ext>
            </a:extLst>
          </p:cNvPr>
          <p:cNvSpPr/>
          <p:nvPr/>
        </p:nvSpPr>
        <p:spPr>
          <a:xfrm>
            <a:off x="6620670" y="1870034"/>
            <a:ext cx="3703320" cy="1234440"/>
          </a:xfrm>
          <a:prstGeom prst="rect">
            <a:avLst/>
          </a:prstGeom>
          <a:solidFill>
            <a:srgbClr val="0C1752"/>
          </a:solidFill>
          <a:ln/>
          <a:effectLst>
            <a:outerShdw blurRad="101600" dist="38100" dir="8100000" algn="bl" rotWithShape="0">
              <a:srgbClr val="000000">
                <a:alpha val="12000"/>
              </a:srgbClr>
            </a:outerShdw>
          </a:effectLst>
        </p:spPr>
        <p:txBody>
          <a:bodyPr/>
          <a:lstStyle/>
          <a:p>
            <a:endParaRPr lang="en-CA">
              <a:latin typeface="Montserrat" panose="00000500000000000000" pitchFamily="2" charset="0"/>
            </a:endParaRPr>
          </a:p>
        </p:txBody>
      </p:sp>
      <p:sp>
        <p:nvSpPr>
          <p:cNvPr id="18" name="Shape 9">
            <a:extLst>
              <a:ext uri="{FF2B5EF4-FFF2-40B4-BE49-F238E27FC236}">
                <a16:creationId xmlns:a16="http://schemas.microsoft.com/office/drawing/2014/main" id="{AE93E5AC-60F1-D230-190E-0E73FE3D65D8}"/>
              </a:ext>
            </a:extLst>
          </p:cNvPr>
          <p:cNvSpPr/>
          <p:nvPr/>
        </p:nvSpPr>
        <p:spPr>
          <a:xfrm>
            <a:off x="6849270" y="2144354"/>
            <a:ext cx="640080" cy="640080"/>
          </a:xfrm>
          <a:prstGeom prst="ellipse">
            <a:avLst/>
          </a:prstGeom>
          <a:solidFill>
            <a:srgbClr val="FFFFFF">
              <a:alpha val="80000"/>
            </a:srgbClr>
          </a:solidFill>
          <a:ln/>
        </p:spPr>
        <p:txBody>
          <a:bodyPr/>
          <a:lstStyle/>
          <a:p>
            <a:endParaRPr lang="en-CA">
              <a:latin typeface="Montserrat" panose="00000500000000000000" pitchFamily="2" charset="0"/>
            </a:endParaRPr>
          </a:p>
        </p:txBody>
      </p:sp>
      <p:pic>
        <p:nvPicPr>
          <p:cNvPr id="19" name="Image 1" descr="preencoded.png">
            <a:extLst>
              <a:ext uri="{FF2B5EF4-FFF2-40B4-BE49-F238E27FC236}">
                <a16:creationId xmlns:a16="http://schemas.microsoft.com/office/drawing/2014/main" id="{AF13C7BA-EAAF-B636-EB6D-248D7140C5F0}"/>
              </a:ext>
            </a:extLst>
          </p:cNvPr>
          <p:cNvPicPr>
            <a:picLocks noChangeAspect="1"/>
          </p:cNvPicPr>
          <p:nvPr/>
        </p:nvPicPr>
        <p:blipFill>
          <a:blip r:embed="rId5"/>
          <a:stretch>
            <a:fillRect/>
          </a:stretch>
        </p:blipFill>
        <p:spPr>
          <a:xfrm>
            <a:off x="6968142" y="2263226"/>
            <a:ext cx="402336" cy="402336"/>
          </a:xfrm>
          <a:prstGeom prst="rect">
            <a:avLst/>
          </a:prstGeom>
        </p:spPr>
      </p:pic>
      <p:sp>
        <p:nvSpPr>
          <p:cNvPr id="20" name="Text 10">
            <a:extLst>
              <a:ext uri="{FF2B5EF4-FFF2-40B4-BE49-F238E27FC236}">
                <a16:creationId xmlns:a16="http://schemas.microsoft.com/office/drawing/2014/main" id="{CD36E56B-92FA-4B19-5B32-B1F8040799F5}"/>
              </a:ext>
            </a:extLst>
          </p:cNvPr>
          <p:cNvSpPr/>
          <p:nvPr/>
        </p:nvSpPr>
        <p:spPr>
          <a:xfrm>
            <a:off x="7672230" y="2098634"/>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Montserrat" panose="00000500000000000000" pitchFamily="2" charset="0"/>
                <a:ea typeface="Trebuchet MS" pitchFamily="34" charset="-122"/>
                <a:cs typeface="Trebuchet MS" pitchFamily="34" charset="-120"/>
              </a:rPr>
              <a:t>Paid Plans</a:t>
            </a:r>
            <a:endParaRPr lang="en-US" sz="1600" dirty="0">
              <a:latin typeface="Montserrat" panose="00000500000000000000" pitchFamily="2" charset="0"/>
            </a:endParaRPr>
          </a:p>
        </p:txBody>
      </p:sp>
      <p:sp>
        <p:nvSpPr>
          <p:cNvPr id="21" name="Text 11">
            <a:extLst>
              <a:ext uri="{FF2B5EF4-FFF2-40B4-BE49-F238E27FC236}">
                <a16:creationId xmlns:a16="http://schemas.microsoft.com/office/drawing/2014/main" id="{1A1A2464-82EE-C150-8D84-91ADD606001F}"/>
              </a:ext>
            </a:extLst>
          </p:cNvPr>
          <p:cNvSpPr/>
          <p:nvPr/>
        </p:nvSpPr>
        <p:spPr>
          <a:xfrm>
            <a:off x="7672230" y="2464394"/>
            <a:ext cx="2468880" cy="457200"/>
          </a:xfrm>
          <a:prstGeom prst="rect">
            <a:avLst/>
          </a:prstGeom>
          <a:noFill/>
          <a:ln/>
        </p:spPr>
        <p:txBody>
          <a:bodyPr wrap="square" lIns="0" tIns="0" rIns="0" bIns="0" rtlCol="0" anchor="ctr"/>
          <a:lstStyle/>
          <a:p>
            <a:pPr marL="0" indent="0">
              <a:buNone/>
            </a:pPr>
            <a:r>
              <a:rPr lang="en-US" sz="1200" dirty="0">
                <a:solidFill>
                  <a:schemeClr val="bg1"/>
                </a:solidFill>
                <a:latin typeface="Montserrat" panose="00000500000000000000" pitchFamily="2" charset="0"/>
                <a:ea typeface="Calibri" pitchFamily="34" charset="-122"/>
                <a:cs typeface="Calibri" pitchFamily="34" charset="-120"/>
              </a:rPr>
              <a:t>Available on Pro, Max, Team &amp; Enterprise</a:t>
            </a:r>
            <a:endParaRPr lang="en-US" sz="1200" dirty="0">
              <a:solidFill>
                <a:schemeClr val="bg1"/>
              </a:solidFill>
              <a:latin typeface="Montserrat" panose="00000500000000000000" pitchFamily="2" charset="0"/>
            </a:endParaRPr>
          </a:p>
        </p:txBody>
      </p:sp>
      <p:sp>
        <p:nvSpPr>
          <p:cNvPr id="22" name="Shape 12">
            <a:extLst>
              <a:ext uri="{FF2B5EF4-FFF2-40B4-BE49-F238E27FC236}">
                <a16:creationId xmlns:a16="http://schemas.microsoft.com/office/drawing/2014/main" id="{90A50139-3F84-05F9-8E5E-94D48887C28B}"/>
              </a:ext>
            </a:extLst>
          </p:cNvPr>
          <p:cNvSpPr/>
          <p:nvPr/>
        </p:nvSpPr>
        <p:spPr>
          <a:xfrm>
            <a:off x="1457565" y="3424413"/>
            <a:ext cx="3703320" cy="1234440"/>
          </a:xfrm>
          <a:prstGeom prst="rect">
            <a:avLst/>
          </a:prstGeom>
          <a:solidFill>
            <a:schemeClr val="bg1">
              <a:lumMod val="65000"/>
            </a:schemeClr>
          </a:solidFill>
          <a:ln/>
          <a:effectLst>
            <a:outerShdw blurRad="101600" dist="38100" dir="8100000" algn="bl" rotWithShape="0">
              <a:srgbClr val="000000">
                <a:alpha val="12000"/>
              </a:srgbClr>
            </a:outerShdw>
          </a:effectLst>
        </p:spPr>
        <p:txBody>
          <a:bodyPr/>
          <a:lstStyle/>
          <a:p>
            <a:endParaRPr lang="en-CA">
              <a:latin typeface="Montserrat" panose="00000500000000000000" pitchFamily="2" charset="0"/>
            </a:endParaRPr>
          </a:p>
        </p:txBody>
      </p:sp>
      <p:sp>
        <p:nvSpPr>
          <p:cNvPr id="23" name="Shape 13">
            <a:extLst>
              <a:ext uri="{FF2B5EF4-FFF2-40B4-BE49-F238E27FC236}">
                <a16:creationId xmlns:a16="http://schemas.microsoft.com/office/drawing/2014/main" id="{D687C6D9-4408-59DD-5D4C-BBFB1A2C8C81}"/>
              </a:ext>
            </a:extLst>
          </p:cNvPr>
          <p:cNvSpPr/>
          <p:nvPr/>
        </p:nvSpPr>
        <p:spPr>
          <a:xfrm>
            <a:off x="1686165" y="3698733"/>
            <a:ext cx="640080" cy="640080"/>
          </a:xfrm>
          <a:prstGeom prst="ellipse">
            <a:avLst/>
          </a:prstGeom>
          <a:solidFill>
            <a:srgbClr val="FFFFFF">
              <a:alpha val="80000"/>
            </a:srgbClr>
          </a:solidFill>
          <a:ln/>
        </p:spPr>
        <p:txBody>
          <a:bodyPr/>
          <a:lstStyle/>
          <a:p>
            <a:endParaRPr lang="en-CA">
              <a:latin typeface="Montserrat" panose="00000500000000000000" pitchFamily="2" charset="0"/>
            </a:endParaRPr>
          </a:p>
        </p:txBody>
      </p:sp>
      <p:pic>
        <p:nvPicPr>
          <p:cNvPr id="24" name="Image 2" descr="preencoded.png">
            <a:extLst>
              <a:ext uri="{FF2B5EF4-FFF2-40B4-BE49-F238E27FC236}">
                <a16:creationId xmlns:a16="http://schemas.microsoft.com/office/drawing/2014/main" id="{186CC20B-1297-E73D-9401-349550791672}"/>
              </a:ext>
            </a:extLst>
          </p:cNvPr>
          <p:cNvPicPr>
            <a:picLocks noChangeAspect="1"/>
          </p:cNvPicPr>
          <p:nvPr/>
        </p:nvPicPr>
        <p:blipFill>
          <a:blip r:embed="rId6"/>
          <a:stretch>
            <a:fillRect/>
          </a:stretch>
        </p:blipFill>
        <p:spPr>
          <a:xfrm>
            <a:off x="1805037" y="3817605"/>
            <a:ext cx="402336" cy="402336"/>
          </a:xfrm>
          <a:prstGeom prst="rect">
            <a:avLst/>
          </a:prstGeom>
        </p:spPr>
      </p:pic>
      <p:sp>
        <p:nvSpPr>
          <p:cNvPr id="25" name="Text 14">
            <a:extLst>
              <a:ext uri="{FF2B5EF4-FFF2-40B4-BE49-F238E27FC236}">
                <a16:creationId xmlns:a16="http://schemas.microsoft.com/office/drawing/2014/main" id="{FF6B6536-953D-4184-F686-188CAC9FAEF8}"/>
              </a:ext>
            </a:extLst>
          </p:cNvPr>
          <p:cNvSpPr/>
          <p:nvPr/>
        </p:nvSpPr>
        <p:spPr>
          <a:xfrm>
            <a:off x="2509125" y="3653013"/>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Montserrat" panose="00000500000000000000" pitchFamily="2" charset="0"/>
                <a:ea typeface="Trebuchet MS" pitchFamily="34" charset="-122"/>
                <a:cs typeface="Trebuchet MS" pitchFamily="34" charset="-120"/>
              </a:rPr>
              <a:t>Launched Jan 2026</a:t>
            </a:r>
            <a:endParaRPr lang="en-US" sz="1600" dirty="0">
              <a:latin typeface="Montserrat" panose="00000500000000000000" pitchFamily="2" charset="0"/>
            </a:endParaRPr>
          </a:p>
        </p:txBody>
      </p:sp>
      <p:sp>
        <p:nvSpPr>
          <p:cNvPr id="26" name="Text 15">
            <a:extLst>
              <a:ext uri="{FF2B5EF4-FFF2-40B4-BE49-F238E27FC236}">
                <a16:creationId xmlns:a16="http://schemas.microsoft.com/office/drawing/2014/main" id="{A6CF71DC-D69B-45C4-FF13-AFE4453F9FE9}"/>
              </a:ext>
            </a:extLst>
          </p:cNvPr>
          <p:cNvSpPr/>
          <p:nvPr/>
        </p:nvSpPr>
        <p:spPr>
          <a:xfrm>
            <a:off x="2509125" y="4018773"/>
            <a:ext cx="2468880" cy="457200"/>
          </a:xfrm>
          <a:prstGeom prst="rect">
            <a:avLst/>
          </a:prstGeom>
          <a:noFill/>
          <a:ln/>
        </p:spPr>
        <p:txBody>
          <a:bodyPr wrap="square" lIns="0" tIns="0" rIns="0" bIns="0" rtlCol="0" anchor="ctr"/>
          <a:lstStyle/>
          <a:p>
            <a:pPr marL="0" indent="0">
              <a:buNone/>
            </a:pPr>
            <a:r>
              <a:rPr lang="en-US" sz="1200" dirty="0">
                <a:solidFill>
                  <a:schemeClr val="bg1"/>
                </a:solidFill>
                <a:latin typeface="Montserrat" panose="00000500000000000000" pitchFamily="2" charset="0"/>
                <a:ea typeface="Calibri" pitchFamily="34" charset="-122"/>
                <a:cs typeface="Calibri" pitchFamily="34" charset="-120"/>
              </a:rPr>
              <a:t>Research preview with active development</a:t>
            </a:r>
            <a:endParaRPr lang="en-US" sz="1200" dirty="0">
              <a:solidFill>
                <a:schemeClr val="bg1"/>
              </a:solidFill>
              <a:latin typeface="Montserrat" panose="00000500000000000000" pitchFamily="2" charset="0"/>
            </a:endParaRPr>
          </a:p>
        </p:txBody>
      </p:sp>
      <p:sp>
        <p:nvSpPr>
          <p:cNvPr id="27" name="Shape 16">
            <a:extLst>
              <a:ext uri="{FF2B5EF4-FFF2-40B4-BE49-F238E27FC236}">
                <a16:creationId xmlns:a16="http://schemas.microsoft.com/office/drawing/2014/main" id="{053A208B-1F1C-85D8-EA83-AA96506D6315}"/>
              </a:ext>
            </a:extLst>
          </p:cNvPr>
          <p:cNvSpPr/>
          <p:nvPr/>
        </p:nvSpPr>
        <p:spPr>
          <a:xfrm>
            <a:off x="6620670" y="3470234"/>
            <a:ext cx="3703320" cy="1234440"/>
          </a:xfrm>
          <a:prstGeom prst="rect">
            <a:avLst/>
          </a:prstGeom>
          <a:solidFill>
            <a:srgbClr val="1BBFD1"/>
          </a:solidFill>
          <a:ln/>
          <a:effectLst>
            <a:outerShdw blurRad="101600" dist="38100" dir="8100000" algn="bl" rotWithShape="0">
              <a:srgbClr val="000000">
                <a:alpha val="12000"/>
              </a:srgbClr>
            </a:outerShdw>
          </a:effectLst>
        </p:spPr>
        <p:txBody>
          <a:bodyPr/>
          <a:lstStyle/>
          <a:p>
            <a:endParaRPr lang="en-CA">
              <a:latin typeface="Montserrat" panose="00000500000000000000" pitchFamily="2" charset="0"/>
            </a:endParaRPr>
          </a:p>
        </p:txBody>
      </p:sp>
      <p:sp>
        <p:nvSpPr>
          <p:cNvPr id="28" name="Shape 17">
            <a:extLst>
              <a:ext uri="{FF2B5EF4-FFF2-40B4-BE49-F238E27FC236}">
                <a16:creationId xmlns:a16="http://schemas.microsoft.com/office/drawing/2014/main" id="{4E52400E-1D58-B78A-0C4A-B7A07B870874}"/>
              </a:ext>
            </a:extLst>
          </p:cNvPr>
          <p:cNvSpPr/>
          <p:nvPr/>
        </p:nvSpPr>
        <p:spPr>
          <a:xfrm>
            <a:off x="6849270" y="3744554"/>
            <a:ext cx="640080" cy="640080"/>
          </a:xfrm>
          <a:prstGeom prst="ellipse">
            <a:avLst/>
          </a:prstGeom>
          <a:solidFill>
            <a:srgbClr val="FFFFFF">
              <a:alpha val="80000"/>
            </a:srgbClr>
          </a:solidFill>
          <a:ln/>
        </p:spPr>
        <p:txBody>
          <a:bodyPr/>
          <a:lstStyle/>
          <a:p>
            <a:endParaRPr lang="en-CA">
              <a:latin typeface="Montserrat" panose="00000500000000000000" pitchFamily="2" charset="0"/>
            </a:endParaRPr>
          </a:p>
        </p:txBody>
      </p:sp>
      <p:pic>
        <p:nvPicPr>
          <p:cNvPr id="29" name="Image 3" descr="preencoded.png">
            <a:extLst>
              <a:ext uri="{FF2B5EF4-FFF2-40B4-BE49-F238E27FC236}">
                <a16:creationId xmlns:a16="http://schemas.microsoft.com/office/drawing/2014/main" id="{EBAE65BF-2C0E-E84F-1833-2DF70A2E9722}"/>
              </a:ext>
            </a:extLst>
          </p:cNvPr>
          <p:cNvPicPr>
            <a:picLocks noChangeAspect="1"/>
          </p:cNvPicPr>
          <p:nvPr/>
        </p:nvPicPr>
        <p:blipFill>
          <a:blip r:embed="rId7"/>
          <a:stretch>
            <a:fillRect/>
          </a:stretch>
        </p:blipFill>
        <p:spPr>
          <a:xfrm>
            <a:off x="6968142" y="3863426"/>
            <a:ext cx="402336" cy="402336"/>
          </a:xfrm>
          <a:prstGeom prst="rect">
            <a:avLst/>
          </a:prstGeom>
        </p:spPr>
      </p:pic>
      <p:sp>
        <p:nvSpPr>
          <p:cNvPr id="30" name="Text 18">
            <a:extLst>
              <a:ext uri="{FF2B5EF4-FFF2-40B4-BE49-F238E27FC236}">
                <a16:creationId xmlns:a16="http://schemas.microsoft.com/office/drawing/2014/main" id="{6D2C74F3-EBEE-B590-5EF3-E52BD2F3C0C6}"/>
              </a:ext>
            </a:extLst>
          </p:cNvPr>
          <p:cNvSpPr/>
          <p:nvPr/>
        </p:nvSpPr>
        <p:spPr>
          <a:xfrm>
            <a:off x="7672230" y="3698834"/>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Montserrat" panose="00000500000000000000" pitchFamily="2" charset="0"/>
                <a:ea typeface="Trebuchet MS" pitchFamily="34" charset="-122"/>
                <a:cs typeface="Trebuchet MS" pitchFamily="34" charset="-120"/>
              </a:rPr>
              <a:t>Secure Sandbox</a:t>
            </a:r>
            <a:endParaRPr lang="en-US" sz="1600" dirty="0">
              <a:latin typeface="Montserrat" panose="00000500000000000000" pitchFamily="2" charset="0"/>
            </a:endParaRPr>
          </a:p>
        </p:txBody>
      </p:sp>
      <p:sp>
        <p:nvSpPr>
          <p:cNvPr id="31" name="Text 19">
            <a:extLst>
              <a:ext uri="{FF2B5EF4-FFF2-40B4-BE49-F238E27FC236}">
                <a16:creationId xmlns:a16="http://schemas.microsoft.com/office/drawing/2014/main" id="{46EA6CB7-9A3E-8326-E05E-B97537AC45E2}"/>
              </a:ext>
            </a:extLst>
          </p:cNvPr>
          <p:cNvSpPr/>
          <p:nvPr/>
        </p:nvSpPr>
        <p:spPr>
          <a:xfrm>
            <a:off x="7672230" y="4064594"/>
            <a:ext cx="2468880" cy="457200"/>
          </a:xfrm>
          <a:prstGeom prst="rect">
            <a:avLst/>
          </a:prstGeom>
          <a:noFill/>
          <a:ln/>
        </p:spPr>
        <p:txBody>
          <a:bodyPr wrap="square" lIns="0" tIns="0" rIns="0" bIns="0" rtlCol="0" anchor="ctr"/>
          <a:lstStyle/>
          <a:p>
            <a:pPr marL="0" indent="0">
              <a:buNone/>
            </a:pPr>
            <a:r>
              <a:rPr lang="en-US" sz="1200" dirty="0">
                <a:solidFill>
                  <a:schemeClr val="bg1"/>
                </a:solidFill>
                <a:latin typeface="Montserrat" panose="00000500000000000000" pitchFamily="2" charset="0"/>
                <a:ea typeface="Calibri" pitchFamily="34" charset="-122"/>
                <a:cs typeface="Calibri" pitchFamily="34" charset="-120"/>
              </a:rPr>
              <a:t>Runs in an isolated virtual machine on your device</a:t>
            </a:r>
            <a:endParaRPr lang="en-US" sz="12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419084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4F133-1036-D0B1-AB6F-4C40E25611B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8551E04-458E-8699-0CB0-F6B3EDE163C8}"/>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B8641E44-5502-1415-180B-26EF305BA5E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0CC13CA-97EC-FF68-B30D-7EDA126D317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Key Learning Objectives</a:t>
            </a:r>
          </a:p>
        </p:txBody>
      </p:sp>
      <p:sp>
        <p:nvSpPr>
          <p:cNvPr id="9" name="TextBox 8">
            <a:extLst>
              <a:ext uri="{FF2B5EF4-FFF2-40B4-BE49-F238E27FC236}">
                <a16:creationId xmlns:a16="http://schemas.microsoft.com/office/drawing/2014/main" id="{252E9451-5EF1-0229-77F2-17E1FBBDD0B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11" name="Diagram 10">
            <a:extLst>
              <a:ext uri="{FF2B5EF4-FFF2-40B4-BE49-F238E27FC236}">
                <a16:creationId xmlns:a16="http://schemas.microsoft.com/office/drawing/2014/main" id="{CB4CB5A7-DA9F-25B8-A9F8-A4B4812F76A1}"/>
              </a:ext>
            </a:extLst>
          </p:cNvPr>
          <p:cNvGraphicFramePr/>
          <p:nvPr>
            <p:extLst>
              <p:ext uri="{D42A27DB-BD31-4B8C-83A1-F6EECF244321}">
                <p14:modId xmlns:p14="http://schemas.microsoft.com/office/powerpoint/2010/main" val="3559220053"/>
              </p:ext>
            </p:extLst>
          </p:nvPr>
        </p:nvGraphicFramePr>
        <p:xfrm>
          <a:off x="319404" y="751406"/>
          <a:ext cx="11250613"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7681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graphicEl>
                                              <a:dgm id="{69CE8057-0DF9-434C-8846-744BD4E37834}"/>
                                            </p:graphicEl>
                                          </p:spTgt>
                                        </p:tgtEl>
                                        <p:attrNameLst>
                                          <p:attrName>style.visibility</p:attrName>
                                        </p:attrNameLst>
                                      </p:cBhvr>
                                      <p:to>
                                        <p:strVal val="visible"/>
                                      </p:to>
                                    </p:set>
                                    <p:animEffect transition="in" filter="fade">
                                      <p:cBhvr>
                                        <p:cTn id="7" dur="500"/>
                                        <p:tgtEl>
                                          <p:spTgt spid="11">
                                            <p:graphicEl>
                                              <a:dgm id="{69CE8057-0DF9-434C-8846-744BD4E37834}"/>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graphicEl>
                                              <a:dgm id="{0834A8D9-3DDC-4044-9B45-2B9128E47F48}"/>
                                            </p:graphicEl>
                                          </p:spTgt>
                                        </p:tgtEl>
                                        <p:attrNameLst>
                                          <p:attrName>style.visibility</p:attrName>
                                        </p:attrNameLst>
                                      </p:cBhvr>
                                      <p:to>
                                        <p:strVal val="visible"/>
                                      </p:to>
                                    </p:set>
                                    <p:animEffect transition="in" filter="fade">
                                      <p:cBhvr>
                                        <p:cTn id="12" dur="500"/>
                                        <p:tgtEl>
                                          <p:spTgt spid="11">
                                            <p:graphicEl>
                                              <a:dgm id="{0834A8D9-3DDC-4044-9B45-2B9128E47F48}"/>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graphicEl>
                                              <a:dgm id="{55528C55-457D-462C-9CD9-2224288C1FA2}"/>
                                            </p:graphicEl>
                                          </p:spTgt>
                                        </p:tgtEl>
                                        <p:attrNameLst>
                                          <p:attrName>style.visibility</p:attrName>
                                        </p:attrNameLst>
                                      </p:cBhvr>
                                      <p:to>
                                        <p:strVal val="visible"/>
                                      </p:to>
                                    </p:set>
                                    <p:animEffect transition="in" filter="fade">
                                      <p:cBhvr>
                                        <p:cTn id="17" dur="500"/>
                                        <p:tgtEl>
                                          <p:spTgt spid="11">
                                            <p:graphicEl>
                                              <a:dgm id="{55528C55-457D-462C-9CD9-2224288C1FA2}"/>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graphicEl>
                                              <a:dgm id="{1128222C-25A7-456E-A265-1D059DEF86CA}"/>
                                            </p:graphicEl>
                                          </p:spTgt>
                                        </p:tgtEl>
                                        <p:attrNameLst>
                                          <p:attrName>style.visibility</p:attrName>
                                        </p:attrNameLst>
                                      </p:cBhvr>
                                      <p:to>
                                        <p:strVal val="visible"/>
                                      </p:to>
                                    </p:set>
                                    <p:animEffect transition="in" filter="fade">
                                      <p:cBhvr>
                                        <p:cTn id="22" dur="500"/>
                                        <p:tgtEl>
                                          <p:spTgt spid="11">
                                            <p:graphicEl>
                                              <a:dgm id="{1128222C-25A7-456E-A265-1D059DEF86CA}"/>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graphicEl>
                                              <a:dgm id="{3884100F-46BE-4B67-98EB-C6A0A0A4B69E}"/>
                                            </p:graphicEl>
                                          </p:spTgt>
                                        </p:tgtEl>
                                        <p:attrNameLst>
                                          <p:attrName>style.visibility</p:attrName>
                                        </p:attrNameLst>
                                      </p:cBhvr>
                                      <p:to>
                                        <p:strVal val="visible"/>
                                      </p:to>
                                    </p:set>
                                    <p:animEffect transition="in" filter="fade">
                                      <p:cBhvr>
                                        <p:cTn id="27" dur="500"/>
                                        <p:tgtEl>
                                          <p:spTgt spid="11">
                                            <p:graphicEl>
                                              <a:dgm id="{3884100F-46BE-4B67-98EB-C6A0A0A4B69E}"/>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graphicEl>
                                              <a:dgm id="{2D31528C-39AB-4F4F-8DE1-72F80BD3C233}"/>
                                            </p:graphicEl>
                                          </p:spTgt>
                                        </p:tgtEl>
                                        <p:attrNameLst>
                                          <p:attrName>style.visibility</p:attrName>
                                        </p:attrNameLst>
                                      </p:cBhvr>
                                      <p:to>
                                        <p:strVal val="visible"/>
                                      </p:to>
                                    </p:set>
                                    <p:animEffect transition="in" filter="fade">
                                      <p:cBhvr>
                                        <p:cTn id="32" dur="500"/>
                                        <p:tgtEl>
                                          <p:spTgt spid="11">
                                            <p:graphicEl>
                                              <a:dgm id="{2D31528C-39AB-4F4F-8DE1-72F80BD3C23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6EF96-B05A-C12C-71F5-1A935C9689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B67389-D35D-F7F1-3F25-D47378648B1C}"/>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3C885E9-68CB-D428-58F0-A9205210ED56}"/>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6411A3A-37A6-665F-2B5B-EB682C0F160E}"/>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COWORK CAPABILITIES</a:t>
            </a:r>
          </a:p>
        </p:txBody>
      </p:sp>
      <p:pic>
        <p:nvPicPr>
          <p:cNvPr id="5" name="Picture 4">
            <a:extLst>
              <a:ext uri="{FF2B5EF4-FFF2-40B4-BE49-F238E27FC236}">
                <a16:creationId xmlns:a16="http://schemas.microsoft.com/office/drawing/2014/main" id="{634D87B5-FF8A-2BF7-65F1-2316D6B44A34}"/>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793837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CEA5-D678-99B9-7AD7-EC2B0D9C9D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D60704B-6253-2793-A3E0-DAC1C681442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B2FFE6E7-A0E2-E608-3FCB-4B2526FD5DBD}"/>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5AFC891-1075-3BDE-DBBD-0418976417C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How does </a:t>
            </a:r>
            <a:r>
              <a:rPr lang="en-US" sz="2400" dirty="0" err="1">
                <a:solidFill>
                  <a:schemeClr val="bg1"/>
                </a:solidFill>
                <a:latin typeface="Montserrat" charset="0"/>
                <a:ea typeface="Montserrat" charset="0"/>
                <a:cs typeface="Montserrat" charset="0"/>
              </a:rPr>
              <a:t>Cowork</a:t>
            </a:r>
            <a:r>
              <a:rPr lang="en-US" sz="2400" dirty="0">
                <a:solidFill>
                  <a:schemeClr val="bg1"/>
                </a:solidFill>
                <a:latin typeface="Montserrat" charset="0"/>
                <a:ea typeface="Montserrat" charset="0"/>
                <a:cs typeface="Montserrat" charset="0"/>
              </a:rPr>
              <a:t> work?</a:t>
            </a:r>
          </a:p>
        </p:txBody>
      </p:sp>
      <p:sp>
        <p:nvSpPr>
          <p:cNvPr id="9" name="TextBox 8">
            <a:extLst>
              <a:ext uri="{FF2B5EF4-FFF2-40B4-BE49-F238E27FC236}">
                <a16:creationId xmlns:a16="http://schemas.microsoft.com/office/drawing/2014/main" id="{32F11FD1-5485-C63F-C45D-D3FB5E69736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Shape 2">
            <a:extLst>
              <a:ext uri="{FF2B5EF4-FFF2-40B4-BE49-F238E27FC236}">
                <a16:creationId xmlns:a16="http://schemas.microsoft.com/office/drawing/2014/main" id="{F5ED6277-C80E-7EC1-752C-8131FAF1FD0D}"/>
              </a:ext>
            </a:extLst>
          </p:cNvPr>
          <p:cNvSpPr/>
          <p:nvPr/>
        </p:nvSpPr>
        <p:spPr>
          <a:xfrm>
            <a:off x="822960" y="1243380"/>
            <a:ext cx="2170035" cy="237846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CA"/>
          </a:p>
        </p:txBody>
      </p:sp>
      <p:sp>
        <p:nvSpPr>
          <p:cNvPr id="3" name="Shape 3">
            <a:extLst>
              <a:ext uri="{FF2B5EF4-FFF2-40B4-BE49-F238E27FC236}">
                <a16:creationId xmlns:a16="http://schemas.microsoft.com/office/drawing/2014/main" id="{3F7EC0BC-9B2D-9A13-5F40-25AE11C439C7}"/>
              </a:ext>
            </a:extLst>
          </p:cNvPr>
          <p:cNvSpPr/>
          <p:nvPr/>
        </p:nvSpPr>
        <p:spPr>
          <a:xfrm>
            <a:off x="1621395" y="1453692"/>
            <a:ext cx="548640" cy="548640"/>
          </a:xfrm>
          <a:prstGeom prst="ellipse">
            <a:avLst/>
          </a:prstGeom>
          <a:solidFill>
            <a:srgbClr val="0C1752">
              <a:alpha val="80000"/>
            </a:srgbClr>
          </a:solidFill>
          <a:ln/>
        </p:spPr>
        <p:txBody>
          <a:bodyPr/>
          <a:lstStyle/>
          <a:p>
            <a:endParaRPr lang="en-CA">
              <a:solidFill>
                <a:srgbClr val="0C1752"/>
              </a:solidFill>
            </a:endParaRPr>
          </a:p>
        </p:txBody>
      </p:sp>
      <p:sp>
        <p:nvSpPr>
          <p:cNvPr id="4" name="Text 4">
            <a:extLst>
              <a:ext uri="{FF2B5EF4-FFF2-40B4-BE49-F238E27FC236}">
                <a16:creationId xmlns:a16="http://schemas.microsoft.com/office/drawing/2014/main" id="{A6CF3F30-4EF6-3213-ECFA-FC79FF2C60E0}"/>
              </a:ext>
            </a:extLst>
          </p:cNvPr>
          <p:cNvSpPr/>
          <p:nvPr/>
        </p:nvSpPr>
        <p:spPr>
          <a:xfrm>
            <a:off x="1621395" y="1453692"/>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latin typeface="Trebuchet MS" pitchFamily="34" charset="0"/>
                <a:ea typeface="Trebuchet MS" pitchFamily="34" charset="-122"/>
                <a:cs typeface="Trebuchet MS" pitchFamily="34" charset="-120"/>
              </a:rPr>
              <a:t>1</a:t>
            </a:r>
            <a:endParaRPr lang="en-US" sz="2200" dirty="0">
              <a:solidFill>
                <a:schemeClr val="bg1"/>
              </a:solidFill>
            </a:endParaRPr>
          </a:p>
        </p:txBody>
      </p:sp>
      <p:sp>
        <p:nvSpPr>
          <p:cNvPr id="8" name="Text 5">
            <a:extLst>
              <a:ext uri="{FF2B5EF4-FFF2-40B4-BE49-F238E27FC236}">
                <a16:creationId xmlns:a16="http://schemas.microsoft.com/office/drawing/2014/main" id="{86D5F4B6-6DCD-BE9B-BDCF-56CE3864191B}"/>
              </a:ext>
            </a:extLst>
          </p:cNvPr>
          <p:cNvSpPr/>
          <p:nvPr/>
        </p:nvSpPr>
        <p:spPr>
          <a:xfrm>
            <a:off x="1244483" y="2306074"/>
            <a:ext cx="1371600" cy="640080"/>
          </a:xfrm>
          <a:prstGeom prst="rect">
            <a:avLst/>
          </a:prstGeom>
          <a:noFill/>
          <a:ln/>
        </p:spPr>
        <p:txBody>
          <a:bodyPr wrap="square" lIns="0" tIns="0" rIns="0" bIns="0" rtlCol="0" anchor="ctr"/>
          <a:lstStyle/>
          <a:p>
            <a:pPr marL="0" indent="0" algn="ctr">
              <a:buNone/>
            </a:pPr>
            <a:r>
              <a:rPr lang="en-US" dirty="0">
                <a:latin typeface="Montserrat" panose="00000500000000000000" pitchFamily="2" charset="0"/>
                <a:ea typeface="Calibri" pitchFamily="34" charset="-122"/>
                <a:cs typeface="Calibri" pitchFamily="34" charset="-120"/>
              </a:rPr>
              <a:t>Describe</a:t>
            </a:r>
            <a:endParaRPr lang="en-US" dirty="0">
              <a:latin typeface="Montserrat" panose="00000500000000000000" pitchFamily="2" charset="0"/>
            </a:endParaRPr>
          </a:p>
          <a:p>
            <a:pPr marL="0" indent="0" algn="ctr">
              <a:buNone/>
            </a:pPr>
            <a:r>
              <a:rPr lang="en-US" dirty="0">
                <a:latin typeface="Montserrat" panose="00000500000000000000" pitchFamily="2" charset="0"/>
                <a:ea typeface="Calibri" pitchFamily="34" charset="-122"/>
                <a:cs typeface="Calibri" pitchFamily="34" charset="-120"/>
              </a:rPr>
              <a:t>Your Task</a:t>
            </a:r>
            <a:endParaRPr lang="en-US" dirty="0">
              <a:latin typeface="Montserrat" panose="00000500000000000000" pitchFamily="2" charset="0"/>
            </a:endParaRPr>
          </a:p>
        </p:txBody>
      </p:sp>
      <p:pic>
        <p:nvPicPr>
          <p:cNvPr id="10" name="Image 0" descr="preencoded.png">
            <a:extLst>
              <a:ext uri="{FF2B5EF4-FFF2-40B4-BE49-F238E27FC236}">
                <a16:creationId xmlns:a16="http://schemas.microsoft.com/office/drawing/2014/main" id="{5A631969-B67D-AECA-13E8-E3973D5B7C4A}"/>
              </a:ext>
            </a:extLst>
          </p:cNvPr>
          <p:cNvPicPr>
            <a:picLocks noChangeAspect="1"/>
          </p:cNvPicPr>
          <p:nvPr/>
        </p:nvPicPr>
        <p:blipFill>
          <a:blip r:embed="rId4"/>
          <a:stretch>
            <a:fillRect/>
          </a:stretch>
        </p:blipFill>
        <p:spPr>
          <a:xfrm>
            <a:off x="3610770" y="1837740"/>
            <a:ext cx="274320" cy="274320"/>
          </a:xfrm>
          <a:prstGeom prst="rect">
            <a:avLst/>
          </a:prstGeom>
        </p:spPr>
      </p:pic>
      <p:sp>
        <p:nvSpPr>
          <p:cNvPr id="12" name="Shape 6">
            <a:extLst>
              <a:ext uri="{FF2B5EF4-FFF2-40B4-BE49-F238E27FC236}">
                <a16:creationId xmlns:a16="http://schemas.microsoft.com/office/drawing/2014/main" id="{58D67824-E0C8-72D9-FC6C-361CD3B8CB28}"/>
              </a:ext>
            </a:extLst>
          </p:cNvPr>
          <p:cNvSpPr/>
          <p:nvPr/>
        </p:nvSpPr>
        <p:spPr>
          <a:xfrm>
            <a:off x="3541635" y="1243380"/>
            <a:ext cx="2080815" cy="237846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CA"/>
          </a:p>
        </p:txBody>
      </p:sp>
      <p:sp>
        <p:nvSpPr>
          <p:cNvPr id="13" name="Shape 7">
            <a:extLst>
              <a:ext uri="{FF2B5EF4-FFF2-40B4-BE49-F238E27FC236}">
                <a16:creationId xmlns:a16="http://schemas.microsoft.com/office/drawing/2014/main" id="{4F3A754A-3087-F412-254E-51C4AE8B332E}"/>
              </a:ext>
            </a:extLst>
          </p:cNvPr>
          <p:cNvSpPr/>
          <p:nvPr/>
        </p:nvSpPr>
        <p:spPr>
          <a:xfrm>
            <a:off x="4250850" y="1471980"/>
            <a:ext cx="548640" cy="548640"/>
          </a:xfrm>
          <a:prstGeom prst="ellipse">
            <a:avLst/>
          </a:prstGeom>
          <a:solidFill>
            <a:srgbClr val="D56E48">
              <a:alpha val="80000"/>
            </a:srgbClr>
          </a:solidFill>
          <a:ln/>
        </p:spPr>
        <p:txBody>
          <a:bodyPr/>
          <a:lstStyle/>
          <a:p>
            <a:endParaRPr lang="en-CA"/>
          </a:p>
        </p:txBody>
      </p:sp>
      <p:sp>
        <p:nvSpPr>
          <p:cNvPr id="14" name="Text 8">
            <a:extLst>
              <a:ext uri="{FF2B5EF4-FFF2-40B4-BE49-F238E27FC236}">
                <a16:creationId xmlns:a16="http://schemas.microsoft.com/office/drawing/2014/main" id="{1E0F9548-3B62-E788-04C2-5D99A549761A}"/>
              </a:ext>
            </a:extLst>
          </p:cNvPr>
          <p:cNvSpPr/>
          <p:nvPr/>
        </p:nvSpPr>
        <p:spPr>
          <a:xfrm>
            <a:off x="4250850" y="14719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5" name="Text 9">
            <a:extLst>
              <a:ext uri="{FF2B5EF4-FFF2-40B4-BE49-F238E27FC236}">
                <a16:creationId xmlns:a16="http://schemas.microsoft.com/office/drawing/2014/main" id="{D7DD3D39-F931-16F7-8D9D-EEDC2678A6B5}"/>
              </a:ext>
            </a:extLst>
          </p:cNvPr>
          <p:cNvSpPr/>
          <p:nvPr/>
        </p:nvSpPr>
        <p:spPr>
          <a:xfrm>
            <a:off x="3747930" y="2405280"/>
            <a:ext cx="1681624" cy="640080"/>
          </a:xfrm>
          <a:prstGeom prst="rect">
            <a:avLst/>
          </a:prstGeom>
          <a:noFill/>
          <a:ln/>
        </p:spPr>
        <p:txBody>
          <a:bodyPr wrap="square" lIns="0" tIns="0" rIns="0" bIns="0" rtlCol="0" anchor="ctr"/>
          <a:lstStyle/>
          <a:p>
            <a:pPr algn="ctr"/>
            <a:r>
              <a:rPr lang="en-US" dirty="0">
                <a:latin typeface="Montserrat" panose="00000500000000000000" pitchFamily="2" charset="0"/>
                <a:ea typeface="Calibri" pitchFamily="34" charset="-122"/>
                <a:cs typeface="Calibri" pitchFamily="34" charset="-120"/>
              </a:rPr>
              <a:t>Claude Plans</a:t>
            </a:r>
          </a:p>
          <a:p>
            <a:pPr algn="ctr"/>
            <a:r>
              <a:rPr lang="en-US" dirty="0">
                <a:latin typeface="Montserrat" panose="00000500000000000000" pitchFamily="2" charset="0"/>
                <a:ea typeface="Calibri" pitchFamily="34" charset="-122"/>
                <a:cs typeface="Calibri" pitchFamily="34" charset="-120"/>
              </a:rPr>
              <a:t>&amp; Breaks Down</a:t>
            </a:r>
          </a:p>
        </p:txBody>
      </p:sp>
      <p:pic>
        <p:nvPicPr>
          <p:cNvPr id="16" name="Image 1" descr="preencoded.png">
            <a:extLst>
              <a:ext uri="{FF2B5EF4-FFF2-40B4-BE49-F238E27FC236}">
                <a16:creationId xmlns:a16="http://schemas.microsoft.com/office/drawing/2014/main" id="{50EC5561-4A86-829A-18A6-47BADBCEA1DE}"/>
              </a:ext>
            </a:extLst>
          </p:cNvPr>
          <p:cNvPicPr>
            <a:picLocks noChangeAspect="1"/>
          </p:cNvPicPr>
          <p:nvPr/>
        </p:nvPicPr>
        <p:blipFill>
          <a:blip r:embed="rId4"/>
          <a:stretch>
            <a:fillRect/>
          </a:stretch>
        </p:blipFill>
        <p:spPr>
          <a:xfrm>
            <a:off x="6217920" y="1846680"/>
            <a:ext cx="274320" cy="274320"/>
          </a:xfrm>
          <a:prstGeom prst="rect">
            <a:avLst/>
          </a:prstGeom>
        </p:spPr>
      </p:pic>
      <p:sp>
        <p:nvSpPr>
          <p:cNvPr id="17" name="Shape 10">
            <a:extLst>
              <a:ext uri="{FF2B5EF4-FFF2-40B4-BE49-F238E27FC236}">
                <a16:creationId xmlns:a16="http://schemas.microsoft.com/office/drawing/2014/main" id="{03F64BC5-FF8A-B9C8-85A9-C52510C50512}"/>
              </a:ext>
            </a:extLst>
          </p:cNvPr>
          <p:cNvSpPr/>
          <p:nvPr/>
        </p:nvSpPr>
        <p:spPr>
          <a:xfrm>
            <a:off x="6171090" y="1252320"/>
            <a:ext cx="2058510" cy="236952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CA"/>
          </a:p>
        </p:txBody>
      </p:sp>
      <p:sp>
        <p:nvSpPr>
          <p:cNvPr id="18" name="Shape 11">
            <a:extLst>
              <a:ext uri="{FF2B5EF4-FFF2-40B4-BE49-F238E27FC236}">
                <a16:creationId xmlns:a16="http://schemas.microsoft.com/office/drawing/2014/main" id="{6B6F10EE-BE75-78A1-895A-53A875C79976}"/>
              </a:ext>
            </a:extLst>
          </p:cNvPr>
          <p:cNvSpPr/>
          <p:nvPr/>
        </p:nvSpPr>
        <p:spPr>
          <a:xfrm>
            <a:off x="6925470" y="1435200"/>
            <a:ext cx="548640" cy="548640"/>
          </a:xfrm>
          <a:prstGeom prst="ellipse">
            <a:avLst/>
          </a:prstGeom>
          <a:solidFill>
            <a:srgbClr val="1BBFD1">
              <a:alpha val="80000"/>
            </a:srgbClr>
          </a:solidFill>
          <a:ln/>
        </p:spPr>
        <p:txBody>
          <a:bodyPr/>
          <a:lstStyle/>
          <a:p>
            <a:endParaRPr lang="en-CA"/>
          </a:p>
        </p:txBody>
      </p:sp>
      <p:sp>
        <p:nvSpPr>
          <p:cNvPr id="19" name="Text 12">
            <a:extLst>
              <a:ext uri="{FF2B5EF4-FFF2-40B4-BE49-F238E27FC236}">
                <a16:creationId xmlns:a16="http://schemas.microsoft.com/office/drawing/2014/main" id="{2259BD42-42B7-C963-F100-64E0816CAB47}"/>
              </a:ext>
            </a:extLst>
          </p:cNvPr>
          <p:cNvSpPr/>
          <p:nvPr/>
        </p:nvSpPr>
        <p:spPr>
          <a:xfrm>
            <a:off x="6925470" y="14352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20" name="Text 13">
            <a:extLst>
              <a:ext uri="{FF2B5EF4-FFF2-40B4-BE49-F238E27FC236}">
                <a16:creationId xmlns:a16="http://schemas.microsoft.com/office/drawing/2014/main" id="{A8BFC3EB-D48A-85BE-F7B7-575DAD9EA24E}"/>
              </a:ext>
            </a:extLst>
          </p:cNvPr>
          <p:cNvSpPr/>
          <p:nvPr/>
        </p:nvSpPr>
        <p:spPr>
          <a:xfrm>
            <a:off x="6492240" y="2306074"/>
            <a:ext cx="1371600" cy="640080"/>
          </a:xfrm>
          <a:prstGeom prst="rect">
            <a:avLst/>
          </a:prstGeom>
          <a:noFill/>
          <a:ln/>
        </p:spPr>
        <p:txBody>
          <a:bodyPr wrap="square" lIns="0" tIns="0" rIns="0" bIns="0" rtlCol="0" anchor="ctr"/>
          <a:lstStyle/>
          <a:p>
            <a:pPr algn="ctr"/>
            <a:r>
              <a:rPr lang="en-US" dirty="0">
                <a:latin typeface="Montserrat" panose="00000500000000000000" pitchFamily="2" charset="0"/>
                <a:ea typeface="Calibri" pitchFamily="34" charset="-122"/>
                <a:cs typeface="Calibri" pitchFamily="34" charset="-120"/>
              </a:rPr>
              <a:t>Executes in</a:t>
            </a:r>
          </a:p>
          <a:p>
            <a:pPr algn="ctr"/>
            <a:r>
              <a:rPr lang="en-US" dirty="0">
                <a:latin typeface="Montserrat" panose="00000500000000000000" pitchFamily="2" charset="0"/>
                <a:ea typeface="Calibri" pitchFamily="34" charset="-122"/>
                <a:cs typeface="Calibri" pitchFamily="34" charset="-120"/>
              </a:rPr>
              <a:t>Sandbox VM</a:t>
            </a:r>
          </a:p>
        </p:txBody>
      </p:sp>
      <p:pic>
        <p:nvPicPr>
          <p:cNvPr id="21" name="Image 2" descr="preencoded.png">
            <a:extLst>
              <a:ext uri="{FF2B5EF4-FFF2-40B4-BE49-F238E27FC236}">
                <a16:creationId xmlns:a16="http://schemas.microsoft.com/office/drawing/2014/main" id="{0540B6A2-5329-5005-21F2-11326A6FCC85}"/>
              </a:ext>
            </a:extLst>
          </p:cNvPr>
          <p:cNvPicPr>
            <a:picLocks noChangeAspect="1"/>
          </p:cNvPicPr>
          <p:nvPr/>
        </p:nvPicPr>
        <p:blipFill>
          <a:blip r:embed="rId4"/>
          <a:stretch>
            <a:fillRect/>
          </a:stretch>
        </p:blipFill>
        <p:spPr>
          <a:xfrm>
            <a:off x="8321040" y="1846680"/>
            <a:ext cx="274320" cy="274320"/>
          </a:xfrm>
          <a:prstGeom prst="rect">
            <a:avLst/>
          </a:prstGeom>
        </p:spPr>
      </p:pic>
      <p:sp>
        <p:nvSpPr>
          <p:cNvPr id="22" name="Shape 14">
            <a:extLst>
              <a:ext uri="{FF2B5EF4-FFF2-40B4-BE49-F238E27FC236}">
                <a16:creationId xmlns:a16="http://schemas.microsoft.com/office/drawing/2014/main" id="{CD6CE90A-F1AF-2224-0FB7-2888C8D396A9}"/>
              </a:ext>
            </a:extLst>
          </p:cNvPr>
          <p:cNvSpPr/>
          <p:nvPr/>
        </p:nvSpPr>
        <p:spPr>
          <a:xfrm>
            <a:off x="8961675" y="1252319"/>
            <a:ext cx="2080815" cy="2378459"/>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CA"/>
          </a:p>
        </p:txBody>
      </p:sp>
      <p:sp>
        <p:nvSpPr>
          <p:cNvPr id="23" name="Shape 15">
            <a:extLst>
              <a:ext uri="{FF2B5EF4-FFF2-40B4-BE49-F238E27FC236}">
                <a16:creationId xmlns:a16="http://schemas.microsoft.com/office/drawing/2014/main" id="{7C2865FE-9EA3-4810-680C-F260093871B7}"/>
              </a:ext>
            </a:extLst>
          </p:cNvPr>
          <p:cNvSpPr/>
          <p:nvPr/>
        </p:nvSpPr>
        <p:spPr>
          <a:xfrm>
            <a:off x="9707894" y="1471980"/>
            <a:ext cx="548640" cy="548640"/>
          </a:xfrm>
          <a:prstGeom prst="ellipse">
            <a:avLst/>
          </a:prstGeom>
          <a:solidFill>
            <a:schemeClr val="bg1">
              <a:lumMod val="65000"/>
              <a:alpha val="80000"/>
            </a:schemeClr>
          </a:solidFill>
          <a:ln/>
        </p:spPr>
        <p:txBody>
          <a:bodyPr/>
          <a:lstStyle/>
          <a:p>
            <a:endParaRPr lang="en-CA"/>
          </a:p>
        </p:txBody>
      </p:sp>
      <p:sp>
        <p:nvSpPr>
          <p:cNvPr id="24" name="Text 16">
            <a:extLst>
              <a:ext uri="{FF2B5EF4-FFF2-40B4-BE49-F238E27FC236}">
                <a16:creationId xmlns:a16="http://schemas.microsoft.com/office/drawing/2014/main" id="{6F2FDEAF-F40B-18C5-098F-5C3C54C8DF46}"/>
              </a:ext>
            </a:extLst>
          </p:cNvPr>
          <p:cNvSpPr/>
          <p:nvPr/>
        </p:nvSpPr>
        <p:spPr>
          <a:xfrm>
            <a:off x="9707894" y="14719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4</a:t>
            </a:r>
            <a:endParaRPr lang="en-US" sz="2200" dirty="0"/>
          </a:p>
        </p:txBody>
      </p:sp>
      <p:sp>
        <p:nvSpPr>
          <p:cNvPr id="25" name="Text 17">
            <a:extLst>
              <a:ext uri="{FF2B5EF4-FFF2-40B4-BE49-F238E27FC236}">
                <a16:creationId xmlns:a16="http://schemas.microsoft.com/office/drawing/2014/main" id="{8E4184A2-899C-C521-A32E-83833B034A10}"/>
              </a:ext>
            </a:extLst>
          </p:cNvPr>
          <p:cNvSpPr/>
          <p:nvPr/>
        </p:nvSpPr>
        <p:spPr>
          <a:xfrm>
            <a:off x="9259965" y="2306074"/>
            <a:ext cx="1371600" cy="640080"/>
          </a:xfrm>
          <a:prstGeom prst="rect">
            <a:avLst/>
          </a:prstGeom>
          <a:noFill/>
          <a:ln/>
        </p:spPr>
        <p:txBody>
          <a:bodyPr wrap="square" lIns="0" tIns="0" rIns="0" bIns="0" rtlCol="0" anchor="ctr"/>
          <a:lstStyle/>
          <a:p>
            <a:pPr algn="ctr"/>
            <a:r>
              <a:rPr lang="en-US" dirty="0">
                <a:latin typeface="Montserrat" panose="00000500000000000000" pitchFamily="2" charset="0"/>
                <a:ea typeface="Calibri" pitchFamily="34" charset="-122"/>
                <a:cs typeface="Calibri" pitchFamily="34" charset="-120"/>
              </a:rPr>
              <a:t>Delivers</a:t>
            </a:r>
          </a:p>
          <a:p>
            <a:pPr algn="ctr"/>
            <a:r>
              <a:rPr lang="en-US" dirty="0">
                <a:latin typeface="Montserrat" panose="00000500000000000000" pitchFamily="2" charset="0"/>
                <a:ea typeface="Calibri" pitchFamily="34" charset="-122"/>
                <a:cs typeface="Calibri" pitchFamily="34" charset="-120"/>
              </a:rPr>
              <a:t>Outputs</a:t>
            </a:r>
          </a:p>
        </p:txBody>
      </p:sp>
      <p:sp>
        <p:nvSpPr>
          <p:cNvPr id="26" name="Text 18">
            <a:extLst>
              <a:ext uri="{FF2B5EF4-FFF2-40B4-BE49-F238E27FC236}">
                <a16:creationId xmlns:a16="http://schemas.microsoft.com/office/drawing/2014/main" id="{BFA62541-518A-1218-D6E9-F5420DC237C3}"/>
              </a:ext>
            </a:extLst>
          </p:cNvPr>
          <p:cNvSpPr/>
          <p:nvPr/>
        </p:nvSpPr>
        <p:spPr>
          <a:xfrm>
            <a:off x="365760" y="4331009"/>
            <a:ext cx="7863840" cy="411480"/>
          </a:xfrm>
          <a:prstGeom prst="rect">
            <a:avLst/>
          </a:prstGeom>
          <a:noFill/>
          <a:ln/>
        </p:spPr>
        <p:txBody>
          <a:bodyPr wrap="square" lIns="0" tIns="0" rIns="0" bIns="0" rtlCol="0" anchor="ctr"/>
          <a:lstStyle/>
          <a:p>
            <a:pPr marL="0" indent="0">
              <a:buNone/>
            </a:pPr>
            <a:r>
              <a:rPr lang="en-US" sz="2400" b="1" dirty="0">
                <a:solidFill>
                  <a:srgbClr val="0C1752"/>
                </a:solidFill>
                <a:latin typeface="Montserrat" panose="00000500000000000000" pitchFamily="2" charset="0"/>
                <a:ea typeface="Trebuchet MS" pitchFamily="34" charset="-122"/>
                <a:cs typeface="Trebuchet MS" pitchFamily="34" charset="-120"/>
              </a:rPr>
              <a:t>Key Behaviors:</a:t>
            </a:r>
            <a:endParaRPr lang="en-US" sz="2400" dirty="0">
              <a:solidFill>
                <a:srgbClr val="0C1752"/>
              </a:solidFill>
              <a:latin typeface="Montserrat" panose="00000500000000000000" pitchFamily="2" charset="0"/>
            </a:endParaRPr>
          </a:p>
        </p:txBody>
      </p:sp>
      <p:sp>
        <p:nvSpPr>
          <p:cNvPr id="28" name="Text 19">
            <a:extLst>
              <a:ext uri="{FF2B5EF4-FFF2-40B4-BE49-F238E27FC236}">
                <a16:creationId xmlns:a16="http://schemas.microsoft.com/office/drawing/2014/main" id="{EEF45E9A-5DA7-8C52-88BE-C82EBDC1428B}"/>
              </a:ext>
            </a:extLst>
          </p:cNvPr>
          <p:cNvSpPr/>
          <p:nvPr/>
        </p:nvSpPr>
        <p:spPr>
          <a:xfrm>
            <a:off x="861218" y="4707936"/>
            <a:ext cx="10262235" cy="2369520"/>
          </a:xfrm>
          <a:prstGeom prst="rect">
            <a:avLst/>
          </a:prstGeom>
          <a:noFill/>
          <a:ln/>
        </p:spPr>
        <p:txBody>
          <a:bodyPr wrap="square" lIns="0" tIns="0" rIns="0" bIns="0" rtlCol="0" anchor="ctr"/>
          <a:lstStyle/>
          <a:p>
            <a:pPr marL="342900" indent="-342900">
              <a:buFont typeface="Arial" panose="020B0604020202020204" pitchFamily="34" charset="0"/>
              <a:buChar char="•"/>
            </a:pPr>
            <a:r>
              <a:rPr lang="en-US" sz="2000" b="1" dirty="0">
                <a:solidFill>
                  <a:srgbClr val="0C1752"/>
                </a:solidFill>
                <a:latin typeface="Montserrat" panose="00000500000000000000" pitchFamily="2" charset="0"/>
                <a:ea typeface="Calibri" pitchFamily="34" charset="-122"/>
                <a:cs typeface="Calibri" pitchFamily="34" charset="-120"/>
              </a:rPr>
              <a:t>Direct local file access: </a:t>
            </a:r>
            <a:r>
              <a:rPr lang="en-US" sz="2000" dirty="0">
                <a:solidFill>
                  <a:srgbClr val="0C1752"/>
                </a:solidFill>
                <a:latin typeface="Montserrat" panose="00000500000000000000" pitchFamily="2" charset="0"/>
                <a:ea typeface="Calibri" pitchFamily="34" charset="-122"/>
                <a:cs typeface="Calibri" pitchFamily="34" charset="-120"/>
              </a:rPr>
              <a:t>reads and writes to your folders</a:t>
            </a:r>
          </a:p>
          <a:p>
            <a:pPr marL="342900" indent="-342900">
              <a:buFont typeface="Arial" panose="020B0604020202020204" pitchFamily="34" charset="0"/>
              <a:buChar char="•"/>
            </a:pPr>
            <a:r>
              <a:rPr lang="en-US" sz="2000" b="1" dirty="0">
                <a:solidFill>
                  <a:srgbClr val="0C1752"/>
                </a:solidFill>
                <a:latin typeface="Montserrat" panose="00000500000000000000" pitchFamily="2" charset="0"/>
                <a:ea typeface="Calibri" pitchFamily="34" charset="-122"/>
                <a:cs typeface="Calibri" pitchFamily="34" charset="-120"/>
              </a:rPr>
              <a:t>Sub-agent coordination: </a:t>
            </a:r>
            <a:r>
              <a:rPr lang="en-US" sz="2000" dirty="0">
                <a:solidFill>
                  <a:srgbClr val="0C1752"/>
                </a:solidFill>
                <a:latin typeface="Montserrat" panose="00000500000000000000" pitchFamily="2" charset="0"/>
                <a:ea typeface="Calibri" pitchFamily="34" charset="-122"/>
                <a:cs typeface="Calibri" pitchFamily="34" charset="-120"/>
              </a:rPr>
              <a:t>breaks complex work into parallel tasks</a:t>
            </a:r>
          </a:p>
          <a:p>
            <a:pPr marL="342900" indent="-342900">
              <a:buFont typeface="Arial" panose="020B0604020202020204" pitchFamily="34" charset="0"/>
              <a:buChar char="•"/>
            </a:pPr>
            <a:r>
              <a:rPr lang="en-US" sz="2000" b="1" dirty="0">
                <a:solidFill>
                  <a:srgbClr val="0C1752"/>
                </a:solidFill>
                <a:latin typeface="Montserrat" panose="00000500000000000000" pitchFamily="2" charset="0"/>
                <a:ea typeface="Calibri" pitchFamily="34" charset="-122"/>
                <a:cs typeface="Calibri" pitchFamily="34" charset="-120"/>
              </a:rPr>
              <a:t>Professional outputs: </a:t>
            </a:r>
            <a:r>
              <a:rPr lang="en-US" sz="2000" dirty="0">
                <a:solidFill>
                  <a:srgbClr val="0C1752"/>
                </a:solidFill>
                <a:latin typeface="Montserrat" panose="00000500000000000000" pitchFamily="2" charset="0"/>
                <a:ea typeface="Calibri" pitchFamily="34" charset="-122"/>
                <a:cs typeface="Calibri" pitchFamily="34" charset="-120"/>
              </a:rPr>
              <a:t>Excel, PowerPoint, Word, PDFs &amp; more</a:t>
            </a:r>
          </a:p>
          <a:p>
            <a:pPr marL="342900" indent="-342900">
              <a:buFont typeface="Arial" panose="020B0604020202020204" pitchFamily="34" charset="0"/>
              <a:buChar char="•"/>
            </a:pPr>
            <a:r>
              <a:rPr lang="en-US" sz="2000" b="1" dirty="0">
                <a:solidFill>
                  <a:srgbClr val="0C1752"/>
                </a:solidFill>
                <a:latin typeface="Montserrat" panose="00000500000000000000" pitchFamily="2" charset="0"/>
                <a:ea typeface="Calibri" pitchFamily="34" charset="-122"/>
                <a:cs typeface="Calibri" pitchFamily="34" charset="-120"/>
              </a:rPr>
              <a:t>Scheduled tasks: </a:t>
            </a:r>
            <a:r>
              <a:rPr lang="en-US" sz="2000" dirty="0">
                <a:solidFill>
                  <a:srgbClr val="0C1752"/>
                </a:solidFill>
                <a:latin typeface="Montserrat" panose="00000500000000000000" pitchFamily="2" charset="0"/>
                <a:ea typeface="Calibri" pitchFamily="34" charset="-122"/>
                <a:cs typeface="Calibri" pitchFamily="34" charset="-120"/>
              </a:rPr>
              <a:t>automate recurring work without manual prompts</a:t>
            </a:r>
            <a:endParaRPr lang="en-US" sz="2000" dirty="0">
              <a:solidFill>
                <a:srgbClr val="0C1752"/>
              </a:solidFill>
              <a:latin typeface="Montserrat" panose="00000500000000000000" pitchFamily="2" charset="0"/>
            </a:endParaRPr>
          </a:p>
          <a:p>
            <a:pPr marL="342900" indent="-342900">
              <a:buFont typeface="Arial" panose="020B0604020202020204" pitchFamily="34" charset="0"/>
              <a:buChar char="•"/>
            </a:pPr>
            <a:endParaRPr lang="en-US" sz="2000" dirty="0">
              <a:solidFill>
                <a:srgbClr val="0C1752"/>
              </a:solidFill>
              <a:latin typeface="Montserrat" panose="00000500000000000000" pitchFamily="2" charset="0"/>
            </a:endParaRPr>
          </a:p>
          <a:p>
            <a:pPr marL="342900" indent="-342900">
              <a:buFont typeface="Arial" panose="020B0604020202020204" pitchFamily="34" charset="0"/>
              <a:buChar char="•"/>
            </a:pPr>
            <a:endParaRPr lang="en-US" sz="2000" dirty="0">
              <a:solidFill>
                <a:srgbClr val="0C1752"/>
              </a:solidFill>
              <a:latin typeface="Montserrat" panose="00000500000000000000" pitchFamily="2" charset="0"/>
            </a:endParaRPr>
          </a:p>
          <a:p>
            <a:pPr marL="342900" indent="-342900">
              <a:buFont typeface="Arial" panose="020B0604020202020204" pitchFamily="34" charset="0"/>
              <a:buChar char="•"/>
            </a:pPr>
            <a:endParaRPr lang="en-US" sz="2000" dirty="0">
              <a:solidFill>
                <a:srgbClr val="0C1752"/>
              </a:solidFill>
              <a:latin typeface="Montserrat" panose="00000500000000000000" pitchFamily="2" charset="0"/>
            </a:endParaRPr>
          </a:p>
        </p:txBody>
      </p:sp>
      <p:sp>
        <p:nvSpPr>
          <p:cNvPr id="30" name="Text 20">
            <a:extLst>
              <a:ext uri="{FF2B5EF4-FFF2-40B4-BE49-F238E27FC236}">
                <a16:creationId xmlns:a16="http://schemas.microsoft.com/office/drawing/2014/main" id="{FAAEA4D2-3B60-35BE-2028-63420C334E92}"/>
              </a:ext>
            </a:extLst>
          </p:cNvPr>
          <p:cNvSpPr/>
          <p:nvPr/>
        </p:nvSpPr>
        <p:spPr>
          <a:xfrm>
            <a:off x="1234440" y="4727856"/>
            <a:ext cx="7315200" cy="310896"/>
          </a:xfrm>
          <a:prstGeom prst="rect">
            <a:avLst/>
          </a:prstGeom>
          <a:noFill/>
          <a:ln/>
        </p:spPr>
        <p:txBody>
          <a:bodyPr wrap="square" lIns="0" tIns="0" rIns="0" bIns="0" rtlCol="0" anchor="ctr"/>
          <a:lstStyle/>
          <a:p>
            <a:pPr marL="0" indent="0">
              <a:buNone/>
            </a:pPr>
            <a:endParaRPr lang="en-US" sz="2000" dirty="0"/>
          </a:p>
        </p:txBody>
      </p:sp>
      <p:sp>
        <p:nvSpPr>
          <p:cNvPr id="32" name="Text 21">
            <a:extLst>
              <a:ext uri="{FF2B5EF4-FFF2-40B4-BE49-F238E27FC236}">
                <a16:creationId xmlns:a16="http://schemas.microsoft.com/office/drawing/2014/main" id="{D17165A5-B1EC-A6E5-75F0-955DE5778252}"/>
              </a:ext>
            </a:extLst>
          </p:cNvPr>
          <p:cNvSpPr/>
          <p:nvPr/>
        </p:nvSpPr>
        <p:spPr>
          <a:xfrm>
            <a:off x="1234440" y="5075328"/>
            <a:ext cx="7315200" cy="310896"/>
          </a:xfrm>
          <a:prstGeom prst="rect">
            <a:avLst/>
          </a:prstGeom>
          <a:noFill/>
          <a:ln/>
        </p:spPr>
        <p:txBody>
          <a:bodyPr wrap="square" lIns="0" tIns="0" rIns="0" bIns="0" rtlCol="0" anchor="ctr"/>
          <a:lstStyle/>
          <a:p>
            <a:pPr marL="0" indent="0">
              <a:buNone/>
            </a:pPr>
            <a:endParaRPr lang="en-US" sz="2000" dirty="0"/>
          </a:p>
        </p:txBody>
      </p:sp>
      <p:sp>
        <p:nvSpPr>
          <p:cNvPr id="34" name="Text 22">
            <a:extLst>
              <a:ext uri="{FF2B5EF4-FFF2-40B4-BE49-F238E27FC236}">
                <a16:creationId xmlns:a16="http://schemas.microsoft.com/office/drawing/2014/main" id="{06C652D9-5C62-0F5D-6FDC-D99824D4095E}"/>
              </a:ext>
            </a:extLst>
          </p:cNvPr>
          <p:cNvSpPr/>
          <p:nvPr/>
        </p:nvSpPr>
        <p:spPr>
          <a:xfrm>
            <a:off x="1234440" y="5422800"/>
            <a:ext cx="7315200" cy="310896"/>
          </a:xfrm>
          <a:prstGeom prst="rect">
            <a:avLst/>
          </a:prstGeom>
          <a:noFill/>
          <a:ln/>
        </p:spPr>
        <p:txBody>
          <a:bodyPr wrap="square" lIns="0" tIns="0" rIns="0" bIns="0" rtlCol="0" anchor="ctr"/>
          <a:lstStyle/>
          <a:p>
            <a:pPr marL="0" indent="0">
              <a:buNone/>
            </a:pPr>
            <a:endParaRPr lang="en-US" sz="2000" dirty="0"/>
          </a:p>
        </p:txBody>
      </p:sp>
    </p:spTree>
    <p:extLst>
      <p:ext uri="{BB962C8B-B14F-4D97-AF65-F5344CB8AC3E}">
        <p14:creationId xmlns:p14="http://schemas.microsoft.com/office/powerpoint/2010/main" val="44367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A7FC5-FC4E-EDCB-6DD1-2EA1681859F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892E49-BAC1-3E06-7AE9-F45B725030DF}"/>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1CC9C9BD-0E9E-7660-0E12-690BC6EB0BA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B5B7900-B488-347C-E8F6-5AD3939A6FBB}"/>
              </a:ext>
            </a:extLst>
          </p:cNvPr>
          <p:cNvSpPr/>
          <p:nvPr/>
        </p:nvSpPr>
        <p:spPr>
          <a:xfrm>
            <a:off x="154722" y="90489"/>
            <a:ext cx="9827492" cy="461665"/>
          </a:xfrm>
          <a:prstGeom prst="rect">
            <a:avLst/>
          </a:prstGeom>
        </p:spPr>
        <p:txBody>
          <a:bodyPr wrap="square">
            <a:spAutoFit/>
          </a:bodyPr>
          <a:lstStyle/>
          <a:p>
            <a:r>
              <a:rPr lang="en-US" sz="2400" dirty="0" err="1">
                <a:solidFill>
                  <a:schemeClr val="bg1"/>
                </a:solidFill>
                <a:latin typeface="Montserrat" charset="0"/>
                <a:ea typeface="Montserrat" charset="0"/>
                <a:cs typeface="Montserrat" charset="0"/>
              </a:rPr>
              <a:t>Cowork</a:t>
            </a:r>
            <a:r>
              <a:rPr lang="en-US" sz="2400" dirty="0">
                <a:solidFill>
                  <a:schemeClr val="bg1"/>
                </a:solidFill>
                <a:latin typeface="Montserrat" charset="0"/>
                <a:ea typeface="Montserrat" charset="0"/>
                <a:cs typeface="Montserrat" charset="0"/>
              </a:rPr>
              <a:t> capabilities</a:t>
            </a:r>
          </a:p>
        </p:txBody>
      </p:sp>
      <p:sp>
        <p:nvSpPr>
          <p:cNvPr id="9" name="TextBox 8">
            <a:extLst>
              <a:ext uri="{FF2B5EF4-FFF2-40B4-BE49-F238E27FC236}">
                <a16:creationId xmlns:a16="http://schemas.microsoft.com/office/drawing/2014/main" id="{28495F31-778B-3015-7F3E-F032BEF0F65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1" name="Shape 2">
            <a:extLst>
              <a:ext uri="{FF2B5EF4-FFF2-40B4-BE49-F238E27FC236}">
                <a16:creationId xmlns:a16="http://schemas.microsoft.com/office/drawing/2014/main" id="{0CEDAEFC-C9C3-30CF-6EAE-76F16CC7654C}"/>
              </a:ext>
            </a:extLst>
          </p:cNvPr>
          <p:cNvSpPr/>
          <p:nvPr/>
        </p:nvSpPr>
        <p:spPr>
          <a:xfrm>
            <a:off x="1228003" y="1097280"/>
            <a:ext cx="2858222" cy="191109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29" name="Image 0" descr="preencoded.png">
            <a:extLst>
              <a:ext uri="{FF2B5EF4-FFF2-40B4-BE49-F238E27FC236}">
                <a16:creationId xmlns:a16="http://schemas.microsoft.com/office/drawing/2014/main" id="{1514331E-2608-88D5-F21D-DBB99FF942DB}"/>
              </a:ext>
            </a:extLst>
          </p:cNvPr>
          <p:cNvPicPr>
            <a:picLocks noChangeAspect="1"/>
          </p:cNvPicPr>
          <p:nvPr/>
        </p:nvPicPr>
        <p:blipFill>
          <a:blip r:embed="rId4"/>
          <a:stretch>
            <a:fillRect/>
          </a:stretch>
        </p:blipFill>
        <p:spPr>
          <a:xfrm>
            <a:off x="1456603" y="1280160"/>
            <a:ext cx="411480" cy="411480"/>
          </a:xfrm>
          <a:prstGeom prst="rect">
            <a:avLst/>
          </a:prstGeom>
        </p:spPr>
      </p:pic>
      <p:sp>
        <p:nvSpPr>
          <p:cNvPr id="31" name="Text 4">
            <a:extLst>
              <a:ext uri="{FF2B5EF4-FFF2-40B4-BE49-F238E27FC236}">
                <a16:creationId xmlns:a16="http://schemas.microsoft.com/office/drawing/2014/main" id="{6F54096C-438E-66D0-E07D-63A85AF85039}"/>
              </a:ext>
            </a:extLst>
          </p:cNvPr>
          <p:cNvSpPr/>
          <p:nvPr/>
        </p:nvSpPr>
        <p:spPr>
          <a:xfrm>
            <a:off x="1410882" y="1841754"/>
            <a:ext cx="2394183" cy="320040"/>
          </a:xfrm>
          <a:prstGeom prst="rect">
            <a:avLst/>
          </a:prstGeom>
          <a:noFill/>
          <a:ln/>
        </p:spPr>
        <p:txBody>
          <a:bodyPr wrap="square" lIns="0" tIns="0" rIns="0" bIns="0" rtlCol="0" anchor="ctr"/>
          <a:lstStyle/>
          <a:p>
            <a:pPr marL="0" indent="0">
              <a:buNone/>
            </a:pPr>
            <a:r>
              <a:rPr lang="en-US" b="1" dirty="0">
                <a:solidFill>
                  <a:srgbClr val="0F172A"/>
                </a:solidFill>
                <a:latin typeface="Montserrat" panose="00000500000000000000" pitchFamily="2" charset="0"/>
                <a:ea typeface="Trebuchet MS" pitchFamily="34" charset="-122"/>
                <a:cs typeface="Trebuchet MS" pitchFamily="34" charset="-120"/>
              </a:rPr>
              <a:t>Document Creation</a:t>
            </a:r>
            <a:endParaRPr lang="en-US" dirty="0">
              <a:latin typeface="Montserrat" panose="00000500000000000000" pitchFamily="2" charset="0"/>
            </a:endParaRPr>
          </a:p>
        </p:txBody>
      </p:sp>
      <p:sp>
        <p:nvSpPr>
          <p:cNvPr id="33" name="Text 5">
            <a:extLst>
              <a:ext uri="{FF2B5EF4-FFF2-40B4-BE49-F238E27FC236}">
                <a16:creationId xmlns:a16="http://schemas.microsoft.com/office/drawing/2014/main" id="{5AD8EA70-9C59-48AD-2C9D-65BFA31F626F}"/>
              </a:ext>
            </a:extLst>
          </p:cNvPr>
          <p:cNvSpPr/>
          <p:nvPr/>
        </p:nvSpPr>
        <p:spPr>
          <a:xfrm>
            <a:off x="1410883" y="2286000"/>
            <a:ext cx="2601887"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Word docs, spreadsheets, presentations, PDFs with professional formatting</a:t>
            </a:r>
            <a:endParaRPr lang="en-US" sz="1400" dirty="0">
              <a:latin typeface="Montserrat" panose="00000500000000000000" pitchFamily="2" charset="0"/>
            </a:endParaRPr>
          </a:p>
        </p:txBody>
      </p:sp>
      <p:sp>
        <p:nvSpPr>
          <p:cNvPr id="35" name="Shape 6">
            <a:extLst>
              <a:ext uri="{FF2B5EF4-FFF2-40B4-BE49-F238E27FC236}">
                <a16:creationId xmlns:a16="http://schemas.microsoft.com/office/drawing/2014/main" id="{40F69CDA-8931-CC45-5504-5465D0ADE545}"/>
              </a:ext>
            </a:extLst>
          </p:cNvPr>
          <p:cNvSpPr/>
          <p:nvPr/>
        </p:nvSpPr>
        <p:spPr>
          <a:xfrm>
            <a:off x="4666123" y="1097280"/>
            <a:ext cx="3192778" cy="191109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37" name="Image 1" descr="preencoded.png">
            <a:extLst>
              <a:ext uri="{FF2B5EF4-FFF2-40B4-BE49-F238E27FC236}">
                <a16:creationId xmlns:a16="http://schemas.microsoft.com/office/drawing/2014/main" id="{34535DB0-4294-ACBB-6209-32EC22F0FCC9}"/>
              </a:ext>
            </a:extLst>
          </p:cNvPr>
          <p:cNvPicPr>
            <a:picLocks noChangeAspect="1"/>
          </p:cNvPicPr>
          <p:nvPr/>
        </p:nvPicPr>
        <p:blipFill>
          <a:blip r:embed="rId5"/>
          <a:stretch>
            <a:fillRect/>
          </a:stretch>
        </p:blipFill>
        <p:spPr>
          <a:xfrm>
            <a:off x="4894724" y="1280160"/>
            <a:ext cx="411480" cy="411480"/>
          </a:xfrm>
          <a:prstGeom prst="rect">
            <a:avLst/>
          </a:prstGeom>
        </p:spPr>
      </p:pic>
      <p:sp>
        <p:nvSpPr>
          <p:cNvPr id="38" name="Text 8">
            <a:extLst>
              <a:ext uri="{FF2B5EF4-FFF2-40B4-BE49-F238E27FC236}">
                <a16:creationId xmlns:a16="http://schemas.microsoft.com/office/drawing/2014/main" id="{8E3E6E86-0A29-16C1-21C0-6847705CBDAE}"/>
              </a:ext>
            </a:extLst>
          </p:cNvPr>
          <p:cNvSpPr/>
          <p:nvPr/>
        </p:nvSpPr>
        <p:spPr>
          <a:xfrm>
            <a:off x="4849004" y="1755648"/>
            <a:ext cx="2148840" cy="320040"/>
          </a:xfrm>
          <a:prstGeom prst="rect">
            <a:avLst/>
          </a:prstGeom>
          <a:noFill/>
          <a:ln/>
        </p:spPr>
        <p:txBody>
          <a:bodyPr wrap="square" lIns="0" tIns="0" rIns="0" bIns="0" rtlCol="0" anchor="ctr"/>
          <a:lstStyle/>
          <a:p>
            <a:pPr marL="0" indent="0">
              <a:buNone/>
            </a:pPr>
            <a:r>
              <a:rPr lang="en-US" b="1" dirty="0">
                <a:solidFill>
                  <a:srgbClr val="0F172A"/>
                </a:solidFill>
                <a:latin typeface="Montserrat" panose="00000500000000000000" pitchFamily="2" charset="0"/>
                <a:ea typeface="Trebuchet MS" pitchFamily="34" charset="-122"/>
                <a:cs typeface="Trebuchet MS" pitchFamily="34" charset="-120"/>
              </a:rPr>
              <a:t>Data Analysis</a:t>
            </a:r>
            <a:endParaRPr lang="en-US" dirty="0">
              <a:latin typeface="Montserrat" panose="00000500000000000000" pitchFamily="2" charset="0"/>
            </a:endParaRPr>
          </a:p>
        </p:txBody>
      </p:sp>
      <p:sp>
        <p:nvSpPr>
          <p:cNvPr id="39" name="Text 9">
            <a:extLst>
              <a:ext uri="{FF2B5EF4-FFF2-40B4-BE49-F238E27FC236}">
                <a16:creationId xmlns:a16="http://schemas.microsoft.com/office/drawing/2014/main" id="{2784D1F1-5A38-7728-70CF-D9F5009A0AE3}"/>
              </a:ext>
            </a:extLst>
          </p:cNvPr>
          <p:cNvSpPr/>
          <p:nvPr/>
        </p:nvSpPr>
        <p:spPr>
          <a:xfrm>
            <a:off x="4819199" y="2231136"/>
            <a:ext cx="3016480"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Statistical analysis, visualization, data cleaning &amp; transformation</a:t>
            </a:r>
            <a:endParaRPr lang="en-US" sz="1400" dirty="0">
              <a:latin typeface="Montserrat" panose="00000500000000000000" pitchFamily="2" charset="0"/>
            </a:endParaRPr>
          </a:p>
        </p:txBody>
      </p:sp>
      <p:sp>
        <p:nvSpPr>
          <p:cNvPr id="40" name="Shape 10">
            <a:extLst>
              <a:ext uri="{FF2B5EF4-FFF2-40B4-BE49-F238E27FC236}">
                <a16:creationId xmlns:a16="http://schemas.microsoft.com/office/drawing/2014/main" id="{59A00049-2B98-DEEC-83AC-BC2D3DF2BD74}"/>
              </a:ext>
            </a:extLst>
          </p:cNvPr>
          <p:cNvSpPr/>
          <p:nvPr/>
        </p:nvSpPr>
        <p:spPr>
          <a:xfrm>
            <a:off x="8385403" y="1097280"/>
            <a:ext cx="2984098" cy="1892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42" name="Image 2" descr="preencoded.png">
            <a:extLst>
              <a:ext uri="{FF2B5EF4-FFF2-40B4-BE49-F238E27FC236}">
                <a16:creationId xmlns:a16="http://schemas.microsoft.com/office/drawing/2014/main" id="{56F23686-A9D4-1D48-6313-F1AC13667FFC}"/>
              </a:ext>
            </a:extLst>
          </p:cNvPr>
          <p:cNvPicPr>
            <a:picLocks noChangeAspect="1"/>
          </p:cNvPicPr>
          <p:nvPr/>
        </p:nvPicPr>
        <p:blipFill>
          <a:blip r:embed="rId6"/>
          <a:stretch>
            <a:fillRect/>
          </a:stretch>
        </p:blipFill>
        <p:spPr>
          <a:xfrm>
            <a:off x="8614003" y="1280160"/>
            <a:ext cx="411480" cy="411480"/>
          </a:xfrm>
          <a:prstGeom prst="rect">
            <a:avLst/>
          </a:prstGeom>
        </p:spPr>
      </p:pic>
      <p:sp>
        <p:nvSpPr>
          <p:cNvPr id="43" name="Text 12">
            <a:extLst>
              <a:ext uri="{FF2B5EF4-FFF2-40B4-BE49-F238E27FC236}">
                <a16:creationId xmlns:a16="http://schemas.microsoft.com/office/drawing/2014/main" id="{EB839148-BDA2-8756-3EF1-5F0E17F31F4D}"/>
              </a:ext>
            </a:extLst>
          </p:cNvPr>
          <p:cNvSpPr/>
          <p:nvPr/>
        </p:nvSpPr>
        <p:spPr>
          <a:xfrm>
            <a:off x="8568283" y="1755648"/>
            <a:ext cx="2604542" cy="320040"/>
          </a:xfrm>
          <a:prstGeom prst="rect">
            <a:avLst/>
          </a:prstGeom>
          <a:noFill/>
          <a:ln/>
        </p:spPr>
        <p:txBody>
          <a:bodyPr wrap="square" lIns="0" tIns="0" rIns="0" bIns="0" rtlCol="0" anchor="ctr"/>
          <a:lstStyle/>
          <a:p>
            <a:pPr marL="0" indent="0">
              <a:buNone/>
            </a:pPr>
            <a:r>
              <a:rPr lang="en-US" b="1" dirty="0">
                <a:solidFill>
                  <a:srgbClr val="0F172A"/>
                </a:solidFill>
                <a:latin typeface="Montserrat" panose="00000500000000000000" pitchFamily="2" charset="0"/>
                <a:ea typeface="Trebuchet MS" pitchFamily="34" charset="-122"/>
                <a:cs typeface="Trebuchet MS" pitchFamily="34" charset="-120"/>
              </a:rPr>
              <a:t>Research &amp; Synthesis</a:t>
            </a:r>
            <a:endParaRPr lang="en-US" dirty="0">
              <a:latin typeface="Montserrat" panose="00000500000000000000" pitchFamily="2" charset="0"/>
            </a:endParaRPr>
          </a:p>
        </p:txBody>
      </p:sp>
      <p:sp>
        <p:nvSpPr>
          <p:cNvPr id="44" name="Text 13">
            <a:extLst>
              <a:ext uri="{FF2B5EF4-FFF2-40B4-BE49-F238E27FC236}">
                <a16:creationId xmlns:a16="http://schemas.microsoft.com/office/drawing/2014/main" id="{D8EB72F9-C1BE-3F35-48DC-3D6E30D5E0AF}"/>
              </a:ext>
            </a:extLst>
          </p:cNvPr>
          <p:cNvSpPr/>
          <p:nvPr/>
        </p:nvSpPr>
        <p:spPr>
          <a:xfrm>
            <a:off x="8530183" y="2238375"/>
            <a:ext cx="2680742"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Web research, transcript analysis, multi-source information gathering</a:t>
            </a:r>
            <a:endParaRPr lang="en-US" sz="1400" dirty="0">
              <a:latin typeface="Montserrat" panose="00000500000000000000" pitchFamily="2" charset="0"/>
            </a:endParaRPr>
          </a:p>
        </p:txBody>
      </p:sp>
      <p:sp>
        <p:nvSpPr>
          <p:cNvPr id="45" name="Shape 14">
            <a:extLst>
              <a:ext uri="{FF2B5EF4-FFF2-40B4-BE49-F238E27FC236}">
                <a16:creationId xmlns:a16="http://schemas.microsoft.com/office/drawing/2014/main" id="{194E4C47-35F6-DACA-A998-ED8B2C1444AA}"/>
              </a:ext>
            </a:extLst>
          </p:cNvPr>
          <p:cNvSpPr/>
          <p:nvPr/>
        </p:nvSpPr>
        <p:spPr>
          <a:xfrm>
            <a:off x="1288371" y="3493008"/>
            <a:ext cx="2797853" cy="175564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latin typeface="Montserrat" panose="00000500000000000000" pitchFamily="2" charset="0"/>
            </a:endParaRPr>
          </a:p>
        </p:txBody>
      </p:sp>
      <p:pic>
        <p:nvPicPr>
          <p:cNvPr id="47" name="Image 3" descr="preencoded.png">
            <a:extLst>
              <a:ext uri="{FF2B5EF4-FFF2-40B4-BE49-F238E27FC236}">
                <a16:creationId xmlns:a16="http://schemas.microsoft.com/office/drawing/2014/main" id="{883EA0A2-8F42-0C92-A7FF-21B074F419D1}"/>
              </a:ext>
            </a:extLst>
          </p:cNvPr>
          <p:cNvPicPr>
            <a:picLocks noChangeAspect="1"/>
          </p:cNvPicPr>
          <p:nvPr/>
        </p:nvPicPr>
        <p:blipFill>
          <a:blip r:embed="rId7"/>
          <a:stretch>
            <a:fillRect/>
          </a:stretch>
        </p:blipFill>
        <p:spPr>
          <a:xfrm>
            <a:off x="1516972" y="3675888"/>
            <a:ext cx="411480" cy="411480"/>
          </a:xfrm>
          <a:prstGeom prst="rect">
            <a:avLst/>
          </a:prstGeom>
        </p:spPr>
      </p:pic>
      <p:sp>
        <p:nvSpPr>
          <p:cNvPr id="48" name="Text 16">
            <a:extLst>
              <a:ext uri="{FF2B5EF4-FFF2-40B4-BE49-F238E27FC236}">
                <a16:creationId xmlns:a16="http://schemas.microsoft.com/office/drawing/2014/main" id="{6EA723A8-E65D-BD50-D87F-2A7804E21DA7}"/>
              </a:ext>
            </a:extLst>
          </p:cNvPr>
          <p:cNvSpPr/>
          <p:nvPr/>
        </p:nvSpPr>
        <p:spPr>
          <a:xfrm>
            <a:off x="1471252" y="4151376"/>
            <a:ext cx="2148840" cy="320040"/>
          </a:xfrm>
          <a:prstGeom prst="rect">
            <a:avLst/>
          </a:prstGeom>
          <a:noFill/>
          <a:ln/>
        </p:spPr>
        <p:txBody>
          <a:bodyPr wrap="square" lIns="0" tIns="0" rIns="0" bIns="0" rtlCol="0" anchor="ctr"/>
          <a:lstStyle/>
          <a:p>
            <a:pPr marL="0" indent="0">
              <a:buNone/>
            </a:pPr>
            <a:r>
              <a:rPr lang="en-US" b="1" dirty="0">
                <a:solidFill>
                  <a:srgbClr val="0F172A"/>
                </a:solidFill>
                <a:latin typeface="Montserrat" panose="00000500000000000000" pitchFamily="2" charset="0"/>
                <a:ea typeface="Trebuchet MS" pitchFamily="34" charset="-122"/>
                <a:cs typeface="Trebuchet MS" pitchFamily="34" charset="-120"/>
              </a:rPr>
              <a:t>File Management</a:t>
            </a:r>
            <a:endParaRPr lang="en-US" dirty="0">
              <a:latin typeface="Montserrat" panose="00000500000000000000" pitchFamily="2" charset="0"/>
            </a:endParaRPr>
          </a:p>
        </p:txBody>
      </p:sp>
      <p:sp>
        <p:nvSpPr>
          <p:cNvPr id="49" name="Text 17">
            <a:extLst>
              <a:ext uri="{FF2B5EF4-FFF2-40B4-BE49-F238E27FC236}">
                <a16:creationId xmlns:a16="http://schemas.microsoft.com/office/drawing/2014/main" id="{6E1299D6-8129-6AA4-386B-3D83AB5B1BBB}"/>
              </a:ext>
            </a:extLst>
          </p:cNvPr>
          <p:cNvSpPr/>
          <p:nvPr/>
        </p:nvSpPr>
        <p:spPr>
          <a:xfrm>
            <a:off x="1471251" y="4547235"/>
            <a:ext cx="2588472"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Organize folders, batch rename, process receipts, sort files</a:t>
            </a:r>
            <a:endParaRPr lang="en-US" sz="1400" dirty="0">
              <a:latin typeface="Montserrat" panose="00000500000000000000" pitchFamily="2" charset="0"/>
            </a:endParaRPr>
          </a:p>
        </p:txBody>
      </p:sp>
      <p:sp>
        <p:nvSpPr>
          <p:cNvPr id="50" name="Shape 18">
            <a:extLst>
              <a:ext uri="{FF2B5EF4-FFF2-40B4-BE49-F238E27FC236}">
                <a16:creationId xmlns:a16="http://schemas.microsoft.com/office/drawing/2014/main" id="{5757AD12-29A2-AA27-75FC-25883DE4EF70}"/>
              </a:ext>
            </a:extLst>
          </p:cNvPr>
          <p:cNvSpPr/>
          <p:nvPr/>
        </p:nvSpPr>
        <p:spPr>
          <a:xfrm>
            <a:off x="4712101" y="3466337"/>
            <a:ext cx="3121978" cy="1755647"/>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latin typeface="Montserrat" panose="00000500000000000000" pitchFamily="2" charset="0"/>
            </a:endParaRPr>
          </a:p>
        </p:txBody>
      </p:sp>
      <p:pic>
        <p:nvPicPr>
          <p:cNvPr id="52" name="Image 4" descr="preencoded.png">
            <a:extLst>
              <a:ext uri="{FF2B5EF4-FFF2-40B4-BE49-F238E27FC236}">
                <a16:creationId xmlns:a16="http://schemas.microsoft.com/office/drawing/2014/main" id="{4B11744E-BDC4-E5BE-DD32-A9AC705E89EC}"/>
              </a:ext>
            </a:extLst>
          </p:cNvPr>
          <p:cNvPicPr>
            <a:picLocks noChangeAspect="1"/>
          </p:cNvPicPr>
          <p:nvPr/>
        </p:nvPicPr>
        <p:blipFill>
          <a:blip r:embed="rId8"/>
          <a:stretch>
            <a:fillRect/>
          </a:stretch>
        </p:blipFill>
        <p:spPr>
          <a:xfrm>
            <a:off x="4940701" y="3649218"/>
            <a:ext cx="411480" cy="411480"/>
          </a:xfrm>
          <a:prstGeom prst="rect">
            <a:avLst/>
          </a:prstGeom>
        </p:spPr>
      </p:pic>
      <p:sp>
        <p:nvSpPr>
          <p:cNvPr id="53" name="Text 20">
            <a:extLst>
              <a:ext uri="{FF2B5EF4-FFF2-40B4-BE49-F238E27FC236}">
                <a16:creationId xmlns:a16="http://schemas.microsoft.com/office/drawing/2014/main" id="{FC5D41C3-261E-BFDC-994A-91CD29008306}"/>
              </a:ext>
            </a:extLst>
          </p:cNvPr>
          <p:cNvSpPr/>
          <p:nvPr/>
        </p:nvSpPr>
        <p:spPr>
          <a:xfrm>
            <a:off x="4894980" y="4124706"/>
            <a:ext cx="2591669" cy="320040"/>
          </a:xfrm>
          <a:prstGeom prst="rect">
            <a:avLst/>
          </a:prstGeom>
          <a:noFill/>
          <a:ln/>
        </p:spPr>
        <p:txBody>
          <a:bodyPr wrap="square" lIns="0" tIns="0" rIns="0" bIns="0" rtlCol="0" anchor="ctr"/>
          <a:lstStyle/>
          <a:p>
            <a:pPr marL="0" indent="0">
              <a:buNone/>
            </a:pPr>
            <a:r>
              <a:rPr lang="en-US" b="1" dirty="0">
                <a:solidFill>
                  <a:srgbClr val="0F172A"/>
                </a:solidFill>
                <a:latin typeface="Montserrat" panose="00000500000000000000" pitchFamily="2" charset="0"/>
                <a:ea typeface="Trebuchet MS" pitchFamily="34" charset="-122"/>
                <a:cs typeface="Trebuchet MS" pitchFamily="34" charset="-120"/>
              </a:rPr>
              <a:t>Code &amp; Automation</a:t>
            </a:r>
            <a:endParaRPr lang="en-US" dirty="0">
              <a:latin typeface="Montserrat" panose="00000500000000000000" pitchFamily="2" charset="0"/>
            </a:endParaRPr>
          </a:p>
        </p:txBody>
      </p:sp>
      <p:sp>
        <p:nvSpPr>
          <p:cNvPr id="54" name="Text 21">
            <a:extLst>
              <a:ext uri="{FF2B5EF4-FFF2-40B4-BE49-F238E27FC236}">
                <a16:creationId xmlns:a16="http://schemas.microsoft.com/office/drawing/2014/main" id="{B2DA2BFA-EF2F-2D82-8CDA-E5C339C58CEC}"/>
              </a:ext>
            </a:extLst>
          </p:cNvPr>
          <p:cNvSpPr/>
          <p:nvPr/>
        </p:nvSpPr>
        <p:spPr>
          <a:xfrm>
            <a:off x="4894981" y="4426458"/>
            <a:ext cx="2780452"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Write scripts, build tools, automate repetitive workflows</a:t>
            </a:r>
            <a:endParaRPr lang="en-US" sz="1400" dirty="0">
              <a:latin typeface="Montserrat" panose="00000500000000000000" pitchFamily="2" charset="0"/>
            </a:endParaRPr>
          </a:p>
        </p:txBody>
      </p:sp>
      <p:sp>
        <p:nvSpPr>
          <p:cNvPr id="55" name="Shape 22">
            <a:extLst>
              <a:ext uri="{FF2B5EF4-FFF2-40B4-BE49-F238E27FC236}">
                <a16:creationId xmlns:a16="http://schemas.microsoft.com/office/drawing/2014/main" id="{EFB2707B-620A-4F1C-AE14-B97AE4C9F796}"/>
              </a:ext>
            </a:extLst>
          </p:cNvPr>
          <p:cNvSpPr/>
          <p:nvPr/>
        </p:nvSpPr>
        <p:spPr>
          <a:xfrm>
            <a:off x="8369700" y="3429000"/>
            <a:ext cx="3121978" cy="17556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57" name="Image 5" descr="preencoded.png">
            <a:extLst>
              <a:ext uri="{FF2B5EF4-FFF2-40B4-BE49-F238E27FC236}">
                <a16:creationId xmlns:a16="http://schemas.microsoft.com/office/drawing/2014/main" id="{179BD3B9-33F8-DDA1-3BF1-40494F253108}"/>
              </a:ext>
            </a:extLst>
          </p:cNvPr>
          <p:cNvPicPr>
            <a:picLocks noChangeAspect="1"/>
          </p:cNvPicPr>
          <p:nvPr/>
        </p:nvPicPr>
        <p:blipFill>
          <a:blip r:embed="rId9"/>
          <a:stretch>
            <a:fillRect/>
          </a:stretch>
        </p:blipFill>
        <p:spPr>
          <a:xfrm>
            <a:off x="8598301" y="3611880"/>
            <a:ext cx="411480" cy="411480"/>
          </a:xfrm>
          <a:prstGeom prst="rect">
            <a:avLst/>
          </a:prstGeom>
        </p:spPr>
      </p:pic>
      <p:sp>
        <p:nvSpPr>
          <p:cNvPr id="58" name="Text 24">
            <a:extLst>
              <a:ext uri="{FF2B5EF4-FFF2-40B4-BE49-F238E27FC236}">
                <a16:creationId xmlns:a16="http://schemas.microsoft.com/office/drawing/2014/main" id="{726D737D-8487-49E0-28B4-5BD5E3D740A5}"/>
              </a:ext>
            </a:extLst>
          </p:cNvPr>
          <p:cNvSpPr/>
          <p:nvPr/>
        </p:nvSpPr>
        <p:spPr>
          <a:xfrm>
            <a:off x="8552581" y="4087368"/>
            <a:ext cx="2148840" cy="320040"/>
          </a:xfrm>
          <a:prstGeom prst="rect">
            <a:avLst/>
          </a:prstGeom>
          <a:noFill/>
          <a:ln/>
        </p:spPr>
        <p:txBody>
          <a:bodyPr wrap="square" lIns="0" tIns="0" rIns="0" bIns="0" rtlCol="0" anchor="ctr"/>
          <a:lstStyle/>
          <a:p>
            <a:pPr marL="0" indent="0">
              <a:buNone/>
            </a:pPr>
            <a:r>
              <a:rPr lang="en-US" b="1" dirty="0">
                <a:solidFill>
                  <a:srgbClr val="0F172A"/>
                </a:solidFill>
                <a:latin typeface="Montserrat" panose="00000500000000000000" pitchFamily="2" charset="0"/>
                <a:ea typeface="Trebuchet MS" pitchFamily="34" charset="-122"/>
                <a:cs typeface="Trebuchet MS" pitchFamily="34" charset="-120"/>
              </a:rPr>
              <a:t>Scheduled Tasks</a:t>
            </a:r>
            <a:endParaRPr lang="en-US" dirty="0">
              <a:latin typeface="Montserrat" panose="00000500000000000000" pitchFamily="2" charset="0"/>
            </a:endParaRPr>
          </a:p>
        </p:txBody>
      </p:sp>
      <p:sp>
        <p:nvSpPr>
          <p:cNvPr id="59" name="Text 25">
            <a:extLst>
              <a:ext uri="{FF2B5EF4-FFF2-40B4-BE49-F238E27FC236}">
                <a16:creationId xmlns:a16="http://schemas.microsoft.com/office/drawing/2014/main" id="{EA54B3F3-1A5F-339F-A7F6-80C3427D2650}"/>
              </a:ext>
            </a:extLst>
          </p:cNvPr>
          <p:cNvSpPr/>
          <p:nvPr/>
        </p:nvSpPr>
        <p:spPr>
          <a:xfrm>
            <a:off x="8552580" y="4389120"/>
            <a:ext cx="2964587"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Create recurring automated tasks that run on a set schedule</a:t>
            </a:r>
            <a:endParaRPr lang="en-US" sz="1400" dirty="0">
              <a:latin typeface="Montserrat" panose="00000500000000000000" pitchFamily="2" charset="0"/>
            </a:endParaRPr>
          </a:p>
        </p:txBody>
      </p:sp>
      <p:pic>
        <p:nvPicPr>
          <p:cNvPr id="61" name="Image 6" descr="preencoded.png">
            <a:extLst>
              <a:ext uri="{FF2B5EF4-FFF2-40B4-BE49-F238E27FC236}">
                <a16:creationId xmlns:a16="http://schemas.microsoft.com/office/drawing/2014/main" id="{F6953E5E-348D-D8E5-6AE4-7AA0321703E0}"/>
              </a:ext>
            </a:extLst>
          </p:cNvPr>
          <p:cNvPicPr>
            <a:picLocks noChangeAspect="1"/>
          </p:cNvPicPr>
          <p:nvPr/>
        </p:nvPicPr>
        <p:blipFill>
          <a:blip r:embed="rId10">
            <a:duotone>
              <a:schemeClr val="bg2">
                <a:shade val="45000"/>
                <a:satMod val="135000"/>
              </a:schemeClr>
              <a:prstClr val="white"/>
            </a:duotone>
          </a:blip>
          <a:stretch>
            <a:fillRect/>
          </a:stretch>
        </p:blipFill>
        <p:spPr>
          <a:xfrm>
            <a:off x="1410882" y="5565267"/>
            <a:ext cx="619125" cy="619125"/>
          </a:xfrm>
          <a:prstGeom prst="rect">
            <a:avLst/>
          </a:prstGeom>
        </p:spPr>
      </p:pic>
      <p:sp>
        <p:nvSpPr>
          <p:cNvPr id="62" name="Text 27">
            <a:extLst>
              <a:ext uri="{FF2B5EF4-FFF2-40B4-BE49-F238E27FC236}">
                <a16:creationId xmlns:a16="http://schemas.microsoft.com/office/drawing/2014/main" id="{83C59AFC-AC81-461A-C566-E75363180D1F}"/>
              </a:ext>
            </a:extLst>
          </p:cNvPr>
          <p:cNvSpPr/>
          <p:nvPr/>
        </p:nvSpPr>
        <p:spPr>
          <a:xfrm>
            <a:off x="2103119" y="5650992"/>
            <a:ext cx="8422005" cy="502920"/>
          </a:xfrm>
          <a:prstGeom prst="rect">
            <a:avLst/>
          </a:prstGeom>
          <a:noFill/>
          <a:ln/>
        </p:spPr>
        <p:txBody>
          <a:bodyPr wrap="square" lIns="0" tIns="0" rIns="0" bIns="0" rtlCol="0" anchor="ctr"/>
          <a:lstStyle/>
          <a:p>
            <a:pPr marL="0" indent="0">
              <a:buNone/>
            </a:pPr>
            <a:r>
              <a:rPr lang="en-US" dirty="0">
                <a:solidFill>
                  <a:srgbClr val="0C1752"/>
                </a:solidFill>
                <a:latin typeface="Montserrat" panose="00000500000000000000" pitchFamily="2" charset="0"/>
                <a:ea typeface="Calibri" pitchFamily="34" charset="-122"/>
                <a:cs typeface="Calibri" pitchFamily="34" charset="-120"/>
              </a:rPr>
              <a:t>Cowork uses more tokens than standard chat; think of it as Claude doing deep work, not quick answers.</a:t>
            </a:r>
            <a:endParaRPr lang="en-US" dirty="0">
              <a:solidFill>
                <a:srgbClr val="0C1752"/>
              </a:solidFill>
              <a:latin typeface="Montserrat" panose="00000500000000000000" pitchFamily="2" charset="0"/>
            </a:endParaRPr>
          </a:p>
        </p:txBody>
      </p:sp>
    </p:spTree>
    <p:extLst>
      <p:ext uri="{BB962C8B-B14F-4D97-AF65-F5344CB8AC3E}">
        <p14:creationId xmlns:p14="http://schemas.microsoft.com/office/powerpoint/2010/main" val="234644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0" presetClass="entr" presetSubtype="0" fill="hold"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500"/>
                                        <p:tgtEl>
                                          <p:spTgt spid="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500"/>
                                        <p:tgtEl>
                                          <p:spTgt spid="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500"/>
                                        <p:tgtEl>
                                          <p:spTgt spid="4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fade">
                                      <p:cBhvr>
                                        <p:cTn id="49" dur="500"/>
                                        <p:tgtEl>
                                          <p:spTgt spid="45"/>
                                        </p:tgtEl>
                                      </p:cBhvr>
                                    </p:animEffect>
                                  </p:childTnLst>
                                </p:cTn>
                              </p:par>
                              <p:par>
                                <p:cTn id="50" presetID="10" presetClass="entr" presetSubtype="0" fill="hold"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fade">
                                      <p:cBhvr>
                                        <p:cTn id="63" dur="500"/>
                                        <p:tgtEl>
                                          <p:spTgt spid="50"/>
                                        </p:tgtEl>
                                      </p:cBhvr>
                                    </p:animEffect>
                                  </p:childTnLst>
                                </p:cTn>
                              </p:par>
                              <p:par>
                                <p:cTn id="64" presetID="10" presetClass="entr" presetSubtype="0" fill="hold" nodeType="withEffect">
                                  <p:stCondLst>
                                    <p:cond delay="0"/>
                                  </p:stCondLst>
                                  <p:childTnLst>
                                    <p:set>
                                      <p:cBhvr>
                                        <p:cTn id="65" dur="1" fill="hold">
                                          <p:stCondLst>
                                            <p:cond delay="0"/>
                                          </p:stCondLst>
                                        </p:cTn>
                                        <p:tgtEl>
                                          <p:spTgt spid="52"/>
                                        </p:tgtEl>
                                        <p:attrNameLst>
                                          <p:attrName>style.visibility</p:attrName>
                                        </p:attrNameLst>
                                      </p:cBhvr>
                                      <p:to>
                                        <p:strVal val="visible"/>
                                      </p:to>
                                    </p:set>
                                    <p:animEffect transition="in" filter="fade">
                                      <p:cBhvr>
                                        <p:cTn id="66" dur="500"/>
                                        <p:tgtEl>
                                          <p:spTgt spid="5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animEffect transition="in" filter="fade">
                                      <p:cBhvr>
                                        <p:cTn id="69" dur="500"/>
                                        <p:tgtEl>
                                          <p:spTgt spid="5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4"/>
                                        </p:tgtEl>
                                        <p:attrNameLst>
                                          <p:attrName>style.visibility</p:attrName>
                                        </p:attrNameLst>
                                      </p:cBhvr>
                                      <p:to>
                                        <p:strVal val="visible"/>
                                      </p:to>
                                    </p:set>
                                    <p:animEffect transition="in" filter="fade">
                                      <p:cBhvr>
                                        <p:cTn id="72" dur="500"/>
                                        <p:tgtEl>
                                          <p:spTgt spid="5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5"/>
                                        </p:tgtEl>
                                        <p:attrNameLst>
                                          <p:attrName>style.visibility</p:attrName>
                                        </p:attrNameLst>
                                      </p:cBhvr>
                                      <p:to>
                                        <p:strVal val="visible"/>
                                      </p:to>
                                    </p:set>
                                    <p:animEffect transition="in" filter="fade">
                                      <p:cBhvr>
                                        <p:cTn id="77" dur="500"/>
                                        <p:tgtEl>
                                          <p:spTgt spid="55"/>
                                        </p:tgtEl>
                                      </p:cBhvr>
                                    </p:animEffect>
                                  </p:childTnLst>
                                </p:cTn>
                              </p:par>
                              <p:par>
                                <p:cTn id="78" presetID="10" presetClass="entr" presetSubtype="0" fill="hold" nodeType="with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fade">
                                      <p:cBhvr>
                                        <p:cTn id="80" dur="500"/>
                                        <p:tgtEl>
                                          <p:spTgt spid="5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8"/>
                                        </p:tgtEl>
                                        <p:attrNameLst>
                                          <p:attrName>style.visibility</p:attrName>
                                        </p:attrNameLst>
                                      </p:cBhvr>
                                      <p:to>
                                        <p:strVal val="visible"/>
                                      </p:to>
                                    </p:set>
                                    <p:animEffect transition="in" filter="fade">
                                      <p:cBhvr>
                                        <p:cTn id="83" dur="500"/>
                                        <p:tgtEl>
                                          <p:spTgt spid="5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9"/>
                                        </p:tgtEl>
                                        <p:attrNameLst>
                                          <p:attrName>style.visibility</p:attrName>
                                        </p:attrNameLst>
                                      </p:cBhvr>
                                      <p:to>
                                        <p:strVal val="visible"/>
                                      </p:to>
                                    </p:set>
                                    <p:animEffect transition="in" filter="fade">
                                      <p:cBhvr>
                                        <p:cTn id="86" dur="500"/>
                                        <p:tgtEl>
                                          <p:spTgt spid="5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fade">
                                      <p:cBhvr>
                                        <p:cTn id="91" dur="500"/>
                                        <p:tgtEl>
                                          <p:spTgt spid="6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fade">
                                      <p:cBhvr>
                                        <p:cTn id="94"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1" grpId="0" animBg="1"/>
      <p:bldP spid="33" grpId="0" animBg="1"/>
      <p:bldP spid="35" grpId="0" animBg="1"/>
      <p:bldP spid="38" grpId="0" animBg="1"/>
      <p:bldP spid="39" grpId="0" animBg="1"/>
      <p:bldP spid="40" grpId="0" animBg="1"/>
      <p:bldP spid="43" grpId="0" animBg="1"/>
      <p:bldP spid="44" grpId="0" animBg="1"/>
      <p:bldP spid="45" grpId="0" animBg="1"/>
      <p:bldP spid="48" grpId="0" animBg="1"/>
      <p:bldP spid="49" grpId="0" animBg="1"/>
      <p:bldP spid="50" grpId="0" animBg="1"/>
      <p:bldP spid="53" grpId="0" animBg="1"/>
      <p:bldP spid="54" grpId="0" animBg="1"/>
      <p:bldP spid="55" grpId="0" animBg="1"/>
      <p:bldP spid="58" grpId="0" animBg="1"/>
      <p:bldP spid="59" grpId="0" animBg="1"/>
      <p:bldP spid="6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813C5-8DAE-D9BF-25EE-051CB476A1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E54260-7737-AD8D-0B41-45CAF1D787E6}"/>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717857D-4DD5-2E99-7E3E-69C5EC95B196}"/>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798A7F87-4FB9-8F84-522B-8396D0A81256}"/>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LIVE DEMO 1</a:t>
            </a:r>
          </a:p>
        </p:txBody>
      </p:sp>
      <p:pic>
        <p:nvPicPr>
          <p:cNvPr id="5" name="Picture 4">
            <a:extLst>
              <a:ext uri="{FF2B5EF4-FFF2-40B4-BE49-F238E27FC236}">
                <a16:creationId xmlns:a16="http://schemas.microsoft.com/office/drawing/2014/main" id="{F1132235-0107-65DE-5BB5-61B4C0B1A011}"/>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645380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1E7E1-D4C5-4E41-969D-8E450D17F5E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0138D7-4388-F684-F8E1-8037AA131317}"/>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7B32AC81-C78C-5712-BA4C-4C906146D19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BAD854D-C976-6A05-5553-B197140663B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Practical Demo</a:t>
            </a:r>
          </a:p>
        </p:txBody>
      </p:sp>
      <p:sp>
        <p:nvSpPr>
          <p:cNvPr id="9" name="TextBox 8">
            <a:extLst>
              <a:ext uri="{FF2B5EF4-FFF2-40B4-BE49-F238E27FC236}">
                <a16:creationId xmlns:a16="http://schemas.microsoft.com/office/drawing/2014/main" id="{B0F27EFD-F0D8-7E5B-8007-6C346EFDE9A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55A7B379-14CE-D71F-1B28-1B46F990DAB2}"/>
              </a:ext>
            </a:extLst>
          </p:cNvPr>
          <p:cNvPicPr>
            <a:picLocks noChangeAspect="1"/>
          </p:cNvPicPr>
          <p:nvPr/>
        </p:nvPicPr>
        <p:blipFill>
          <a:blip r:embed="rId4"/>
          <a:stretch>
            <a:fillRect/>
          </a:stretch>
        </p:blipFill>
        <p:spPr>
          <a:xfrm>
            <a:off x="1986047" y="1322104"/>
            <a:ext cx="8252678" cy="4277271"/>
          </a:xfrm>
          <a:prstGeom prst="rect">
            <a:avLst/>
          </a:prstGeom>
        </p:spPr>
      </p:pic>
    </p:spTree>
    <p:extLst>
      <p:ext uri="{BB962C8B-B14F-4D97-AF65-F5344CB8AC3E}">
        <p14:creationId xmlns:p14="http://schemas.microsoft.com/office/powerpoint/2010/main" val="967308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45BCB-B27E-E726-16D8-87C44E2A592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FC7311-5471-0FA3-459B-4C12F6C17403}"/>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B1EE989-3B8F-AA13-8FB2-11C1C3AEED2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16B5608-5811-8257-B323-2FA47CA4FCC6}"/>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CONNECTORS &amp; MCP</a:t>
            </a:r>
          </a:p>
        </p:txBody>
      </p:sp>
      <p:pic>
        <p:nvPicPr>
          <p:cNvPr id="5" name="Picture 4">
            <a:extLst>
              <a:ext uri="{FF2B5EF4-FFF2-40B4-BE49-F238E27FC236}">
                <a16:creationId xmlns:a16="http://schemas.microsoft.com/office/drawing/2014/main" id="{9B79800D-65E9-F348-ABC2-6164457D1AA2}"/>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735764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7BA8993-2A0C-AFCA-B009-C797112A6A3C}"/>
            </a:ext>
          </a:extLst>
        </p:cNvPr>
        <p:cNvGrpSpPr/>
        <p:nvPr/>
      </p:nvGrpSpPr>
      <p:grpSpPr>
        <a:xfrm>
          <a:off x="0" y="0"/>
          <a:ext cx="0" cy="0"/>
          <a:chOff x="0" y="0"/>
          <a:chExt cx="0" cy="0"/>
        </a:xfrm>
      </p:grpSpPr>
      <p:pic>
        <p:nvPicPr>
          <p:cNvPr id="112" name="Google Shape;112;p5">
            <a:extLst>
              <a:ext uri="{FF2B5EF4-FFF2-40B4-BE49-F238E27FC236}">
                <a16:creationId xmlns:a16="http://schemas.microsoft.com/office/drawing/2014/main" id="{333194A4-4DBD-D0C3-E289-CF129E191A67}"/>
              </a:ext>
            </a:extLst>
          </p:cNvPr>
          <p:cNvPicPr preferRelativeResize="0"/>
          <p:nvPr/>
        </p:nvPicPr>
        <p:blipFill rotWithShape="1">
          <a:blip r:embed="rId3">
            <a:alphaModFix/>
          </a:blip>
          <a:srcRect/>
          <a:stretch/>
        </p:blipFill>
        <p:spPr>
          <a:xfrm>
            <a:off x="-3571" y="0"/>
            <a:ext cx="12224773" cy="6858000"/>
          </a:xfrm>
          <a:prstGeom prst="rect">
            <a:avLst/>
          </a:prstGeom>
          <a:noFill/>
          <a:ln>
            <a:noFill/>
          </a:ln>
        </p:spPr>
      </p:pic>
      <p:pic>
        <p:nvPicPr>
          <p:cNvPr id="113" name="Google Shape;113;p5">
            <a:extLst>
              <a:ext uri="{FF2B5EF4-FFF2-40B4-BE49-F238E27FC236}">
                <a16:creationId xmlns:a16="http://schemas.microsoft.com/office/drawing/2014/main" id="{DF7F6AA4-FE68-1F00-90FB-4823341853CE}"/>
              </a:ext>
            </a:extLst>
          </p:cNvPr>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a:extLst>
              <a:ext uri="{FF2B5EF4-FFF2-40B4-BE49-F238E27FC236}">
                <a16:creationId xmlns:a16="http://schemas.microsoft.com/office/drawing/2014/main" id="{4576D596-DF7C-1F7C-B128-453102586124}"/>
              </a:ext>
            </a:extLst>
          </p:cNvPr>
          <p:cNvSpPr/>
          <p:nvPr/>
        </p:nvSpPr>
        <p:spPr>
          <a:xfrm>
            <a:off x="154722" y="90489"/>
            <a:ext cx="98274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ea typeface="Montserrat"/>
                <a:cs typeface="Montserrat"/>
                <a:sym typeface="Montserrat"/>
              </a:rPr>
              <a:t>Model Context Protocol (MCP)?</a:t>
            </a:r>
            <a:endParaRPr dirty="0"/>
          </a:p>
        </p:txBody>
      </p:sp>
      <p:sp>
        <p:nvSpPr>
          <p:cNvPr id="115" name="Google Shape;115;p5">
            <a:extLst>
              <a:ext uri="{FF2B5EF4-FFF2-40B4-BE49-F238E27FC236}">
                <a16:creationId xmlns:a16="http://schemas.microsoft.com/office/drawing/2014/main" id="{14797906-552F-78EA-60A2-221A7BEC6696}"/>
              </a:ext>
            </a:extLst>
          </p:cNvPr>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116" name="Google Shape;116;p5">
            <a:extLst>
              <a:ext uri="{FF2B5EF4-FFF2-40B4-BE49-F238E27FC236}">
                <a16:creationId xmlns:a16="http://schemas.microsoft.com/office/drawing/2014/main" id="{BFC53742-D364-B80E-524A-549CA8058135}"/>
              </a:ext>
            </a:extLst>
          </p:cNvPr>
          <p:cNvSpPr txBox="1"/>
          <p:nvPr/>
        </p:nvSpPr>
        <p:spPr>
          <a:xfrm>
            <a:off x="166991" y="915981"/>
            <a:ext cx="11637228" cy="921900"/>
          </a:xfrm>
          <a:prstGeom prst="rect">
            <a:avLst/>
          </a:prstGeom>
          <a:noFill/>
          <a:ln>
            <a:noFill/>
          </a:ln>
        </p:spPr>
        <p:txBody>
          <a:bodyPr spcFirstLastPara="1" wrap="square" lIns="91425" tIns="45700" rIns="91425" bIns="45700" anchor="t" anchorCtr="0">
            <a:normAutofit/>
          </a:bodyPr>
          <a:lstStyle/>
          <a:p>
            <a:pPr marL="228600" lvl="0" indent="-228600">
              <a:lnSpc>
                <a:spcPct val="90000"/>
              </a:lnSpc>
              <a:buClr>
                <a:srgbClr val="1BBFD1"/>
              </a:buClr>
              <a:buSzPts val="1800"/>
              <a:buFont typeface="Arial"/>
              <a:buChar char="•"/>
            </a:pPr>
            <a:r>
              <a:rPr lang="en-US" sz="1800" dirty="0">
                <a:solidFill>
                  <a:schemeClr val="dk1"/>
                </a:solidFill>
                <a:latin typeface="Montserrat"/>
                <a:ea typeface="Montserrat"/>
                <a:cs typeface="Montserrat"/>
                <a:sym typeface="Montserrat"/>
              </a:rPr>
              <a:t>MCP is an open standard and open-source framework introduced by Anthropic to standardize how AI models interact with external tools, systems, and data sources. </a:t>
            </a:r>
            <a:endParaRPr sz="1800" dirty="0">
              <a:solidFill>
                <a:schemeClr val="dk1"/>
              </a:solidFill>
              <a:latin typeface="Montserrat"/>
              <a:ea typeface="Montserrat"/>
              <a:cs typeface="Montserrat"/>
              <a:sym typeface="Montserrat"/>
            </a:endParaRPr>
          </a:p>
        </p:txBody>
      </p:sp>
      <p:sp>
        <p:nvSpPr>
          <p:cNvPr id="2" name="Rectangle: Rounded Corners 1">
            <a:extLst>
              <a:ext uri="{FF2B5EF4-FFF2-40B4-BE49-F238E27FC236}">
                <a16:creationId xmlns:a16="http://schemas.microsoft.com/office/drawing/2014/main" id="{2AE6E7A3-3C7E-140C-F3B9-9209703FA37B}"/>
              </a:ext>
            </a:extLst>
          </p:cNvPr>
          <p:cNvSpPr/>
          <p:nvPr/>
        </p:nvSpPr>
        <p:spPr>
          <a:xfrm>
            <a:off x="6362236" y="4388148"/>
            <a:ext cx="1602296" cy="92190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AI Agent </a:t>
            </a:r>
          </a:p>
        </p:txBody>
      </p:sp>
      <p:pic>
        <p:nvPicPr>
          <p:cNvPr id="2050" name="Picture 2" descr="Gmail has a new logo that's a lot more Google | The Verge">
            <a:extLst>
              <a:ext uri="{FF2B5EF4-FFF2-40B4-BE49-F238E27FC236}">
                <a16:creationId xmlns:a16="http://schemas.microsoft.com/office/drawing/2014/main" id="{F67526D3-B748-C961-77D4-E2BA3E66308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30060" r="5016" b="33818"/>
          <a:stretch/>
        </p:blipFill>
        <p:spPr bwMode="auto">
          <a:xfrm>
            <a:off x="10250487" y="2972287"/>
            <a:ext cx="1452177" cy="36816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lack Logo, symbol, meaning, history, PNG, brand">
            <a:extLst>
              <a:ext uri="{FF2B5EF4-FFF2-40B4-BE49-F238E27FC236}">
                <a16:creationId xmlns:a16="http://schemas.microsoft.com/office/drawing/2014/main" id="{36A54658-8B5A-339E-06A8-B50082A5D3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2812" y="4504293"/>
            <a:ext cx="1225972" cy="68960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FDCA60FC-410E-F65D-C192-9E34E7EA43AE}"/>
              </a:ext>
            </a:extLst>
          </p:cNvPr>
          <p:cNvPicPr>
            <a:picLocks noChangeAspect="1"/>
          </p:cNvPicPr>
          <p:nvPr/>
        </p:nvPicPr>
        <p:blipFill>
          <a:blip r:embed="rId7"/>
          <a:stretch>
            <a:fillRect/>
          </a:stretch>
        </p:blipFill>
        <p:spPr>
          <a:xfrm>
            <a:off x="10192712" y="5585610"/>
            <a:ext cx="1225972" cy="817315"/>
          </a:xfrm>
          <a:prstGeom prst="rect">
            <a:avLst/>
          </a:prstGeom>
        </p:spPr>
      </p:pic>
      <p:cxnSp>
        <p:nvCxnSpPr>
          <p:cNvPr id="5" name="Straight Arrow Connector 4">
            <a:extLst>
              <a:ext uri="{FF2B5EF4-FFF2-40B4-BE49-F238E27FC236}">
                <a16:creationId xmlns:a16="http://schemas.microsoft.com/office/drawing/2014/main" id="{2F6BC43B-7BC8-FE9A-31C5-857C46FBDD62}"/>
              </a:ext>
            </a:extLst>
          </p:cNvPr>
          <p:cNvCxnSpPr>
            <a:cxnSpLocks/>
          </p:cNvCxnSpPr>
          <p:nvPr/>
        </p:nvCxnSpPr>
        <p:spPr>
          <a:xfrm flipV="1">
            <a:off x="8000851" y="3407973"/>
            <a:ext cx="2273917" cy="1156396"/>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B213223-D64E-3C18-4552-EABBDE68AA99}"/>
              </a:ext>
            </a:extLst>
          </p:cNvPr>
          <p:cNvSpPr/>
          <p:nvPr/>
        </p:nvSpPr>
        <p:spPr>
          <a:xfrm rot="19992498">
            <a:off x="8663175" y="3707975"/>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pic>
        <p:nvPicPr>
          <p:cNvPr id="19" name="Picture 4">
            <a:extLst>
              <a:ext uri="{FF2B5EF4-FFF2-40B4-BE49-F238E27FC236}">
                <a16:creationId xmlns:a16="http://schemas.microsoft.com/office/drawing/2014/main" id="{0B48F839-56C1-F97C-8EFB-E120279CCAB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8708" t="4469"/>
          <a:stretch/>
        </p:blipFill>
        <p:spPr bwMode="auto">
          <a:xfrm>
            <a:off x="8709770" y="3101232"/>
            <a:ext cx="610392" cy="5116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Gmail has a new logo that's a lot more Google | The Verge">
            <a:extLst>
              <a:ext uri="{FF2B5EF4-FFF2-40B4-BE49-F238E27FC236}">
                <a16:creationId xmlns:a16="http://schemas.microsoft.com/office/drawing/2014/main" id="{5DE79189-FDD6-CFC3-3E20-C171955616B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30060" r="5016" b="33818"/>
          <a:stretch/>
        </p:blipFill>
        <p:spPr bwMode="auto">
          <a:xfrm>
            <a:off x="3537389" y="3093257"/>
            <a:ext cx="1509952" cy="3828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lack Logo, symbol, meaning, history, PNG, brand">
            <a:extLst>
              <a:ext uri="{FF2B5EF4-FFF2-40B4-BE49-F238E27FC236}">
                <a16:creationId xmlns:a16="http://schemas.microsoft.com/office/drawing/2014/main" id="{4F94A50F-BB1E-4564-4789-91062A4223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7861" y="4379140"/>
            <a:ext cx="1274062" cy="7166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9027ACF-57D2-3677-9E09-E80B6A60A131}"/>
              </a:ext>
            </a:extLst>
          </p:cNvPr>
          <p:cNvPicPr>
            <a:picLocks noChangeAspect="1"/>
          </p:cNvPicPr>
          <p:nvPr/>
        </p:nvPicPr>
        <p:blipFill>
          <a:blip r:embed="rId7"/>
          <a:stretch>
            <a:fillRect/>
          </a:stretch>
        </p:blipFill>
        <p:spPr>
          <a:xfrm>
            <a:off x="3759201" y="5665366"/>
            <a:ext cx="1157258" cy="771506"/>
          </a:xfrm>
          <a:prstGeom prst="rect">
            <a:avLst/>
          </a:prstGeom>
        </p:spPr>
      </p:pic>
      <p:cxnSp>
        <p:nvCxnSpPr>
          <p:cNvPr id="11" name="Straight Arrow Connector 10">
            <a:extLst>
              <a:ext uri="{FF2B5EF4-FFF2-40B4-BE49-F238E27FC236}">
                <a16:creationId xmlns:a16="http://schemas.microsoft.com/office/drawing/2014/main" id="{170C03C9-3C31-A7A3-9A6F-A0535BB36ACF}"/>
              </a:ext>
            </a:extLst>
          </p:cNvPr>
          <p:cNvCxnSpPr>
            <a:cxnSpLocks/>
          </p:cNvCxnSpPr>
          <p:nvPr/>
        </p:nvCxnSpPr>
        <p:spPr>
          <a:xfrm flipV="1">
            <a:off x="2464155" y="3525357"/>
            <a:ext cx="1233113" cy="888214"/>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5DB8F840-DA8A-629A-8884-BED26C129437}"/>
              </a:ext>
            </a:extLst>
          </p:cNvPr>
          <p:cNvSpPr/>
          <p:nvPr/>
        </p:nvSpPr>
        <p:spPr>
          <a:xfrm>
            <a:off x="838702" y="4467862"/>
            <a:ext cx="1636421" cy="92190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AI Agent </a:t>
            </a:r>
          </a:p>
        </p:txBody>
      </p:sp>
      <p:cxnSp>
        <p:nvCxnSpPr>
          <p:cNvPr id="26" name="Straight Arrow Connector 25">
            <a:extLst>
              <a:ext uri="{FF2B5EF4-FFF2-40B4-BE49-F238E27FC236}">
                <a16:creationId xmlns:a16="http://schemas.microsoft.com/office/drawing/2014/main" id="{5594CF8C-979C-6C7D-7FE7-C15CC7BB31A6}"/>
              </a:ext>
            </a:extLst>
          </p:cNvPr>
          <p:cNvCxnSpPr>
            <a:cxnSpLocks/>
          </p:cNvCxnSpPr>
          <p:nvPr/>
        </p:nvCxnSpPr>
        <p:spPr>
          <a:xfrm>
            <a:off x="2475124" y="4770459"/>
            <a:ext cx="1062265" cy="0"/>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861083A-539C-0051-F4F3-83B7C7538B78}"/>
              </a:ext>
            </a:extLst>
          </p:cNvPr>
          <p:cNvCxnSpPr>
            <a:cxnSpLocks/>
          </p:cNvCxnSpPr>
          <p:nvPr/>
        </p:nvCxnSpPr>
        <p:spPr>
          <a:xfrm>
            <a:off x="2475124" y="5297148"/>
            <a:ext cx="1404851" cy="683433"/>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6" name="Picture 2" descr="Here's OpenAI's new logo | The Verge">
            <a:extLst>
              <a:ext uri="{FF2B5EF4-FFF2-40B4-BE49-F238E27FC236}">
                <a16:creationId xmlns:a16="http://schemas.microsoft.com/office/drawing/2014/main" id="{C4AA1415-AAD4-97F0-7DC1-FCF30D67972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5744" y="3686755"/>
            <a:ext cx="895231" cy="5994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lama 2 Model Details">
            <a:extLst>
              <a:ext uri="{FF2B5EF4-FFF2-40B4-BE49-F238E27FC236}">
                <a16:creationId xmlns:a16="http://schemas.microsoft.com/office/drawing/2014/main" id="{9C246D39-71E2-2EDA-76E4-8EBC959EFB6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5017" t="22122" r="12924" b="26288"/>
          <a:stretch>
            <a:fillRect/>
          </a:stretch>
        </p:blipFill>
        <p:spPr bwMode="auto">
          <a:xfrm>
            <a:off x="1465181" y="3710970"/>
            <a:ext cx="488749" cy="49319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0442BFE-B917-6714-3846-6488B8AD768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76221"/>
          <a:stretch>
            <a:fillRect/>
          </a:stretch>
        </p:blipFill>
        <p:spPr bwMode="auto">
          <a:xfrm>
            <a:off x="2089029" y="3713994"/>
            <a:ext cx="588367" cy="53429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ere's OpenAI's new logo | The Verge">
            <a:extLst>
              <a:ext uri="{FF2B5EF4-FFF2-40B4-BE49-F238E27FC236}">
                <a16:creationId xmlns:a16="http://schemas.microsoft.com/office/drawing/2014/main" id="{41A7CFC9-B886-FDF7-3E76-2EB6365066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61975" y="3702456"/>
            <a:ext cx="895231" cy="59941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Llama 2 Model Details">
            <a:extLst>
              <a:ext uri="{FF2B5EF4-FFF2-40B4-BE49-F238E27FC236}">
                <a16:creationId xmlns:a16="http://schemas.microsoft.com/office/drawing/2014/main" id="{B69531C4-3E54-B56D-D488-593550DBA9D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5017" t="22122" r="12924" b="26288"/>
          <a:stretch>
            <a:fillRect/>
          </a:stretch>
        </p:blipFill>
        <p:spPr bwMode="auto">
          <a:xfrm>
            <a:off x="6811412" y="3726671"/>
            <a:ext cx="488749" cy="49319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a:extLst>
              <a:ext uri="{FF2B5EF4-FFF2-40B4-BE49-F238E27FC236}">
                <a16:creationId xmlns:a16="http://schemas.microsoft.com/office/drawing/2014/main" id="{EA1CC70D-3CC4-572B-3DF9-1BDFFF32D27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76221"/>
          <a:stretch>
            <a:fillRect/>
          </a:stretch>
        </p:blipFill>
        <p:spPr bwMode="auto">
          <a:xfrm>
            <a:off x="7435260" y="3729695"/>
            <a:ext cx="588367" cy="534299"/>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Rounded Corners 40">
            <a:extLst>
              <a:ext uri="{FF2B5EF4-FFF2-40B4-BE49-F238E27FC236}">
                <a16:creationId xmlns:a16="http://schemas.microsoft.com/office/drawing/2014/main" id="{F576F50E-B3B3-2CE3-1367-BE0483091A4A}"/>
              </a:ext>
            </a:extLst>
          </p:cNvPr>
          <p:cNvSpPr/>
          <p:nvPr/>
        </p:nvSpPr>
        <p:spPr>
          <a:xfrm>
            <a:off x="2843655" y="3525357"/>
            <a:ext cx="327415" cy="2530015"/>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TextBox 41">
            <a:extLst>
              <a:ext uri="{FF2B5EF4-FFF2-40B4-BE49-F238E27FC236}">
                <a16:creationId xmlns:a16="http://schemas.microsoft.com/office/drawing/2014/main" id="{BA5B436E-3EAC-CE20-31F3-C8622DC2016A}"/>
              </a:ext>
            </a:extLst>
          </p:cNvPr>
          <p:cNvSpPr txBox="1"/>
          <p:nvPr/>
        </p:nvSpPr>
        <p:spPr>
          <a:xfrm>
            <a:off x="2358440" y="6104483"/>
            <a:ext cx="1443024" cy="307777"/>
          </a:xfrm>
          <a:prstGeom prst="rect">
            <a:avLst/>
          </a:prstGeom>
          <a:noFill/>
        </p:spPr>
        <p:txBody>
          <a:bodyPr wrap="none" rtlCol="0">
            <a:spAutoFit/>
          </a:bodyPr>
          <a:lstStyle/>
          <a:p>
            <a:r>
              <a:rPr lang="en-CA" b="1" dirty="0">
                <a:solidFill>
                  <a:schemeClr val="accent2">
                    <a:lumMod val="75000"/>
                  </a:schemeClr>
                </a:solidFill>
                <a:latin typeface="Montserrat" panose="00000500000000000000" pitchFamily="2" charset="0"/>
              </a:rPr>
              <a:t>Custom APIs</a:t>
            </a:r>
          </a:p>
        </p:txBody>
      </p:sp>
      <p:cxnSp>
        <p:nvCxnSpPr>
          <p:cNvPr id="43" name="Straight Arrow Connector 42">
            <a:extLst>
              <a:ext uri="{FF2B5EF4-FFF2-40B4-BE49-F238E27FC236}">
                <a16:creationId xmlns:a16="http://schemas.microsoft.com/office/drawing/2014/main" id="{BC23DBA8-EB6A-D907-D84B-C25306D8EC73}"/>
              </a:ext>
            </a:extLst>
          </p:cNvPr>
          <p:cNvCxnSpPr>
            <a:cxnSpLocks/>
          </p:cNvCxnSpPr>
          <p:nvPr/>
        </p:nvCxnSpPr>
        <p:spPr>
          <a:xfrm flipV="1">
            <a:off x="8000851" y="4793028"/>
            <a:ext cx="2285883" cy="18197"/>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73BA3DA8-287F-5FEC-D3F8-EFD2B2BA82E1}"/>
              </a:ext>
            </a:extLst>
          </p:cNvPr>
          <p:cNvSpPr/>
          <p:nvPr/>
        </p:nvSpPr>
        <p:spPr>
          <a:xfrm>
            <a:off x="8691390" y="4606720"/>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cxnSp>
        <p:nvCxnSpPr>
          <p:cNvPr id="47" name="Straight Arrow Connector 46">
            <a:extLst>
              <a:ext uri="{FF2B5EF4-FFF2-40B4-BE49-F238E27FC236}">
                <a16:creationId xmlns:a16="http://schemas.microsoft.com/office/drawing/2014/main" id="{C9330793-E153-9DC9-CA0F-F22E803FA8D6}"/>
              </a:ext>
            </a:extLst>
          </p:cNvPr>
          <p:cNvCxnSpPr>
            <a:cxnSpLocks/>
            <a:endCxn id="33" idx="1"/>
          </p:cNvCxnSpPr>
          <p:nvPr/>
        </p:nvCxnSpPr>
        <p:spPr>
          <a:xfrm>
            <a:off x="8000851" y="5090373"/>
            <a:ext cx="2191861" cy="903895"/>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F3DDCB56-5AEF-3BD3-4898-D12AEEA8016D}"/>
              </a:ext>
            </a:extLst>
          </p:cNvPr>
          <p:cNvSpPr/>
          <p:nvPr/>
        </p:nvSpPr>
        <p:spPr>
          <a:xfrm rot="1449052">
            <a:off x="8622823" y="5468270"/>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sp>
        <p:nvSpPr>
          <p:cNvPr id="52" name="Rectangle: Rounded Corners 51">
            <a:extLst>
              <a:ext uri="{FF2B5EF4-FFF2-40B4-BE49-F238E27FC236}">
                <a16:creationId xmlns:a16="http://schemas.microsoft.com/office/drawing/2014/main" id="{37247F75-2180-D734-2B7E-E392669A336F}"/>
              </a:ext>
            </a:extLst>
          </p:cNvPr>
          <p:cNvSpPr/>
          <p:nvPr/>
        </p:nvSpPr>
        <p:spPr>
          <a:xfrm>
            <a:off x="8228876" y="3668730"/>
            <a:ext cx="327415" cy="2530015"/>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TextBox 52">
            <a:extLst>
              <a:ext uri="{FF2B5EF4-FFF2-40B4-BE49-F238E27FC236}">
                <a16:creationId xmlns:a16="http://schemas.microsoft.com/office/drawing/2014/main" id="{45238F95-1A6C-6F20-C87A-F0A41A149F5E}"/>
              </a:ext>
            </a:extLst>
          </p:cNvPr>
          <p:cNvSpPr txBox="1"/>
          <p:nvPr/>
        </p:nvSpPr>
        <p:spPr>
          <a:xfrm>
            <a:off x="7616287" y="6198745"/>
            <a:ext cx="1914307" cy="307777"/>
          </a:xfrm>
          <a:prstGeom prst="rect">
            <a:avLst/>
          </a:prstGeom>
          <a:noFill/>
        </p:spPr>
        <p:txBody>
          <a:bodyPr wrap="none" rtlCol="0">
            <a:spAutoFit/>
          </a:bodyPr>
          <a:lstStyle/>
          <a:p>
            <a:r>
              <a:rPr lang="en-CA" b="1" dirty="0">
                <a:solidFill>
                  <a:schemeClr val="accent2">
                    <a:lumMod val="75000"/>
                  </a:schemeClr>
                </a:solidFill>
                <a:latin typeface="Montserrat" panose="00000500000000000000" pitchFamily="2" charset="0"/>
              </a:rPr>
              <a:t>Standardized APIs</a:t>
            </a:r>
          </a:p>
        </p:txBody>
      </p:sp>
      <p:sp>
        <p:nvSpPr>
          <p:cNvPr id="58" name="TextBox 57">
            <a:extLst>
              <a:ext uri="{FF2B5EF4-FFF2-40B4-BE49-F238E27FC236}">
                <a16:creationId xmlns:a16="http://schemas.microsoft.com/office/drawing/2014/main" id="{D26A9905-B2A4-1EBF-6EA3-FC70AFE9CE5C}"/>
              </a:ext>
            </a:extLst>
          </p:cNvPr>
          <p:cNvSpPr txBox="1"/>
          <p:nvPr/>
        </p:nvSpPr>
        <p:spPr>
          <a:xfrm>
            <a:off x="1105123" y="2721642"/>
            <a:ext cx="3082895" cy="369332"/>
          </a:xfrm>
          <a:prstGeom prst="rect">
            <a:avLst/>
          </a:prstGeom>
          <a:noFill/>
        </p:spPr>
        <p:txBody>
          <a:bodyPr wrap="none" rtlCol="0">
            <a:spAutoFit/>
          </a:bodyPr>
          <a:lstStyle/>
          <a:p>
            <a:r>
              <a:rPr lang="en-CA" sz="1800" b="1" u="sng" dirty="0">
                <a:latin typeface="Montserrat" panose="00000500000000000000" pitchFamily="2" charset="0"/>
              </a:rPr>
              <a:t>Problem (Without MCP)</a:t>
            </a:r>
          </a:p>
        </p:txBody>
      </p:sp>
      <p:sp>
        <p:nvSpPr>
          <p:cNvPr id="59" name="TextBox 58">
            <a:extLst>
              <a:ext uri="{FF2B5EF4-FFF2-40B4-BE49-F238E27FC236}">
                <a16:creationId xmlns:a16="http://schemas.microsoft.com/office/drawing/2014/main" id="{0D65C32B-297E-94E3-6973-1D7DBC269C69}"/>
              </a:ext>
            </a:extLst>
          </p:cNvPr>
          <p:cNvSpPr txBox="1"/>
          <p:nvPr/>
        </p:nvSpPr>
        <p:spPr>
          <a:xfrm>
            <a:off x="7208364" y="2663701"/>
            <a:ext cx="2645276" cy="369332"/>
          </a:xfrm>
          <a:prstGeom prst="rect">
            <a:avLst/>
          </a:prstGeom>
          <a:noFill/>
        </p:spPr>
        <p:txBody>
          <a:bodyPr wrap="none" rtlCol="0">
            <a:spAutoFit/>
          </a:bodyPr>
          <a:lstStyle/>
          <a:p>
            <a:r>
              <a:rPr lang="en-CA" sz="1800" b="1" u="sng" dirty="0">
                <a:latin typeface="Montserrat" panose="00000500000000000000" pitchFamily="2" charset="0"/>
              </a:rPr>
              <a:t>Solution (With MCP)</a:t>
            </a:r>
          </a:p>
        </p:txBody>
      </p:sp>
      <p:pic>
        <p:nvPicPr>
          <p:cNvPr id="1035" name="Picture 11">
            <a:extLst>
              <a:ext uri="{FF2B5EF4-FFF2-40B4-BE49-F238E27FC236}">
                <a16:creationId xmlns:a16="http://schemas.microsoft.com/office/drawing/2014/main" id="{D40D4B7B-D208-E8FD-BE4B-B48AB4CF31D2}"/>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1963" r="-1170" b="25352"/>
          <a:stretch>
            <a:fillRect/>
          </a:stretch>
        </p:blipFill>
        <p:spPr bwMode="auto">
          <a:xfrm>
            <a:off x="5459511" y="1609603"/>
            <a:ext cx="1710313" cy="8906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Model Context Protocol · GitHub">
            <a:extLst>
              <a:ext uri="{FF2B5EF4-FFF2-40B4-BE49-F238E27FC236}">
                <a16:creationId xmlns:a16="http://schemas.microsoft.com/office/drawing/2014/main" id="{660406CC-E6F7-0A46-5986-C26F4DE284A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18230" y="1474033"/>
            <a:ext cx="1167689" cy="1167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18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fade">
                                      <p:cBhvr>
                                        <p:cTn id="7" dur="500"/>
                                        <p:tgtEl>
                                          <p:spTgt spid="1035"/>
                                        </p:tgtEl>
                                      </p:cBhvr>
                                    </p:animEffect>
                                  </p:childTnLst>
                                </p:cTn>
                              </p:par>
                              <p:par>
                                <p:cTn id="8" presetID="10" presetClass="entr" presetSubtype="0" fill="hold" nodeType="withEffect">
                                  <p:stCondLst>
                                    <p:cond delay="0"/>
                                  </p:stCondLst>
                                  <p:childTnLst>
                                    <p:set>
                                      <p:cBhvr>
                                        <p:cTn id="9" dur="1" fill="hold">
                                          <p:stCondLst>
                                            <p:cond delay="0"/>
                                          </p:stCondLst>
                                        </p:cTn>
                                        <p:tgtEl>
                                          <p:spTgt spid="1037"/>
                                        </p:tgtEl>
                                        <p:attrNameLst>
                                          <p:attrName>style.visibility</p:attrName>
                                        </p:attrNameLst>
                                      </p:cBhvr>
                                      <p:to>
                                        <p:strVal val="visible"/>
                                      </p:to>
                                    </p:set>
                                    <p:animEffect transition="in" filter="fade">
                                      <p:cBhvr>
                                        <p:cTn id="10" dur="500"/>
                                        <p:tgtEl>
                                          <p:spTgt spid="103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fade">
                                      <p:cBhvr>
                                        <p:cTn id="14" dur="500"/>
                                        <p:tgtEl>
                                          <p:spTgt spid="5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nodeType="with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fade">
                                      <p:cBhvr>
                                        <p:cTn id="24" dur="500"/>
                                        <p:tgtEl>
                                          <p:spTgt spid="1026"/>
                                        </p:tgtEl>
                                      </p:cBhvr>
                                    </p:animEffect>
                                  </p:childTnLst>
                                </p:cTn>
                              </p:par>
                              <p:par>
                                <p:cTn id="25" presetID="10" presetClass="entr" presetSubtype="0" fill="hold" nodeType="withEffect">
                                  <p:stCondLst>
                                    <p:cond delay="0"/>
                                  </p:stCondLst>
                                  <p:childTnLst>
                                    <p:set>
                                      <p:cBhvr>
                                        <p:cTn id="26" dur="1" fill="hold">
                                          <p:stCondLst>
                                            <p:cond delay="0"/>
                                          </p:stCondLst>
                                        </p:cTn>
                                        <p:tgtEl>
                                          <p:spTgt spid="1028"/>
                                        </p:tgtEl>
                                        <p:attrNameLst>
                                          <p:attrName>style.visibility</p:attrName>
                                        </p:attrNameLst>
                                      </p:cBhvr>
                                      <p:to>
                                        <p:strVal val="visible"/>
                                      </p:to>
                                    </p:set>
                                    <p:animEffect transition="in" filter="fade">
                                      <p:cBhvr>
                                        <p:cTn id="27" dur="500"/>
                                        <p:tgtEl>
                                          <p:spTgt spid="1028"/>
                                        </p:tgtEl>
                                      </p:cBhvr>
                                    </p:animEffect>
                                  </p:childTnLst>
                                </p:cTn>
                              </p:par>
                              <p:par>
                                <p:cTn id="28" presetID="10" presetClass="entr" presetSubtype="0" fill="hold" nodeType="withEffect">
                                  <p:stCondLst>
                                    <p:cond delay="0"/>
                                  </p:stCondLst>
                                  <p:childTnLst>
                                    <p:set>
                                      <p:cBhvr>
                                        <p:cTn id="29" dur="1" fill="hold">
                                          <p:stCondLst>
                                            <p:cond delay="0"/>
                                          </p:stCondLst>
                                        </p:cTn>
                                        <p:tgtEl>
                                          <p:spTgt spid="1030"/>
                                        </p:tgtEl>
                                        <p:attrNameLst>
                                          <p:attrName>style.visibility</p:attrName>
                                        </p:attrNameLst>
                                      </p:cBhvr>
                                      <p:to>
                                        <p:strVal val="visible"/>
                                      </p:to>
                                    </p:set>
                                    <p:animEffect transition="in" filter="fade">
                                      <p:cBhvr>
                                        <p:cTn id="30" dur="500"/>
                                        <p:tgtEl>
                                          <p:spTgt spid="10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par>
                                <p:cTn id="47" presetID="10"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fade">
                                      <p:cBhvr>
                                        <p:cTn id="63" dur="500"/>
                                        <p:tgtEl>
                                          <p:spTgt spid="2"/>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par>
                                <p:cTn id="67" presetID="10"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500"/>
                                        <p:tgtEl>
                                          <p:spTgt spid="39"/>
                                        </p:tgtEl>
                                      </p:cBhvr>
                                    </p:animEffect>
                                  </p:childTnLst>
                                </p:cTn>
                              </p:par>
                              <p:par>
                                <p:cTn id="70" presetID="10" presetClass="entr" presetSubtype="0"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050"/>
                                        </p:tgtEl>
                                        <p:attrNameLst>
                                          <p:attrName>style.visibility</p:attrName>
                                        </p:attrNameLst>
                                      </p:cBhvr>
                                      <p:to>
                                        <p:strVal val="visible"/>
                                      </p:to>
                                    </p:set>
                                    <p:animEffect transition="in" filter="fade">
                                      <p:cBhvr>
                                        <p:cTn id="77" dur="500"/>
                                        <p:tgtEl>
                                          <p:spTgt spid="2050"/>
                                        </p:tgtEl>
                                      </p:cBhvr>
                                    </p:animEffect>
                                  </p:childTnLst>
                                </p:cTn>
                              </p:par>
                              <p:par>
                                <p:cTn id="78" presetID="10" presetClass="entr" presetSubtype="0" fill="hold" nodeType="withEffect">
                                  <p:stCondLst>
                                    <p:cond delay="0"/>
                                  </p:stCondLst>
                                  <p:childTnLst>
                                    <p:set>
                                      <p:cBhvr>
                                        <p:cTn id="79" dur="1" fill="hold">
                                          <p:stCondLst>
                                            <p:cond delay="0"/>
                                          </p:stCondLst>
                                        </p:cTn>
                                        <p:tgtEl>
                                          <p:spTgt spid="2052"/>
                                        </p:tgtEl>
                                        <p:attrNameLst>
                                          <p:attrName>style.visibility</p:attrName>
                                        </p:attrNameLst>
                                      </p:cBhvr>
                                      <p:to>
                                        <p:strVal val="visible"/>
                                      </p:to>
                                    </p:set>
                                    <p:animEffect transition="in" filter="fade">
                                      <p:cBhvr>
                                        <p:cTn id="80" dur="500"/>
                                        <p:tgtEl>
                                          <p:spTgt spid="2052"/>
                                        </p:tgtEl>
                                      </p:cBhvr>
                                    </p:animEffect>
                                  </p:childTnLst>
                                </p:cTn>
                              </p:par>
                              <p:par>
                                <p:cTn id="81" presetID="10" presetClass="entr" presetSubtype="0" fill="hold"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fade">
                                      <p:cBhvr>
                                        <p:cTn id="88" dur="500"/>
                                        <p:tgtEl>
                                          <p:spTgt spid="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2" presetID="10" presetClass="entr" presetSubtype="0" fill="hold"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10"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500"/>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500"/>
                                        <p:tgtEl>
                                          <p:spTgt spid="44"/>
                                        </p:tgtEl>
                                      </p:cBhvr>
                                    </p:animEffect>
                                  </p:childTnLst>
                                </p:cTn>
                              </p:par>
                              <p:par>
                                <p:cTn id="101" presetID="10" presetClass="entr" presetSubtype="0" fill="hold" nodeType="with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fade">
                                      <p:cBhvr>
                                        <p:cTn id="103" dur="500"/>
                                        <p:tgtEl>
                                          <p:spTgt spid="4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500"/>
                                        <p:tgtEl>
                                          <p:spTgt spid="4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500"/>
                                        <p:tgtEl>
                                          <p:spTgt spid="5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3"/>
                                        </p:tgtEl>
                                        <p:attrNameLst>
                                          <p:attrName>style.visibility</p:attrName>
                                        </p:attrNameLst>
                                      </p:cBhvr>
                                      <p:to>
                                        <p:strVal val="visible"/>
                                      </p:to>
                                    </p:set>
                                    <p:animEffect transition="in" filter="fade">
                                      <p:cBhvr>
                                        <p:cTn id="11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21" grpId="0" animBg="1"/>
      <p:bldP spid="41" grpId="0" animBg="1"/>
      <p:bldP spid="42" grpId="0"/>
      <p:bldP spid="44" grpId="0" animBg="1"/>
      <p:bldP spid="48" grpId="0" animBg="1"/>
      <p:bldP spid="52" grpId="0" animBg="1"/>
      <p:bldP spid="53" grpId="0"/>
      <p:bldP spid="58" grpId="0"/>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5"/>
          <p:cNvPicPr preferRelativeResize="0"/>
          <p:nvPr/>
        </p:nvPicPr>
        <p:blipFill rotWithShape="1">
          <a:blip r:embed="rId3">
            <a:alphaModFix/>
          </a:blip>
          <a:srcRect/>
          <a:stretch/>
        </p:blipFill>
        <p:spPr>
          <a:xfrm>
            <a:off x="-16387" y="0"/>
            <a:ext cx="12224773" cy="6858000"/>
          </a:xfrm>
          <a:prstGeom prst="rect">
            <a:avLst/>
          </a:prstGeom>
          <a:noFill/>
          <a:ln>
            <a:noFill/>
          </a:ln>
        </p:spPr>
      </p:pic>
      <p:pic>
        <p:nvPicPr>
          <p:cNvPr id="113" name="Google Shape;113;p5"/>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p:cNvSpPr/>
          <p:nvPr/>
        </p:nvSpPr>
        <p:spPr>
          <a:xfrm>
            <a:off x="154722" y="90489"/>
            <a:ext cx="98274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ea typeface="Montserrat"/>
                <a:cs typeface="Montserrat"/>
                <a:sym typeface="Montserrat"/>
              </a:rPr>
              <a:t>MCP Connectors</a:t>
            </a:r>
            <a:endParaRPr dirty="0"/>
          </a:p>
        </p:txBody>
      </p:sp>
      <p:sp>
        <p:nvSpPr>
          <p:cNvPr id="115" name="Google Shape;115;p5"/>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pic>
        <p:nvPicPr>
          <p:cNvPr id="5" name="Picture 4">
            <a:extLst>
              <a:ext uri="{FF2B5EF4-FFF2-40B4-BE49-F238E27FC236}">
                <a16:creationId xmlns:a16="http://schemas.microsoft.com/office/drawing/2014/main" id="{F7FA0F64-4433-F242-8916-6513E383748D}"/>
              </a:ext>
            </a:extLst>
          </p:cNvPr>
          <p:cNvPicPr>
            <a:picLocks noChangeAspect="1"/>
          </p:cNvPicPr>
          <p:nvPr/>
        </p:nvPicPr>
        <p:blipFill>
          <a:blip r:embed="rId5"/>
          <a:stretch>
            <a:fillRect/>
          </a:stretch>
        </p:blipFill>
        <p:spPr>
          <a:xfrm>
            <a:off x="3202534" y="4385760"/>
            <a:ext cx="4265066" cy="2336395"/>
          </a:xfrm>
          <a:prstGeom prst="rect">
            <a:avLst/>
          </a:prstGeom>
        </p:spPr>
      </p:pic>
      <p:sp>
        <p:nvSpPr>
          <p:cNvPr id="9" name="TextBox 8">
            <a:extLst>
              <a:ext uri="{FF2B5EF4-FFF2-40B4-BE49-F238E27FC236}">
                <a16:creationId xmlns:a16="http://schemas.microsoft.com/office/drawing/2014/main" id="{582B0EED-FC08-96D2-94C8-32B1387987D0}"/>
              </a:ext>
            </a:extLst>
          </p:cNvPr>
          <p:cNvSpPr txBox="1"/>
          <p:nvPr/>
        </p:nvSpPr>
        <p:spPr>
          <a:xfrm>
            <a:off x="8107766" y="5182545"/>
            <a:ext cx="2961815" cy="923330"/>
          </a:xfrm>
          <a:prstGeom prst="rect">
            <a:avLst/>
          </a:prstGeom>
          <a:noFill/>
        </p:spPr>
        <p:txBody>
          <a:bodyPr wrap="square">
            <a:spAutoFit/>
          </a:bodyPr>
          <a:lstStyle/>
          <a:p>
            <a:r>
              <a:rPr lang="en-CA" dirty="0">
                <a:hlinkClick r:id="rId6"/>
              </a:rPr>
              <a:t>https://www.anthropic.com/news/model-context-protocol</a:t>
            </a:r>
            <a:endParaRPr lang="en-CA" dirty="0"/>
          </a:p>
          <a:p>
            <a:endParaRPr lang="en-CA" dirty="0"/>
          </a:p>
        </p:txBody>
      </p:sp>
      <p:sp>
        <p:nvSpPr>
          <p:cNvPr id="44" name="Text 4">
            <a:extLst>
              <a:ext uri="{FF2B5EF4-FFF2-40B4-BE49-F238E27FC236}">
                <a16:creationId xmlns:a16="http://schemas.microsoft.com/office/drawing/2014/main" id="{167C5714-7960-77DB-9B17-90891179D5EF}"/>
              </a:ext>
            </a:extLst>
          </p:cNvPr>
          <p:cNvSpPr/>
          <p:nvPr/>
        </p:nvSpPr>
        <p:spPr>
          <a:xfrm>
            <a:off x="609600" y="1462591"/>
            <a:ext cx="10485120" cy="487680"/>
          </a:xfrm>
          <a:prstGeom prst="rect">
            <a:avLst/>
          </a:prstGeom>
          <a:noFill/>
          <a:ln/>
        </p:spPr>
        <p:txBody>
          <a:bodyPr wrap="square" lIns="0" tIns="0" rIns="0" bIns="0" rtlCol="0" anchor="ctr"/>
          <a:lstStyle/>
          <a:p>
            <a:r>
              <a:rPr lang="en-US" sz="2000" b="1" dirty="0">
                <a:solidFill>
                  <a:srgbClr val="0C1752"/>
                </a:solidFill>
                <a:latin typeface="Trebuchet MS" pitchFamily="34" charset="0"/>
                <a:ea typeface="Trebuchet MS" pitchFamily="34" charset="-122"/>
                <a:cs typeface="Trebuchet MS" pitchFamily="34" charset="-120"/>
              </a:rPr>
              <a:t>Available Connectors</a:t>
            </a:r>
            <a:endParaRPr lang="en-US" sz="2000" dirty="0">
              <a:solidFill>
                <a:srgbClr val="0C1752"/>
              </a:solidFill>
            </a:endParaRPr>
          </a:p>
        </p:txBody>
      </p:sp>
      <p:sp>
        <p:nvSpPr>
          <p:cNvPr id="45" name="Shape 5">
            <a:extLst>
              <a:ext uri="{FF2B5EF4-FFF2-40B4-BE49-F238E27FC236}">
                <a16:creationId xmlns:a16="http://schemas.microsoft.com/office/drawing/2014/main" id="{102786C2-5F5B-5AAF-A1FF-FF64D6030D85}"/>
              </a:ext>
            </a:extLst>
          </p:cNvPr>
          <p:cNvSpPr/>
          <p:nvPr/>
        </p:nvSpPr>
        <p:spPr>
          <a:xfrm>
            <a:off x="60960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47" name="Text 7">
            <a:extLst>
              <a:ext uri="{FF2B5EF4-FFF2-40B4-BE49-F238E27FC236}">
                <a16:creationId xmlns:a16="http://schemas.microsoft.com/office/drawing/2014/main" id="{E7934320-2322-E298-6019-309CBDC93513}"/>
              </a:ext>
            </a:extLst>
          </p:cNvPr>
          <p:cNvSpPr/>
          <p:nvPr/>
        </p:nvSpPr>
        <p:spPr>
          <a:xfrm>
            <a:off x="79248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Google Drive</a:t>
            </a:r>
            <a:endParaRPr lang="en-US" sz="1600" dirty="0">
              <a:solidFill>
                <a:srgbClr val="0C1752"/>
              </a:solidFill>
              <a:latin typeface="Montserrat" panose="00000500000000000000" pitchFamily="2" charset="0"/>
            </a:endParaRPr>
          </a:p>
        </p:txBody>
      </p:sp>
      <p:sp>
        <p:nvSpPr>
          <p:cNvPr id="48" name="Shape 8">
            <a:extLst>
              <a:ext uri="{FF2B5EF4-FFF2-40B4-BE49-F238E27FC236}">
                <a16:creationId xmlns:a16="http://schemas.microsoft.com/office/drawing/2014/main" id="{A3B4CA99-B637-956D-ED0D-2289EF5D4DC9}"/>
              </a:ext>
            </a:extLst>
          </p:cNvPr>
          <p:cNvSpPr/>
          <p:nvPr/>
        </p:nvSpPr>
        <p:spPr>
          <a:xfrm>
            <a:off x="341376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0" name="Text 10">
            <a:extLst>
              <a:ext uri="{FF2B5EF4-FFF2-40B4-BE49-F238E27FC236}">
                <a16:creationId xmlns:a16="http://schemas.microsoft.com/office/drawing/2014/main" id="{1C23FD97-08CC-9EEC-86D5-83C0234BE811}"/>
              </a:ext>
            </a:extLst>
          </p:cNvPr>
          <p:cNvSpPr/>
          <p:nvPr/>
        </p:nvSpPr>
        <p:spPr>
          <a:xfrm>
            <a:off x="359664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Google Calendar</a:t>
            </a:r>
            <a:endParaRPr lang="en-US" sz="1600" dirty="0">
              <a:solidFill>
                <a:srgbClr val="0C1752"/>
              </a:solidFill>
              <a:latin typeface="Montserrat" panose="00000500000000000000" pitchFamily="2" charset="0"/>
            </a:endParaRPr>
          </a:p>
        </p:txBody>
      </p:sp>
      <p:sp>
        <p:nvSpPr>
          <p:cNvPr id="51" name="Shape 11">
            <a:extLst>
              <a:ext uri="{FF2B5EF4-FFF2-40B4-BE49-F238E27FC236}">
                <a16:creationId xmlns:a16="http://schemas.microsoft.com/office/drawing/2014/main" id="{CD6A8729-7AC4-DA72-40EB-29894FEACA0F}"/>
              </a:ext>
            </a:extLst>
          </p:cNvPr>
          <p:cNvSpPr/>
          <p:nvPr/>
        </p:nvSpPr>
        <p:spPr>
          <a:xfrm>
            <a:off x="621792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3" name="Text 13">
            <a:extLst>
              <a:ext uri="{FF2B5EF4-FFF2-40B4-BE49-F238E27FC236}">
                <a16:creationId xmlns:a16="http://schemas.microsoft.com/office/drawing/2014/main" id="{2957D29F-9D04-2B38-2038-A60F63A6B6C7}"/>
              </a:ext>
            </a:extLst>
          </p:cNvPr>
          <p:cNvSpPr/>
          <p:nvPr/>
        </p:nvSpPr>
        <p:spPr>
          <a:xfrm>
            <a:off x="640080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Gmail</a:t>
            </a:r>
            <a:endParaRPr lang="en-US" sz="1600" dirty="0">
              <a:solidFill>
                <a:srgbClr val="0C1752"/>
              </a:solidFill>
              <a:latin typeface="Montserrat" panose="00000500000000000000" pitchFamily="2" charset="0"/>
            </a:endParaRPr>
          </a:p>
        </p:txBody>
      </p:sp>
      <p:sp>
        <p:nvSpPr>
          <p:cNvPr id="54" name="Shape 14">
            <a:extLst>
              <a:ext uri="{FF2B5EF4-FFF2-40B4-BE49-F238E27FC236}">
                <a16:creationId xmlns:a16="http://schemas.microsoft.com/office/drawing/2014/main" id="{DD8B2AB6-126C-B7E6-9A0A-006AD3F20EBB}"/>
              </a:ext>
            </a:extLst>
          </p:cNvPr>
          <p:cNvSpPr/>
          <p:nvPr/>
        </p:nvSpPr>
        <p:spPr>
          <a:xfrm>
            <a:off x="902208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6" name="Text 16">
            <a:extLst>
              <a:ext uri="{FF2B5EF4-FFF2-40B4-BE49-F238E27FC236}">
                <a16:creationId xmlns:a16="http://schemas.microsoft.com/office/drawing/2014/main" id="{3BA4A6A2-2BE0-2C45-354C-0040F1442E9B}"/>
              </a:ext>
            </a:extLst>
          </p:cNvPr>
          <p:cNvSpPr/>
          <p:nvPr/>
        </p:nvSpPr>
        <p:spPr>
          <a:xfrm>
            <a:off x="920496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Slack</a:t>
            </a:r>
            <a:endParaRPr lang="en-US" sz="1600" dirty="0">
              <a:solidFill>
                <a:srgbClr val="0C1752"/>
              </a:solidFill>
              <a:latin typeface="Montserrat" panose="00000500000000000000" pitchFamily="2" charset="0"/>
            </a:endParaRPr>
          </a:p>
        </p:txBody>
      </p:sp>
      <p:sp>
        <p:nvSpPr>
          <p:cNvPr id="57" name="Shape 17">
            <a:extLst>
              <a:ext uri="{FF2B5EF4-FFF2-40B4-BE49-F238E27FC236}">
                <a16:creationId xmlns:a16="http://schemas.microsoft.com/office/drawing/2014/main" id="{186065FE-2C27-B11E-95FA-E8ED55E1F259}"/>
              </a:ext>
            </a:extLst>
          </p:cNvPr>
          <p:cNvSpPr/>
          <p:nvPr/>
        </p:nvSpPr>
        <p:spPr>
          <a:xfrm>
            <a:off x="60960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9" name="Text 19">
            <a:extLst>
              <a:ext uri="{FF2B5EF4-FFF2-40B4-BE49-F238E27FC236}">
                <a16:creationId xmlns:a16="http://schemas.microsoft.com/office/drawing/2014/main" id="{C1B53E22-4ECE-6DB4-9D3B-32B0D8C44051}"/>
              </a:ext>
            </a:extLst>
          </p:cNvPr>
          <p:cNvSpPr/>
          <p:nvPr/>
        </p:nvSpPr>
        <p:spPr>
          <a:xfrm>
            <a:off x="79248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DocuSign</a:t>
            </a:r>
            <a:endParaRPr lang="en-US" sz="1600" dirty="0">
              <a:solidFill>
                <a:srgbClr val="0C1752"/>
              </a:solidFill>
              <a:latin typeface="Montserrat" panose="00000500000000000000" pitchFamily="2" charset="0"/>
            </a:endParaRPr>
          </a:p>
        </p:txBody>
      </p:sp>
      <p:sp>
        <p:nvSpPr>
          <p:cNvPr id="60" name="Shape 20">
            <a:extLst>
              <a:ext uri="{FF2B5EF4-FFF2-40B4-BE49-F238E27FC236}">
                <a16:creationId xmlns:a16="http://schemas.microsoft.com/office/drawing/2014/main" id="{BECB73F4-6C2C-6147-F42D-EA13A52B1D38}"/>
              </a:ext>
            </a:extLst>
          </p:cNvPr>
          <p:cNvSpPr/>
          <p:nvPr/>
        </p:nvSpPr>
        <p:spPr>
          <a:xfrm>
            <a:off x="341376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2" name="Text 22">
            <a:extLst>
              <a:ext uri="{FF2B5EF4-FFF2-40B4-BE49-F238E27FC236}">
                <a16:creationId xmlns:a16="http://schemas.microsoft.com/office/drawing/2014/main" id="{2511567D-A2DB-2362-D6D9-352D04425C65}"/>
              </a:ext>
            </a:extLst>
          </p:cNvPr>
          <p:cNvSpPr/>
          <p:nvPr/>
        </p:nvSpPr>
        <p:spPr>
          <a:xfrm>
            <a:off x="359664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Salesforce</a:t>
            </a:r>
            <a:endParaRPr lang="en-US" sz="1600" dirty="0">
              <a:solidFill>
                <a:srgbClr val="0C1752"/>
              </a:solidFill>
              <a:latin typeface="Montserrat" panose="00000500000000000000" pitchFamily="2" charset="0"/>
            </a:endParaRPr>
          </a:p>
        </p:txBody>
      </p:sp>
      <p:sp>
        <p:nvSpPr>
          <p:cNvPr id="63" name="Shape 23">
            <a:extLst>
              <a:ext uri="{FF2B5EF4-FFF2-40B4-BE49-F238E27FC236}">
                <a16:creationId xmlns:a16="http://schemas.microsoft.com/office/drawing/2014/main" id="{8DD4055F-5DF5-0E10-3B44-B1E1613169C4}"/>
              </a:ext>
            </a:extLst>
          </p:cNvPr>
          <p:cNvSpPr/>
          <p:nvPr/>
        </p:nvSpPr>
        <p:spPr>
          <a:xfrm>
            <a:off x="621792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5" name="Text 25">
            <a:extLst>
              <a:ext uri="{FF2B5EF4-FFF2-40B4-BE49-F238E27FC236}">
                <a16:creationId xmlns:a16="http://schemas.microsoft.com/office/drawing/2014/main" id="{68D1C8E3-EFB4-79AA-88B2-6C80FB5B7F12}"/>
              </a:ext>
            </a:extLst>
          </p:cNvPr>
          <p:cNvSpPr/>
          <p:nvPr/>
        </p:nvSpPr>
        <p:spPr>
          <a:xfrm>
            <a:off x="640080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FactSet</a:t>
            </a:r>
            <a:endParaRPr lang="en-US" sz="1600" dirty="0">
              <a:solidFill>
                <a:srgbClr val="0C1752"/>
              </a:solidFill>
              <a:latin typeface="Montserrat" panose="00000500000000000000" pitchFamily="2" charset="0"/>
            </a:endParaRPr>
          </a:p>
        </p:txBody>
      </p:sp>
      <p:sp>
        <p:nvSpPr>
          <p:cNvPr id="66" name="Shape 26">
            <a:extLst>
              <a:ext uri="{FF2B5EF4-FFF2-40B4-BE49-F238E27FC236}">
                <a16:creationId xmlns:a16="http://schemas.microsoft.com/office/drawing/2014/main" id="{A6E7C4E5-FA80-24C4-07B7-A088586A710D}"/>
              </a:ext>
            </a:extLst>
          </p:cNvPr>
          <p:cNvSpPr/>
          <p:nvPr/>
        </p:nvSpPr>
        <p:spPr>
          <a:xfrm>
            <a:off x="902208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8" name="Text 28">
            <a:extLst>
              <a:ext uri="{FF2B5EF4-FFF2-40B4-BE49-F238E27FC236}">
                <a16:creationId xmlns:a16="http://schemas.microsoft.com/office/drawing/2014/main" id="{A91104C0-9F45-D31E-225E-DCF0F8266C7D}"/>
              </a:ext>
            </a:extLst>
          </p:cNvPr>
          <p:cNvSpPr/>
          <p:nvPr/>
        </p:nvSpPr>
        <p:spPr>
          <a:xfrm>
            <a:off x="920496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WordPress</a:t>
            </a:r>
            <a:endParaRPr lang="en-US" sz="1600" dirty="0">
              <a:solidFill>
                <a:srgbClr val="0C1752"/>
              </a:solidFill>
              <a:latin typeface="Montserrat" panose="00000500000000000000" pitchFamily="2" charset="0"/>
            </a:endParaRPr>
          </a:p>
        </p:txBody>
      </p:sp>
      <p:sp>
        <p:nvSpPr>
          <p:cNvPr id="69" name="Shape 29">
            <a:extLst>
              <a:ext uri="{FF2B5EF4-FFF2-40B4-BE49-F238E27FC236}">
                <a16:creationId xmlns:a16="http://schemas.microsoft.com/office/drawing/2014/main" id="{318084F5-1E9B-EA0C-AFAD-18E4DA180EAE}"/>
              </a:ext>
            </a:extLst>
          </p:cNvPr>
          <p:cNvSpPr/>
          <p:nvPr/>
        </p:nvSpPr>
        <p:spPr>
          <a:xfrm>
            <a:off x="60960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1" name="Text 31">
            <a:extLst>
              <a:ext uri="{FF2B5EF4-FFF2-40B4-BE49-F238E27FC236}">
                <a16:creationId xmlns:a16="http://schemas.microsoft.com/office/drawing/2014/main" id="{851BB654-77AE-DC52-FAF4-E398C02274AB}"/>
              </a:ext>
            </a:extLst>
          </p:cNvPr>
          <p:cNvSpPr/>
          <p:nvPr/>
        </p:nvSpPr>
        <p:spPr>
          <a:xfrm>
            <a:off x="79248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Apollo</a:t>
            </a:r>
            <a:endParaRPr lang="en-US" sz="1600" dirty="0">
              <a:solidFill>
                <a:srgbClr val="0C1752"/>
              </a:solidFill>
              <a:latin typeface="Montserrat" panose="00000500000000000000" pitchFamily="2" charset="0"/>
            </a:endParaRPr>
          </a:p>
        </p:txBody>
      </p:sp>
      <p:sp>
        <p:nvSpPr>
          <p:cNvPr id="72" name="Shape 32">
            <a:extLst>
              <a:ext uri="{FF2B5EF4-FFF2-40B4-BE49-F238E27FC236}">
                <a16:creationId xmlns:a16="http://schemas.microsoft.com/office/drawing/2014/main" id="{FFDF7D6E-0627-D2CF-DB18-207308A60055}"/>
              </a:ext>
            </a:extLst>
          </p:cNvPr>
          <p:cNvSpPr/>
          <p:nvPr/>
        </p:nvSpPr>
        <p:spPr>
          <a:xfrm>
            <a:off x="341376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4" name="Text 34">
            <a:extLst>
              <a:ext uri="{FF2B5EF4-FFF2-40B4-BE49-F238E27FC236}">
                <a16:creationId xmlns:a16="http://schemas.microsoft.com/office/drawing/2014/main" id="{A54207F2-84DD-A4F8-5EF6-9473B17CFCBB}"/>
              </a:ext>
            </a:extLst>
          </p:cNvPr>
          <p:cNvSpPr/>
          <p:nvPr/>
        </p:nvSpPr>
        <p:spPr>
          <a:xfrm>
            <a:off x="359664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Clay</a:t>
            </a:r>
            <a:endParaRPr lang="en-US" sz="1600" dirty="0">
              <a:solidFill>
                <a:srgbClr val="0C1752"/>
              </a:solidFill>
              <a:latin typeface="Montserrat" panose="00000500000000000000" pitchFamily="2" charset="0"/>
            </a:endParaRPr>
          </a:p>
        </p:txBody>
      </p:sp>
      <p:sp>
        <p:nvSpPr>
          <p:cNvPr id="75" name="Shape 35">
            <a:extLst>
              <a:ext uri="{FF2B5EF4-FFF2-40B4-BE49-F238E27FC236}">
                <a16:creationId xmlns:a16="http://schemas.microsoft.com/office/drawing/2014/main" id="{17BA5460-B372-0967-36A5-F5F8D0F3B19A}"/>
              </a:ext>
            </a:extLst>
          </p:cNvPr>
          <p:cNvSpPr/>
          <p:nvPr/>
        </p:nvSpPr>
        <p:spPr>
          <a:xfrm>
            <a:off x="621792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7" name="Text 37">
            <a:extLst>
              <a:ext uri="{FF2B5EF4-FFF2-40B4-BE49-F238E27FC236}">
                <a16:creationId xmlns:a16="http://schemas.microsoft.com/office/drawing/2014/main" id="{21E4FA50-6BE2-7EE6-3726-706AE7464A6A}"/>
              </a:ext>
            </a:extLst>
          </p:cNvPr>
          <p:cNvSpPr/>
          <p:nvPr/>
        </p:nvSpPr>
        <p:spPr>
          <a:xfrm>
            <a:off x="640080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Outreach</a:t>
            </a:r>
            <a:endParaRPr lang="en-US" sz="1600" dirty="0">
              <a:solidFill>
                <a:srgbClr val="0C1752"/>
              </a:solidFill>
              <a:latin typeface="Montserrat" panose="00000500000000000000" pitchFamily="2" charset="0"/>
            </a:endParaRPr>
          </a:p>
        </p:txBody>
      </p:sp>
      <p:sp>
        <p:nvSpPr>
          <p:cNvPr id="78" name="Shape 38">
            <a:extLst>
              <a:ext uri="{FF2B5EF4-FFF2-40B4-BE49-F238E27FC236}">
                <a16:creationId xmlns:a16="http://schemas.microsoft.com/office/drawing/2014/main" id="{748F7040-B389-081D-EB47-B07B6ED96A82}"/>
              </a:ext>
            </a:extLst>
          </p:cNvPr>
          <p:cNvSpPr/>
          <p:nvPr/>
        </p:nvSpPr>
        <p:spPr>
          <a:xfrm>
            <a:off x="902208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80" name="Text 40">
            <a:extLst>
              <a:ext uri="{FF2B5EF4-FFF2-40B4-BE49-F238E27FC236}">
                <a16:creationId xmlns:a16="http://schemas.microsoft.com/office/drawing/2014/main" id="{4CA28F90-3C92-C6B0-68F5-C132D6099344}"/>
              </a:ext>
            </a:extLst>
          </p:cNvPr>
          <p:cNvSpPr/>
          <p:nvPr/>
        </p:nvSpPr>
        <p:spPr>
          <a:xfrm>
            <a:off x="920496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SimilarWeb</a:t>
            </a:r>
            <a:endParaRPr lang="en-US" sz="1600" dirty="0">
              <a:solidFill>
                <a:srgbClr val="0C1752"/>
              </a:solidFill>
              <a:latin typeface="Montserrat" panose="00000500000000000000" pitchFamily="2" charset="0"/>
            </a:endParaRPr>
          </a:p>
        </p:txBody>
      </p:sp>
      <p:sp>
        <p:nvSpPr>
          <p:cNvPr id="85" name="TextBox 84">
            <a:extLst>
              <a:ext uri="{FF2B5EF4-FFF2-40B4-BE49-F238E27FC236}">
                <a16:creationId xmlns:a16="http://schemas.microsoft.com/office/drawing/2014/main" id="{4DA7E8EB-AFD2-24E9-9307-151CDD65DD25}"/>
              </a:ext>
            </a:extLst>
          </p:cNvPr>
          <p:cNvSpPr txBox="1"/>
          <p:nvPr/>
        </p:nvSpPr>
        <p:spPr>
          <a:xfrm>
            <a:off x="205739" y="763236"/>
            <a:ext cx="11538585" cy="64633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Connectors let Claude pull from external systems; e.g., analyze a Google Sheet, then move a chart directly into a PowerPoint deck.</a:t>
            </a:r>
            <a:endParaRPr lang="en-US" sz="1800" dirty="0">
              <a:latin typeface="Montserrat" panose="000005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500"/>
                                        <p:tgtEl>
                                          <p:spTgt spid="4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500"/>
                                        <p:tgtEl>
                                          <p:spTgt spid="4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500"/>
                                        <p:tgtEl>
                                          <p:spTgt spid="5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500"/>
                                        <p:tgtEl>
                                          <p:spTgt spid="5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fade">
                                      <p:cBhvr>
                                        <p:cTn id="36" dur="500"/>
                                        <p:tgtEl>
                                          <p:spTgt spid="5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fade">
                                      <p:cBhvr>
                                        <p:cTn id="39" dur="500"/>
                                        <p:tgtEl>
                                          <p:spTgt spid="5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fade">
                                      <p:cBhvr>
                                        <p:cTn id="42" dur="500"/>
                                        <p:tgtEl>
                                          <p:spTgt spid="5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animEffect transition="in" filter="fade">
                                      <p:cBhvr>
                                        <p:cTn id="45" dur="500"/>
                                        <p:tgtEl>
                                          <p:spTgt spid="6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fade">
                                      <p:cBhvr>
                                        <p:cTn id="48" dur="500"/>
                                        <p:tgtEl>
                                          <p:spTgt spid="6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5"/>
                                        </p:tgtEl>
                                        <p:attrNameLst>
                                          <p:attrName>style.visibility</p:attrName>
                                        </p:attrNameLst>
                                      </p:cBhvr>
                                      <p:to>
                                        <p:strVal val="visible"/>
                                      </p:to>
                                    </p:set>
                                    <p:animEffect transition="in" filter="fade">
                                      <p:cBhvr>
                                        <p:cTn id="54" dur="500"/>
                                        <p:tgtEl>
                                          <p:spTgt spid="6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animEffect transition="in" filter="fade">
                                      <p:cBhvr>
                                        <p:cTn id="57" dur="500"/>
                                        <p:tgtEl>
                                          <p:spTgt spid="6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500"/>
                                        <p:tgtEl>
                                          <p:spTgt spid="6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fade">
                                      <p:cBhvr>
                                        <p:cTn id="63" dur="500"/>
                                        <p:tgtEl>
                                          <p:spTgt spid="6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1"/>
                                        </p:tgtEl>
                                        <p:attrNameLst>
                                          <p:attrName>style.visibility</p:attrName>
                                        </p:attrNameLst>
                                      </p:cBhvr>
                                      <p:to>
                                        <p:strVal val="visible"/>
                                      </p:to>
                                    </p:set>
                                    <p:animEffect transition="in" filter="fade">
                                      <p:cBhvr>
                                        <p:cTn id="66" dur="500"/>
                                        <p:tgtEl>
                                          <p:spTgt spid="7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animEffect transition="in" filter="fade">
                                      <p:cBhvr>
                                        <p:cTn id="69" dur="500"/>
                                        <p:tgtEl>
                                          <p:spTgt spid="7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fade">
                                      <p:cBhvr>
                                        <p:cTn id="72" dur="500"/>
                                        <p:tgtEl>
                                          <p:spTgt spid="7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500"/>
                                        <p:tgtEl>
                                          <p:spTgt spid="7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78"/>
                                        </p:tgtEl>
                                        <p:attrNameLst>
                                          <p:attrName>style.visibility</p:attrName>
                                        </p:attrNameLst>
                                      </p:cBhvr>
                                      <p:to>
                                        <p:strVal val="visible"/>
                                      </p:to>
                                    </p:set>
                                    <p:animEffect transition="in" filter="fade">
                                      <p:cBhvr>
                                        <p:cTn id="81" dur="500"/>
                                        <p:tgtEl>
                                          <p:spTgt spid="7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80"/>
                                        </p:tgtEl>
                                        <p:attrNameLst>
                                          <p:attrName>style.visibility</p:attrName>
                                        </p:attrNameLst>
                                      </p:cBhvr>
                                      <p:to>
                                        <p:strVal val="visible"/>
                                      </p:to>
                                    </p:set>
                                    <p:animEffect transition="in" filter="fade">
                                      <p:cBhvr>
                                        <p:cTn id="84" dur="500"/>
                                        <p:tgtEl>
                                          <p:spTgt spid="8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fade">
                                      <p:cBhvr>
                                        <p:cTn id="89" dur="500"/>
                                        <p:tgtEl>
                                          <p:spTgt spid="9"/>
                                        </p:tgtEl>
                                      </p:cBhvr>
                                    </p:animEffect>
                                  </p:childTnLst>
                                </p:cTn>
                              </p:par>
                              <p:par>
                                <p:cTn id="90" presetID="10" presetClass="entr" presetSubtype="0" fill="hold" nodeType="with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fade">
                                      <p:cBhvr>
                                        <p:cTn id="9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4" grpId="0" animBg="1"/>
      <p:bldP spid="45" grpId="0" animBg="1"/>
      <p:bldP spid="47" grpId="0" animBg="1"/>
      <p:bldP spid="48" grpId="0" animBg="1"/>
      <p:bldP spid="50" grpId="0" animBg="1"/>
      <p:bldP spid="51" grpId="0" animBg="1"/>
      <p:bldP spid="53" grpId="0" animBg="1"/>
      <p:bldP spid="54" grpId="0" animBg="1"/>
      <p:bldP spid="56" grpId="0" animBg="1"/>
      <p:bldP spid="57" grpId="0" animBg="1"/>
      <p:bldP spid="59" grpId="0" animBg="1"/>
      <p:bldP spid="60" grpId="0" animBg="1"/>
      <p:bldP spid="62" grpId="0" animBg="1"/>
      <p:bldP spid="63" grpId="0" animBg="1"/>
      <p:bldP spid="65" grpId="0" animBg="1"/>
      <p:bldP spid="66" grpId="0" animBg="1"/>
      <p:bldP spid="68" grpId="0" animBg="1"/>
      <p:bldP spid="69" grpId="0" animBg="1"/>
      <p:bldP spid="71" grpId="0" animBg="1"/>
      <p:bldP spid="72" grpId="0" animBg="1"/>
      <p:bldP spid="74" grpId="0" animBg="1"/>
      <p:bldP spid="75" grpId="0" animBg="1"/>
      <p:bldP spid="77" grpId="0" animBg="1"/>
      <p:bldP spid="78" grpId="0" animBg="1"/>
      <p:bldP spid="80" grpId="0" animBg="1"/>
      <p:bldP spid="8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2" name="Google Shape;112;p5">
            <a:extLst>
              <a:ext uri="{FF2B5EF4-FFF2-40B4-BE49-F238E27FC236}">
                <a16:creationId xmlns:a16="http://schemas.microsoft.com/office/drawing/2014/main" id="{7FB99E83-5B1A-2A31-3096-0AEE80EC89D3}"/>
              </a:ext>
            </a:extLst>
          </p:cNvPr>
          <p:cNvPicPr preferRelativeResize="0"/>
          <p:nvPr/>
        </p:nvPicPr>
        <p:blipFill rotWithShape="1">
          <a:blip r:embed="rId3">
            <a:alphaModFix/>
          </a:blip>
          <a:srcRect b="85225"/>
          <a:stretch/>
        </p:blipFill>
        <p:spPr>
          <a:xfrm>
            <a:off x="-3571" y="0"/>
            <a:ext cx="12224773" cy="1013288"/>
          </a:xfrm>
          <a:prstGeom prst="rect">
            <a:avLst/>
          </a:prstGeom>
          <a:noFill/>
          <a:ln>
            <a:noFill/>
          </a:ln>
        </p:spPr>
      </p:pic>
      <p:pic>
        <p:nvPicPr>
          <p:cNvPr id="95" name="Google Shape;95;p2"/>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96" name="Google Shape;96;p2"/>
          <p:cNvSpPr/>
          <p:nvPr/>
        </p:nvSpPr>
        <p:spPr>
          <a:xfrm>
            <a:off x="154722" y="90489"/>
            <a:ext cx="982749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sym typeface="Montserrat"/>
              </a:rPr>
              <a:t>Real-world MCP Application</a:t>
            </a:r>
            <a:endParaRPr dirty="0"/>
          </a:p>
        </p:txBody>
      </p:sp>
      <p:sp>
        <p:nvSpPr>
          <p:cNvPr id="97" name="Google Shape;97;p2"/>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98" name="Google Shape;98;p2"/>
          <p:cNvSpPr txBox="1"/>
          <p:nvPr/>
        </p:nvSpPr>
        <p:spPr>
          <a:xfrm>
            <a:off x="206400" y="809050"/>
            <a:ext cx="11985600" cy="1469950"/>
          </a:xfrm>
          <a:prstGeom prst="rect">
            <a:avLst/>
          </a:prstGeom>
          <a:noFill/>
          <a:ln>
            <a:noFill/>
          </a:ln>
        </p:spPr>
        <p:txBody>
          <a:bodyPr spcFirstLastPara="1" wrap="square" lIns="91425" tIns="45700" rIns="91425" bIns="45700" anchor="t" anchorCtr="0">
            <a:normAutofit/>
          </a:bodyPr>
          <a:lstStyle/>
          <a:p>
            <a:pPr marL="228600" lvl="0" indent="-228600">
              <a:lnSpc>
                <a:spcPct val="90000"/>
              </a:lnSpc>
              <a:buClr>
                <a:srgbClr val="1BBFD1"/>
              </a:buClr>
              <a:buSzPts val="1800"/>
              <a:buFont typeface="Arial"/>
              <a:buChar char="•"/>
            </a:pPr>
            <a:r>
              <a:rPr lang="en-US" sz="1800" dirty="0">
                <a:solidFill>
                  <a:schemeClr val="dk1"/>
                </a:solidFill>
                <a:latin typeface="Montserrat"/>
                <a:ea typeface="Montserrat"/>
                <a:cs typeface="Montserrat"/>
                <a:sym typeface="Montserrat"/>
              </a:rPr>
              <a:t>Assume we have a simple AI agent that utilizes</a:t>
            </a:r>
            <a:r>
              <a:rPr lang="en-CA" sz="1800" dirty="0">
                <a:solidFill>
                  <a:schemeClr val="dk1"/>
                </a:solidFill>
                <a:latin typeface="Montserrat"/>
                <a:ea typeface="Montserrat"/>
                <a:cs typeface="Montserrat"/>
                <a:sym typeface="Montserrat"/>
              </a:rPr>
              <a:t> a currency conversion tool.</a:t>
            </a:r>
          </a:p>
          <a:p>
            <a:pPr marL="228600" marR="0" lvl="0" indent="-228600" algn="l" rtl="0">
              <a:lnSpc>
                <a:spcPct val="90000"/>
              </a:lnSpc>
              <a:spcBef>
                <a:spcPts val="0"/>
              </a:spcBef>
              <a:spcAft>
                <a:spcPts val="0"/>
              </a:spcAft>
              <a:buClr>
                <a:srgbClr val="1BBFD1"/>
              </a:buClr>
              <a:buSzPts val="1800"/>
              <a:buFont typeface="Arial"/>
              <a:buChar char="•"/>
            </a:pPr>
            <a:r>
              <a:rPr lang="en-US" sz="1800" dirty="0">
                <a:solidFill>
                  <a:schemeClr val="dk1"/>
                </a:solidFill>
                <a:latin typeface="Montserrat"/>
                <a:ea typeface="Montserrat"/>
                <a:cs typeface="Montserrat"/>
                <a:sym typeface="Montserrat"/>
              </a:rPr>
              <a:t>The agent will use Model Context Protocol (MCP), which is a standardized protocol that connects LLMs and AI agents to various external tools and data sources.</a:t>
            </a:r>
          </a:p>
          <a:p>
            <a:pPr marL="457200" marR="0" lvl="0" indent="0" algn="l" rtl="0">
              <a:lnSpc>
                <a:spcPct val="90000"/>
              </a:lnSpc>
              <a:spcBef>
                <a:spcPts val="0"/>
              </a:spcBef>
              <a:spcAft>
                <a:spcPts val="0"/>
              </a:spcAft>
              <a:buNone/>
            </a:pPr>
            <a:endParaRPr sz="1800" dirty="0">
              <a:solidFill>
                <a:schemeClr val="dk1"/>
              </a:solidFill>
              <a:latin typeface="Montserrat"/>
              <a:ea typeface="Montserrat"/>
              <a:cs typeface="Montserrat"/>
              <a:sym typeface="Montserrat"/>
            </a:endParaRPr>
          </a:p>
        </p:txBody>
      </p:sp>
      <p:cxnSp>
        <p:nvCxnSpPr>
          <p:cNvPr id="7" name="Straight Arrow Connector 6">
            <a:extLst>
              <a:ext uri="{FF2B5EF4-FFF2-40B4-BE49-F238E27FC236}">
                <a16:creationId xmlns:a16="http://schemas.microsoft.com/office/drawing/2014/main" id="{0ED87BBE-30AB-0AEB-7E0F-0831C1EBB9FE}"/>
              </a:ext>
            </a:extLst>
          </p:cNvPr>
          <p:cNvCxnSpPr>
            <a:cxnSpLocks/>
          </p:cNvCxnSpPr>
          <p:nvPr/>
        </p:nvCxnSpPr>
        <p:spPr>
          <a:xfrm>
            <a:off x="1734129" y="3700254"/>
            <a:ext cx="1651617" cy="0"/>
          </a:xfrm>
          <a:prstGeom prst="straightConnector1">
            <a:avLst/>
          </a:prstGeom>
          <a:ln w="57150">
            <a:solidFill>
              <a:schemeClr val="accent2">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DE225FE-2AC8-7CD9-5D74-0D4BEED8ED9B}"/>
              </a:ext>
            </a:extLst>
          </p:cNvPr>
          <p:cNvCxnSpPr>
            <a:cxnSpLocks/>
          </p:cNvCxnSpPr>
          <p:nvPr/>
        </p:nvCxnSpPr>
        <p:spPr>
          <a:xfrm>
            <a:off x="7276456" y="3809054"/>
            <a:ext cx="1111927" cy="0"/>
          </a:xfrm>
          <a:prstGeom prst="straightConnector1">
            <a:avLst/>
          </a:prstGeom>
          <a:ln w="57150">
            <a:solidFill>
              <a:schemeClr val="accent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9AE3D92F-00C6-36CC-C487-20620062D434}"/>
              </a:ext>
            </a:extLst>
          </p:cNvPr>
          <p:cNvGrpSpPr/>
          <p:nvPr/>
        </p:nvGrpSpPr>
        <p:grpSpPr>
          <a:xfrm>
            <a:off x="8480010" y="2382152"/>
            <a:ext cx="2428308" cy="2537259"/>
            <a:chOff x="7978100" y="1778923"/>
            <a:chExt cx="3449782" cy="2537259"/>
          </a:xfrm>
          <a:solidFill>
            <a:srgbClr val="002060"/>
          </a:solidFill>
        </p:grpSpPr>
        <p:sp>
          <p:nvSpPr>
            <p:cNvPr id="3" name="Rectangle: Rounded Corners 2">
              <a:extLst>
                <a:ext uri="{FF2B5EF4-FFF2-40B4-BE49-F238E27FC236}">
                  <a16:creationId xmlns:a16="http://schemas.microsoft.com/office/drawing/2014/main" id="{CA831B43-C17C-15C1-E859-DF02DDF3D460}"/>
                </a:ext>
              </a:extLst>
            </p:cNvPr>
            <p:cNvSpPr/>
            <p:nvPr/>
          </p:nvSpPr>
          <p:spPr>
            <a:xfrm>
              <a:off x="7978100" y="1778923"/>
              <a:ext cx="3449782" cy="2537259"/>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Rounded Corners 17">
              <a:extLst>
                <a:ext uri="{FF2B5EF4-FFF2-40B4-BE49-F238E27FC236}">
                  <a16:creationId xmlns:a16="http://schemas.microsoft.com/office/drawing/2014/main" id="{A1B9C8B9-88F6-6DCA-BA21-65C95FCFFE6D}"/>
                </a:ext>
              </a:extLst>
            </p:cNvPr>
            <p:cNvSpPr/>
            <p:nvPr/>
          </p:nvSpPr>
          <p:spPr>
            <a:xfrm>
              <a:off x="8557124" y="2575590"/>
              <a:ext cx="2223653" cy="714894"/>
            </a:xfrm>
            <a:prstGeom prst="roundRect">
              <a:avLst/>
            </a:prstGeom>
            <a:grp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600" kern="1200" dirty="0">
                  <a:solidFill>
                    <a:srgbClr val="FFFFFF"/>
                  </a:solidFill>
                  <a:latin typeface="Montserrat" panose="00000500000000000000" pitchFamily="2" charset="0"/>
                  <a:cs typeface="Mongolian Baiti" panose="03000500000000000000" pitchFamily="66" charset="0"/>
                </a:rPr>
                <a:t>Currency Convertor Tool </a:t>
              </a:r>
            </a:p>
          </p:txBody>
        </p:sp>
      </p:grpSp>
      <p:pic>
        <p:nvPicPr>
          <p:cNvPr id="27" name="Graphic 26" descr="User outline">
            <a:extLst>
              <a:ext uri="{FF2B5EF4-FFF2-40B4-BE49-F238E27FC236}">
                <a16:creationId xmlns:a16="http://schemas.microsoft.com/office/drawing/2014/main" id="{50171560-E6AE-39C3-5F06-32D148030D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316" y="3085876"/>
            <a:ext cx="1235813" cy="1235813"/>
          </a:xfrm>
          <a:prstGeom prst="rect">
            <a:avLst/>
          </a:prstGeom>
        </p:spPr>
      </p:pic>
      <p:sp>
        <p:nvSpPr>
          <p:cNvPr id="28" name="TextBox 27">
            <a:extLst>
              <a:ext uri="{FF2B5EF4-FFF2-40B4-BE49-F238E27FC236}">
                <a16:creationId xmlns:a16="http://schemas.microsoft.com/office/drawing/2014/main" id="{454A7541-7655-A46D-07A6-2AF5BD505CE6}"/>
              </a:ext>
            </a:extLst>
          </p:cNvPr>
          <p:cNvSpPr txBox="1"/>
          <p:nvPr/>
        </p:nvSpPr>
        <p:spPr>
          <a:xfrm>
            <a:off x="1529016" y="2871311"/>
            <a:ext cx="2165344" cy="646331"/>
          </a:xfrm>
          <a:prstGeom prst="rect">
            <a:avLst/>
          </a:prstGeom>
          <a:noFill/>
        </p:spPr>
        <p:txBody>
          <a:bodyPr wrap="square" rtlCol="0">
            <a:spAutoFit/>
          </a:bodyPr>
          <a:lstStyle/>
          <a:p>
            <a:pPr algn="ctr"/>
            <a:r>
              <a:rPr lang="en-CA" sz="1800" i="1" dirty="0">
                <a:latin typeface="Montserrat" panose="00000500000000000000" pitchFamily="2" charset="0"/>
              </a:rPr>
              <a:t>What is $1000 USD in CAD?</a:t>
            </a:r>
          </a:p>
        </p:txBody>
      </p:sp>
      <p:sp>
        <p:nvSpPr>
          <p:cNvPr id="35" name="TextBox 34">
            <a:extLst>
              <a:ext uri="{FF2B5EF4-FFF2-40B4-BE49-F238E27FC236}">
                <a16:creationId xmlns:a16="http://schemas.microsoft.com/office/drawing/2014/main" id="{E298D9C0-E379-54A3-96D8-A9746273D364}"/>
              </a:ext>
            </a:extLst>
          </p:cNvPr>
          <p:cNvSpPr txBox="1"/>
          <p:nvPr/>
        </p:nvSpPr>
        <p:spPr>
          <a:xfrm>
            <a:off x="1182976" y="5396779"/>
            <a:ext cx="9791121" cy="646331"/>
          </a:xfrm>
          <a:prstGeom prst="rect">
            <a:avLst/>
          </a:prstGeom>
          <a:noFill/>
        </p:spPr>
        <p:txBody>
          <a:bodyPr wrap="square">
            <a:spAutoFit/>
          </a:bodyPr>
          <a:lstStyle/>
          <a:p>
            <a:pPr algn="ctr"/>
            <a:r>
              <a:rPr lang="en-CA" sz="1800" b="1" dirty="0">
                <a:latin typeface="Montserrat" panose="00000500000000000000" pitchFamily="2" charset="0"/>
              </a:rPr>
              <a:t>MCP is an open protocol designed to be a standard way for models to discover &amp; interact with tools. It’s like a universal plug adapter for AI tools!</a:t>
            </a:r>
          </a:p>
        </p:txBody>
      </p:sp>
      <p:cxnSp>
        <p:nvCxnSpPr>
          <p:cNvPr id="37" name="Connector: Curved 36">
            <a:extLst>
              <a:ext uri="{FF2B5EF4-FFF2-40B4-BE49-F238E27FC236}">
                <a16:creationId xmlns:a16="http://schemas.microsoft.com/office/drawing/2014/main" id="{C326CE9A-A744-0934-E9B3-969721933C64}"/>
              </a:ext>
            </a:extLst>
          </p:cNvPr>
          <p:cNvCxnSpPr>
            <a:cxnSpLocks/>
          </p:cNvCxnSpPr>
          <p:nvPr/>
        </p:nvCxnSpPr>
        <p:spPr>
          <a:xfrm rot="5400000">
            <a:off x="5209414" y="3750368"/>
            <a:ext cx="1200331" cy="1733870"/>
          </a:xfrm>
          <a:prstGeom prst="curvedConnector2">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1028" name="Picture 4">
            <a:extLst>
              <a:ext uri="{FF2B5EF4-FFF2-40B4-BE49-F238E27FC236}">
                <a16:creationId xmlns:a16="http://schemas.microsoft.com/office/drawing/2014/main" id="{419CDA84-6E67-EB99-DC71-0B76B9B2AF2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8708" t="4469"/>
          <a:stretch/>
        </p:blipFill>
        <p:spPr bwMode="auto">
          <a:xfrm>
            <a:off x="5657024" y="2359811"/>
            <a:ext cx="1245363" cy="1043810"/>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69086399-E66D-CC8E-782A-DD0975E73E0E}"/>
              </a:ext>
            </a:extLst>
          </p:cNvPr>
          <p:cNvSpPr txBox="1"/>
          <p:nvPr/>
        </p:nvSpPr>
        <p:spPr>
          <a:xfrm>
            <a:off x="8107943" y="1992803"/>
            <a:ext cx="3035100" cy="400110"/>
          </a:xfrm>
          <a:prstGeom prst="rect">
            <a:avLst/>
          </a:prstGeom>
          <a:noFill/>
        </p:spPr>
        <p:txBody>
          <a:bodyPr wrap="square">
            <a:spAutoFit/>
          </a:bodyPr>
          <a:lstStyle/>
          <a:p>
            <a:pPr algn="ctr"/>
            <a:r>
              <a:rPr lang="en-CA" sz="2000" b="1" dirty="0">
                <a:latin typeface="Montserrat" panose="00000500000000000000" pitchFamily="2" charset="0"/>
              </a:rPr>
              <a:t>MCP server</a:t>
            </a:r>
          </a:p>
        </p:txBody>
      </p:sp>
      <p:sp>
        <p:nvSpPr>
          <p:cNvPr id="4" name="TextBox 3">
            <a:extLst>
              <a:ext uri="{FF2B5EF4-FFF2-40B4-BE49-F238E27FC236}">
                <a16:creationId xmlns:a16="http://schemas.microsoft.com/office/drawing/2014/main" id="{5182F6D3-4E62-159F-C511-CEA2194AF9AD}"/>
              </a:ext>
            </a:extLst>
          </p:cNvPr>
          <p:cNvSpPr txBox="1"/>
          <p:nvPr/>
        </p:nvSpPr>
        <p:spPr>
          <a:xfrm>
            <a:off x="-406212" y="4209575"/>
            <a:ext cx="3035100" cy="400110"/>
          </a:xfrm>
          <a:prstGeom prst="rect">
            <a:avLst/>
          </a:prstGeom>
          <a:noFill/>
        </p:spPr>
        <p:txBody>
          <a:bodyPr wrap="square">
            <a:spAutoFit/>
          </a:bodyPr>
          <a:lstStyle/>
          <a:p>
            <a:pPr algn="ctr"/>
            <a:r>
              <a:rPr lang="en-CA" sz="2000" b="1" dirty="0">
                <a:latin typeface="Montserrat" panose="00000500000000000000" pitchFamily="2" charset="0"/>
              </a:rPr>
              <a:t>Client</a:t>
            </a:r>
          </a:p>
        </p:txBody>
      </p:sp>
      <p:cxnSp>
        <p:nvCxnSpPr>
          <p:cNvPr id="6" name="Straight Arrow Connector 5">
            <a:extLst>
              <a:ext uri="{FF2B5EF4-FFF2-40B4-BE49-F238E27FC236}">
                <a16:creationId xmlns:a16="http://schemas.microsoft.com/office/drawing/2014/main" id="{2459E0C4-12C4-BF92-4405-D5B3B38F00ED}"/>
              </a:ext>
            </a:extLst>
          </p:cNvPr>
          <p:cNvCxnSpPr>
            <a:cxnSpLocks/>
          </p:cNvCxnSpPr>
          <p:nvPr/>
        </p:nvCxnSpPr>
        <p:spPr>
          <a:xfrm>
            <a:off x="1734129" y="4049081"/>
            <a:ext cx="1577726" cy="0"/>
          </a:xfrm>
          <a:prstGeom prst="straightConnector1">
            <a:avLst/>
          </a:prstGeom>
          <a:ln w="57150">
            <a:solidFill>
              <a:schemeClr val="accent2">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B20A762-961C-BA06-5A2C-DA5A82D0BE43}"/>
              </a:ext>
            </a:extLst>
          </p:cNvPr>
          <p:cNvSpPr txBox="1"/>
          <p:nvPr/>
        </p:nvSpPr>
        <p:spPr>
          <a:xfrm>
            <a:off x="1563154" y="4137023"/>
            <a:ext cx="2165344" cy="369332"/>
          </a:xfrm>
          <a:prstGeom prst="rect">
            <a:avLst/>
          </a:prstGeom>
          <a:noFill/>
        </p:spPr>
        <p:txBody>
          <a:bodyPr wrap="square" rtlCol="0">
            <a:spAutoFit/>
          </a:bodyPr>
          <a:lstStyle/>
          <a:p>
            <a:pPr algn="ctr"/>
            <a:r>
              <a:rPr lang="en-CA" sz="1800" i="1" dirty="0">
                <a:latin typeface="Montserrat" panose="00000500000000000000" pitchFamily="2" charset="0"/>
              </a:rPr>
              <a:t>C$1,370</a:t>
            </a:r>
          </a:p>
        </p:txBody>
      </p:sp>
      <p:sp>
        <p:nvSpPr>
          <p:cNvPr id="10" name="Rectangle 9">
            <a:extLst>
              <a:ext uri="{FF2B5EF4-FFF2-40B4-BE49-F238E27FC236}">
                <a16:creationId xmlns:a16="http://schemas.microsoft.com/office/drawing/2014/main" id="{C110319A-2C2A-32BF-1BD7-5AE8BECE8B12}"/>
              </a:ext>
            </a:extLst>
          </p:cNvPr>
          <p:cNvSpPr/>
          <p:nvPr/>
        </p:nvSpPr>
        <p:spPr>
          <a:xfrm>
            <a:off x="3489247" y="3451336"/>
            <a:ext cx="1349897" cy="769326"/>
          </a:xfrm>
          <a:prstGeom prst="rect">
            <a:avLst/>
          </a:prstGeom>
          <a:solidFill>
            <a:srgbClr val="0C1752"/>
          </a:solidFill>
          <a:ln w="25400" cap="flat" cmpd="sng" algn="ctr">
            <a:noFill/>
            <a:prstDash val="solid"/>
          </a:ln>
          <a:effectLst/>
        </p:spPr>
        <p:txBody>
          <a:bodyPr spcFirstLastPara="0" vert="horz" wrap="square" lIns="64770" tIns="64770" rIns="64770" bIns="64770" numCol="1" spcCol="1270" anchor="ctr" anchorCtr="0">
            <a:noAutofit/>
          </a:bodyPr>
          <a:lstStyle/>
          <a:p>
            <a:pPr algn="ctr"/>
            <a:r>
              <a:rPr lang="en-CA" sz="2400" b="1" dirty="0">
                <a:solidFill>
                  <a:schemeClr val="bg1"/>
                </a:solidFill>
                <a:latin typeface="Montserrat" panose="00000500000000000000" pitchFamily="2" charset="0"/>
              </a:rPr>
              <a:t>LLM</a:t>
            </a:r>
          </a:p>
        </p:txBody>
      </p:sp>
      <p:sp>
        <p:nvSpPr>
          <p:cNvPr id="12" name="Rectangle: Rounded Corners 11">
            <a:extLst>
              <a:ext uri="{FF2B5EF4-FFF2-40B4-BE49-F238E27FC236}">
                <a16:creationId xmlns:a16="http://schemas.microsoft.com/office/drawing/2014/main" id="{97EAD111-6E78-8A7E-47BC-4129DC686755}"/>
              </a:ext>
            </a:extLst>
          </p:cNvPr>
          <p:cNvSpPr/>
          <p:nvPr/>
        </p:nvSpPr>
        <p:spPr>
          <a:xfrm>
            <a:off x="5946669" y="3620158"/>
            <a:ext cx="1329787" cy="377792"/>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b="1" dirty="0">
                <a:latin typeface="Montserrat" panose="00000500000000000000" pitchFamily="2" charset="0"/>
              </a:rPr>
              <a:t>MCP</a:t>
            </a:r>
          </a:p>
        </p:txBody>
      </p:sp>
      <p:cxnSp>
        <p:nvCxnSpPr>
          <p:cNvPr id="13" name="Straight Arrow Connector 12">
            <a:extLst>
              <a:ext uri="{FF2B5EF4-FFF2-40B4-BE49-F238E27FC236}">
                <a16:creationId xmlns:a16="http://schemas.microsoft.com/office/drawing/2014/main" id="{06029C66-F4DA-AB4A-E327-54633869D974}"/>
              </a:ext>
            </a:extLst>
          </p:cNvPr>
          <p:cNvCxnSpPr>
            <a:cxnSpLocks/>
          </p:cNvCxnSpPr>
          <p:nvPr/>
        </p:nvCxnSpPr>
        <p:spPr>
          <a:xfrm>
            <a:off x="4873019" y="3809054"/>
            <a:ext cx="1073650" cy="0"/>
          </a:xfrm>
          <a:prstGeom prst="straightConnector1">
            <a:avLst/>
          </a:prstGeom>
          <a:ln w="57150">
            <a:solidFill>
              <a:schemeClr val="accent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nodeType="withEffect">
                                  <p:stCondLst>
                                    <p:cond delay="0"/>
                                  </p:stCondLst>
                                  <p:childTnLst>
                                    <p:set>
                                      <p:cBhvr>
                                        <p:cTn id="42" dur="1" fill="hold">
                                          <p:stCondLst>
                                            <p:cond delay="0"/>
                                          </p:stCondLst>
                                        </p:cTn>
                                        <p:tgtEl>
                                          <p:spTgt spid="1028"/>
                                        </p:tgtEl>
                                        <p:attrNameLst>
                                          <p:attrName>style.visibility</p:attrName>
                                        </p:attrNameLst>
                                      </p:cBhvr>
                                      <p:to>
                                        <p:strVal val="visible"/>
                                      </p:to>
                                    </p:set>
                                    <p:animEffect transition="in" filter="fade">
                                      <p:cBhvr>
                                        <p:cTn id="43" dur="500"/>
                                        <p:tgtEl>
                                          <p:spTgt spid="1028"/>
                                        </p:tgtEl>
                                      </p:cBhvr>
                                    </p:animEffect>
                                  </p:childTnLst>
                                </p:cTn>
                              </p:par>
                              <p:par>
                                <p:cTn id="44" presetID="10" presetClass="entr" presetSubtype="0"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P spid="46" grpId="0"/>
      <p:bldP spid="4" grpId="0"/>
      <p:bldP spid="8" grpId="0"/>
      <p:bldP spid="10"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FE83-9A2B-C88F-8CA8-6120155FEC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D4E6AA-D360-299B-1A8E-660E71E2E07F}"/>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0F312D4-1433-6592-D1C8-B1955713A00C}"/>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99FD712B-209E-4AB5-978D-B430EB8699F9}"/>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LIVE DEMO 2</a:t>
            </a:r>
          </a:p>
        </p:txBody>
      </p:sp>
      <p:pic>
        <p:nvPicPr>
          <p:cNvPr id="5" name="Picture 4">
            <a:extLst>
              <a:ext uri="{FF2B5EF4-FFF2-40B4-BE49-F238E27FC236}">
                <a16:creationId xmlns:a16="http://schemas.microsoft.com/office/drawing/2014/main" id="{A8E36189-4322-B3DB-78A2-6B6646040358}"/>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136896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F049-42C0-3382-25BA-C3058CCCD2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66486F7-1DF0-2E7F-31AC-8C61B9A9A10E}"/>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EB2BC11D-51F2-762A-B431-34188B87039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65B0A12C-28A8-48B3-545B-C63B589B3A3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Practical Demo</a:t>
            </a:r>
          </a:p>
        </p:txBody>
      </p:sp>
      <p:sp>
        <p:nvSpPr>
          <p:cNvPr id="9" name="TextBox 8">
            <a:extLst>
              <a:ext uri="{FF2B5EF4-FFF2-40B4-BE49-F238E27FC236}">
                <a16:creationId xmlns:a16="http://schemas.microsoft.com/office/drawing/2014/main" id="{339740DD-9A57-77F9-C01D-AF6B52F01EA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DC3B225E-0A6F-CCCE-81EF-3B5DE071DDC7}"/>
              </a:ext>
            </a:extLst>
          </p:cNvPr>
          <p:cNvPicPr>
            <a:picLocks noChangeAspect="1"/>
          </p:cNvPicPr>
          <p:nvPr/>
        </p:nvPicPr>
        <p:blipFill>
          <a:blip r:embed="rId4"/>
          <a:stretch>
            <a:fillRect/>
          </a:stretch>
        </p:blipFill>
        <p:spPr>
          <a:xfrm>
            <a:off x="1986047" y="1322104"/>
            <a:ext cx="8252678" cy="4277271"/>
          </a:xfrm>
          <a:prstGeom prst="rect">
            <a:avLst/>
          </a:prstGeom>
        </p:spPr>
      </p:pic>
    </p:spTree>
    <p:extLst>
      <p:ext uri="{BB962C8B-B14F-4D97-AF65-F5344CB8AC3E}">
        <p14:creationId xmlns:p14="http://schemas.microsoft.com/office/powerpoint/2010/main" val="1429018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4B157-A81B-4F90-A765-6DBB4674B9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D0D246-906C-DB0F-7282-E417D4426AE9}"/>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2299503-9AAE-C39F-4BE9-4B7E8C8FD09C}"/>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7A442157-3F5C-2237-6CD8-1E047EF058F6}"/>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TOKENS AND CONTEXT WINDOW (FOUNDATIONS)</a:t>
            </a:r>
          </a:p>
        </p:txBody>
      </p:sp>
      <p:pic>
        <p:nvPicPr>
          <p:cNvPr id="5" name="Picture 4">
            <a:extLst>
              <a:ext uri="{FF2B5EF4-FFF2-40B4-BE49-F238E27FC236}">
                <a16:creationId xmlns:a16="http://schemas.microsoft.com/office/drawing/2014/main" id="{E8080227-40B0-3E0C-B026-1C165678828B}"/>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705681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689A3-6559-728A-89FE-3184C1689C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BD2D3AD-D426-E146-EBCF-D8692C0750E9}"/>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80DCD08-AF0F-41A5-0BBF-DF82AFCDC01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1450A713-AF78-C5F0-202C-604F8EC8605A}"/>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Tokens</a:t>
            </a:r>
          </a:p>
        </p:txBody>
      </p:sp>
      <p:sp>
        <p:nvSpPr>
          <p:cNvPr id="9" name="TextBox 8">
            <a:extLst>
              <a:ext uri="{FF2B5EF4-FFF2-40B4-BE49-F238E27FC236}">
                <a16:creationId xmlns:a16="http://schemas.microsoft.com/office/drawing/2014/main" id="{D3E74964-DD66-C32E-1465-EB6408FA4366}"/>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62600D81-CA4B-E4E5-B4AC-69B13CC8B695}"/>
              </a:ext>
            </a:extLst>
          </p:cNvPr>
          <p:cNvSpPr txBox="1"/>
          <p:nvPr/>
        </p:nvSpPr>
        <p:spPr>
          <a:xfrm>
            <a:off x="222159" y="865898"/>
            <a:ext cx="11780457" cy="156966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Tokens are chunks of text, typically words, </a:t>
            </a:r>
            <a:r>
              <a:rPr lang="en-US" sz="1600" dirty="0" err="1">
                <a:latin typeface="Montserrat" panose="00000500000000000000" pitchFamily="2" charset="0"/>
              </a:rPr>
              <a:t>subwords</a:t>
            </a:r>
            <a:r>
              <a:rPr lang="en-US" sz="1600" dirty="0">
                <a:latin typeface="Montserrat" panose="00000500000000000000" pitchFamily="2" charset="0"/>
              </a:rPr>
              <a:t>, or characters, that the model uses to process and generate language. Understanding tokens is key to managing costs and context limits.</a:t>
            </a:r>
          </a:p>
          <a:p>
            <a:pPr marL="285750" indent="-285750">
              <a:buFont typeface="Arial" panose="020B0604020202020204" pitchFamily="34" charset="0"/>
              <a:buChar char="•"/>
            </a:pPr>
            <a:r>
              <a:rPr lang="en-US" sz="1600" dirty="0">
                <a:latin typeface="Montserrat" panose="00000500000000000000" pitchFamily="2" charset="0"/>
              </a:rPr>
              <a:t>The model doesn't "read" text like humans do. Instead, a tokenizer breaks down the input into these tokens and converts them into numerical IDs the model can understand.</a:t>
            </a:r>
          </a:p>
          <a:p>
            <a:pPr marL="285750" indent="-285750">
              <a:buFont typeface="Arial" panose="020B0604020202020204" pitchFamily="34" charset="0"/>
              <a:buChar char="•"/>
            </a:pPr>
            <a:r>
              <a:rPr lang="en-US" sz="1600" dirty="0">
                <a:latin typeface="Montserrat" panose="00000500000000000000" pitchFamily="2" charset="0"/>
              </a:rPr>
              <a:t>The model then learns relationships between these tokens to predict the next one in a sequence.</a:t>
            </a:r>
          </a:p>
          <a:p>
            <a:pPr marL="285750" indent="-285750">
              <a:buFont typeface="Arial" panose="020B0604020202020204" pitchFamily="34" charset="0"/>
              <a:buChar char="•"/>
            </a:pPr>
            <a:r>
              <a:rPr lang="en-US" sz="1600" dirty="0">
                <a:latin typeface="Montserrat" panose="00000500000000000000" pitchFamily="2" charset="0"/>
              </a:rPr>
              <a:t>Check OpenAI's Tokenizers here: </a:t>
            </a:r>
            <a:r>
              <a:rPr lang="en-US" sz="1600" dirty="0">
                <a:latin typeface="Montserrat" panose="00000500000000000000" pitchFamily="2" charset="0"/>
                <a:hlinkClick r:id="rId4"/>
              </a:rPr>
              <a:t>https://platform.openai.com/tokenizer</a:t>
            </a:r>
            <a:endParaRPr lang="en-US" sz="1600" dirty="0">
              <a:latin typeface="Montserrat" panose="00000500000000000000" pitchFamily="2" charset="0"/>
            </a:endParaRPr>
          </a:p>
        </p:txBody>
      </p:sp>
      <p:sp>
        <p:nvSpPr>
          <p:cNvPr id="17" name="Shape 4">
            <a:extLst>
              <a:ext uri="{FF2B5EF4-FFF2-40B4-BE49-F238E27FC236}">
                <a16:creationId xmlns:a16="http://schemas.microsoft.com/office/drawing/2014/main" id="{31C23C73-C6C2-9910-077C-2EDEB9D1332E}"/>
              </a:ext>
            </a:extLst>
          </p:cNvPr>
          <p:cNvSpPr/>
          <p:nvPr/>
        </p:nvSpPr>
        <p:spPr>
          <a:xfrm>
            <a:off x="2016042" y="2592598"/>
            <a:ext cx="804672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800">
              <a:latin typeface="Montserrat" panose="00000500000000000000" pitchFamily="2" charset="0"/>
            </a:endParaRPr>
          </a:p>
        </p:txBody>
      </p:sp>
      <p:sp>
        <p:nvSpPr>
          <p:cNvPr id="18" name="Text 5">
            <a:extLst>
              <a:ext uri="{FF2B5EF4-FFF2-40B4-BE49-F238E27FC236}">
                <a16:creationId xmlns:a16="http://schemas.microsoft.com/office/drawing/2014/main" id="{23729B43-D62C-F752-651C-F2258B2F05B8}"/>
              </a:ext>
            </a:extLst>
          </p:cNvPr>
          <p:cNvSpPr/>
          <p:nvPr/>
        </p:nvSpPr>
        <p:spPr>
          <a:xfrm>
            <a:off x="2198922" y="2638318"/>
            <a:ext cx="1828800" cy="320040"/>
          </a:xfrm>
          <a:prstGeom prst="rect">
            <a:avLst/>
          </a:prstGeom>
          <a:noFill/>
          <a:ln/>
        </p:spPr>
        <p:txBody>
          <a:bodyPr wrap="square" lIns="0" tIns="0" rIns="0" bIns="0" rtlCol="0" anchor="ctr"/>
          <a:lstStyle/>
          <a:p>
            <a:pPr marL="0" indent="0">
              <a:buNone/>
            </a:pPr>
            <a:r>
              <a:rPr lang="en-US" b="1" dirty="0">
                <a:solidFill>
                  <a:srgbClr val="0C1752"/>
                </a:solidFill>
                <a:latin typeface="Montserrat" panose="00000500000000000000" pitchFamily="2" charset="0"/>
                <a:ea typeface="Calibri" pitchFamily="34" charset="-122"/>
                <a:cs typeface="Calibri" pitchFamily="34" charset="-120"/>
              </a:rPr>
              <a:t>Example</a:t>
            </a:r>
            <a:endParaRPr lang="en-US" dirty="0">
              <a:solidFill>
                <a:srgbClr val="0C1752"/>
              </a:solidFill>
              <a:latin typeface="Montserrat" panose="00000500000000000000" pitchFamily="2" charset="0"/>
            </a:endParaRPr>
          </a:p>
        </p:txBody>
      </p:sp>
      <p:sp>
        <p:nvSpPr>
          <p:cNvPr id="19" name="Text 6">
            <a:extLst>
              <a:ext uri="{FF2B5EF4-FFF2-40B4-BE49-F238E27FC236}">
                <a16:creationId xmlns:a16="http://schemas.microsoft.com/office/drawing/2014/main" id="{20B5A196-9D4D-D35D-4C61-47D8E282F25D}"/>
              </a:ext>
            </a:extLst>
          </p:cNvPr>
          <p:cNvSpPr/>
          <p:nvPr/>
        </p:nvSpPr>
        <p:spPr>
          <a:xfrm>
            <a:off x="2198922" y="2958358"/>
            <a:ext cx="7680960" cy="731520"/>
          </a:xfrm>
          <a:prstGeom prst="rect">
            <a:avLst/>
          </a:prstGeom>
          <a:noFill/>
          <a:ln/>
        </p:spPr>
        <p:txBody>
          <a:bodyPr wrap="square" lIns="0" tIns="0" rIns="0" bIns="0" rtlCol="0" anchor="ctr"/>
          <a:lstStyle/>
          <a:p>
            <a:r>
              <a:rPr lang="en-US" sz="2000" b="1" dirty="0">
                <a:solidFill>
                  <a:srgbClr val="1B2A4A"/>
                </a:solidFill>
                <a:latin typeface="Montserrat" panose="00000500000000000000" pitchFamily="2" charset="0"/>
                <a:ea typeface="Consolas" pitchFamily="34" charset="-122"/>
                <a:cs typeface="Consolas" pitchFamily="34" charset="-120"/>
              </a:rPr>
              <a:t>"Welcome to the Bootcamp!"</a:t>
            </a:r>
            <a:endParaRPr lang="en-US" sz="2000" dirty="0">
              <a:latin typeface="Montserrat" panose="00000500000000000000" pitchFamily="2" charset="0"/>
            </a:endParaRPr>
          </a:p>
          <a:p>
            <a:pPr marL="0" indent="0">
              <a:buNone/>
            </a:pPr>
            <a:r>
              <a:rPr lang="en-US" dirty="0">
                <a:solidFill>
                  <a:srgbClr val="D56E48"/>
                </a:solidFill>
                <a:latin typeface="Montserrat" panose="00000500000000000000" pitchFamily="2" charset="0"/>
                <a:ea typeface="Consolas" pitchFamily="34" charset="-122"/>
                <a:cs typeface="Consolas" pitchFamily="34" charset="-120"/>
              </a:rPr>
              <a:t>→  [“Welcome", “to", " the", " Boot", " camp", " !"]  =  6 tokens</a:t>
            </a:r>
            <a:endParaRPr lang="en-US" sz="2000" dirty="0">
              <a:solidFill>
                <a:srgbClr val="D56E48"/>
              </a:solidFill>
              <a:latin typeface="Montserrat" panose="00000500000000000000" pitchFamily="2" charset="0"/>
            </a:endParaRPr>
          </a:p>
        </p:txBody>
      </p:sp>
      <p:sp>
        <p:nvSpPr>
          <p:cNvPr id="21" name="Shape 7">
            <a:extLst>
              <a:ext uri="{FF2B5EF4-FFF2-40B4-BE49-F238E27FC236}">
                <a16:creationId xmlns:a16="http://schemas.microsoft.com/office/drawing/2014/main" id="{BD513371-D5AB-6D12-97E5-B993307C9C02}"/>
              </a:ext>
            </a:extLst>
          </p:cNvPr>
          <p:cNvSpPr/>
          <p:nvPr/>
        </p:nvSpPr>
        <p:spPr>
          <a:xfrm>
            <a:off x="639875" y="4310142"/>
            <a:ext cx="2560320" cy="1815882"/>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2" name="Text 8">
            <a:extLst>
              <a:ext uri="{FF2B5EF4-FFF2-40B4-BE49-F238E27FC236}">
                <a16:creationId xmlns:a16="http://schemas.microsoft.com/office/drawing/2014/main" id="{4ED03A90-4A6F-A3A2-AA20-66607E832EEF}"/>
              </a:ext>
            </a:extLst>
          </p:cNvPr>
          <p:cNvSpPr/>
          <p:nvPr/>
        </p:nvSpPr>
        <p:spPr>
          <a:xfrm>
            <a:off x="639875" y="4487625"/>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~1 token</a:t>
            </a:r>
            <a:endParaRPr lang="en-US" sz="3200" dirty="0">
              <a:solidFill>
                <a:schemeClr val="bg1"/>
              </a:solidFill>
              <a:latin typeface="Montserrat" panose="00000500000000000000" pitchFamily="2" charset="0"/>
            </a:endParaRPr>
          </a:p>
        </p:txBody>
      </p:sp>
      <p:sp>
        <p:nvSpPr>
          <p:cNvPr id="23" name="Text 9">
            <a:extLst>
              <a:ext uri="{FF2B5EF4-FFF2-40B4-BE49-F238E27FC236}">
                <a16:creationId xmlns:a16="http://schemas.microsoft.com/office/drawing/2014/main" id="{FFBEA5F5-A45F-0ED9-0C16-FC37FDC1C3E9}"/>
              </a:ext>
            </a:extLst>
          </p:cNvPr>
          <p:cNvSpPr/>
          <p:nvPr/>
        </p:nvSpPr>
        <p:spPr>
          <a:xfrm>
            <a:off x="639875" y="5325550"/>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4 characters</a:t>
            </a:r>
            <a:endParaRPr lang="en-US" dirty="0">
              <a:solidFill>
                <a:schemeClr val="bg1"/>
              </a:solidFill>
              <a:latin typeface="Montserrat" panose="00000500000000000000" pitchFamily="2" charset="0"/>
            </a:endParaRP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in English</a:t>
            </a:r>
            <a:endParaRPr lang="en-US" dirty="0">
              <a:solidFill>
                <a:schemeClr val="bg1"/>
              </a:solidFill>
              <a:latin typeface="Montserrat" panose="00000500000000000000" pitchFamily="2" charset="0"/>
            </a:endParaRPr>
          </a:p>
        </p:txBody>
      </p:sp>
      <p:sp>
        <p:nvSpPr>
          <p:cNvPr id="24" name="Shape 10">
            <a:extLst>
              <a:ext uri="{FF2B5EF4-FFF2-40B4-BE49-F238E27FC236}">
                <a16:creationId xmlns:a16="http://schemas.microsoft.com/office/drawing/2014/main" id="{8DA52108-45DA-003C-90C0-A40BCCC8165A}"/>
              </a:ext>
            </a:extLst>
          </p:cNvPr>
          <p:cNvSpPr/>
          <p:nvPr/>
        </p:nvSpPr>
        <p:spPr>
          <a:xfrm>
            <a:off x="4759242" y="4300033"/>
            <a:ext cx="2560320" cy="1809893"/>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5" name="Text 11">
            <a:extLst>
              <a:ext uri="{FF2B5EF4-FFF2-40B4-BE49-F238E27FC236}">
                <a16:creationId xmlns:a16="http://schemas.microsoft.com/office/drawing/2014/main" id="{B726CCFD-7E6D-5939-861D-E5A2C84A6192}"/>
              </a:ext>
            </a:extLst>
          </p:cNvPr>
          <p:cNvSpPr/>
          <p:nvPr/>
        </p:nvSpPr>
        <p:spPr>
          <a:xfrm>
            <a:off x="4759242" y="4457073"/>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~750</a:t>
            </a:r>
            <a:endParaRPr lang="en-US" sz="3200" dirty="0">
              <a:solidFill>
                <a:schemeClr val="bg1"/>
              </a:solidFill>
              <a:latin typeface="Montserrat" panose="00000500000000000000" pitchFamily="2" charset="0"/>
            </a:endParaRPr>
          </a:p>
        </p:txBody>
      </p:sp>
      <p:sp>
        <p:nvSpPr>
          <p:cNvPr id="26" name="Text 12">
            <a:extLst>
              <a:ext uri="{FF2B5EF4-FFF2-40B4-BE49-F238E27FC236}">
                <a16:creationId xmlns:a16="http://schemas.microsoft.com/office/drawing/2014/main" id="{9C499881-0EE5-069B-14FD-CD64CD12201F}"/>
              </a:ext>
            </a:extLst>
          </p:cNvPr>
          <p:cNvSpPr/>
          <p:nvPr/>
        </p:nvSpPr>
        <p:spPr>
          <a:xfrm>
            <a:off x="4853932" y="5283014"/>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words per</a:t>
            </a:r>
            <a:endParaRPr lang="en-US" dirty="0">
              <a:solidFill>
                <a:schemeClr val="bg1"/>
              </a:solidFill>
              <a:latin typeface="Montserrat" panose="00000500000000000000" pitchFamily="2" charset="0"/>
            </a:endParaRP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1,000 tokens</a:t>
            </a:r>
            <a:endParaRPr lang="en-US" dirty="0">
              <a:solidFill>
                <a:schemeClr val="bg1"/>
              </a:solidFill>
              <a:latin typeface="Montserrat" panose="00000500000000000000" pitchFamily="2" charset="0"/>
            </a:endParaRPr>
          </a:p>
        </p:txBody>
      </p:sp>
      <p:sp>
        <p:nvSpPr>
          <p:cNvPr id="27" name="Shape 13">
            <a:extLst>
              <a:ext uri="{FF2B5EF4-FFF2-40B4-BE49-F238E27FC236}">
                <a16:creationId xmlns:a16="http://schemas.microsoft.com/office/drawing/2014/main" id="{E9833D4C-2354-5193-4BF4-1A16BA2FDB52}"/>
              </a:ext>
            </a:extLst>
          </p:cNvPr>
          <p:cNvSpPr/>
          <p:nvPr/>
        </p:nvSpPr>
        <p:spPr>
          <a:xfrm>
            <a:off x="8782602" y="4305474"/>
            <a:ext cx="2560320" cy="1815882"/>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sz="2400">
              <a:solidFill>
                <a:schemeClr val="bg1">
                  <a:lumMod val="65000"/>
                </a:schemeClr>
              </a:solidFill>
              <a:latin typeface="Montserrat" panose="00000500000000000000" pitchFamily="2" charset="0"/>
            </a:endParaRPr>
          </a:p>
        </p:txBody>
      </p:sp>
      <p:sp>
        <p:nvSpPr>
          <p:cNvPr id="28" name="Text 14">
            <a:extLst>
              <a:ext uri="{FF2B5EF4-FFF2-40B4-BE49-F238E27FC236}">
                <a16:creationId xmlns:a16="http://schemas.microsoft.com/office/drawing/2014/main" id="{5B3689BE-CC37-173A-E740-901F34C2892E}"/>
              </a:ext>
            </a:extLst>
          </p:cNvPr>
          <p:cNvSpPr/>
          <p:nvPr/>
        </p:nvSpPr>
        <p:spPr>
          <a:xfrm>
            <a:off x="8782602" y="4426080"/>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1M tokens</a:t>
            </a:r>
            <a:endParaRPr lang="en-US" sz="3200" dirty="0">
              <a:solidFill>
                <a:schemeClr val="bg1"/>
              </a:solidFill>
              <a:latin typeface="Montserrat" panose="00000500000000000000" pitchFamily="2" charset="0"/>
            </a:endParaRPr>
          </a:p>
        </p:txBody>
      </p:sp>
      <p:sp>
        <p:nvSpPr>
          <p:cNvPr id="29" name="Text 15">
            <a:extLst>
              <a:ext uri="{FF2B5EF4-FFF2-40B4-BE49-F238E27FC236}">
                <a16:creationId xmlns:a16="http://schemas.microsoft.com/office/drawing/2014/main" id="{7EEE39C7-959C-8FE1-4346-C38618823E65}"/>
              </a:ext>
            </a:extLst>
          </p:cNvPr>
          <p:cNvSpPr/>
          <p:nvPr/>
        </p:nvSpPr>
        <p:spPr>
          <a:xfrm>
            <a:off x="8782602" y="5102918"/>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Entire works of Shakespeare OR </a:t>
            </a: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8 full-length novels</a:t>
            </a:r>
            <a:endParaRPr lang="en-US"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388712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463F-A36F-9D61-D6D8-1013AE178C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AAAD86-EB35-9870-30A8-58B09EAD1987}"/>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D9243261-24CC-1DB6-3324-09D8C77FE3F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643021B-60C5-6942-2743-AE2A01F0865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The Context Window</a:t>
            </a:r>
          </a:p>
        </p:txBody>
      </p:sp>
      <p:sp>
        <p:nvSpPr>
          <p:cNvPr id="9" name="TextBox 8">
            <a:extLst>
              <a:ext uri="{FF2B5EF4-FFF2-40B4-BE49-F238E27FC236}">
                <a16:creationId xmlns:a16="http://schemas.microsoft.com/office/drawing/2014/main" id="{8F50E4DC-B747-2EB2-513C-BC3DCE653F9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95177514-1B9F-9486-2153-F8522FC5FDF5}"/>
              </a:ext>
            </a:extLst>
          </p:cNvPr>
          <p:cNvSpPr txBox="1"/>
          <p:nvPr/>
        </p:nvSpPr>
        <p:spPr>
          <a:xfrm>
            <a:off x="189384" y="871861"/>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r>
              <a:rPr lang="en-US" sz="1700" dirty="0"/>
              <a:t>The context window is the maximum number of tokens an LLM can process in a single interaction including both input and output. It defines how much information the model can "see" at once.</a:t>
            </a:r>
          </a:p>
          <a:p>
            <a:endParaRPr lang="en-US" sz="1700" dirty="0"/>
          </a:p>
        </p:txBody>
      </p:sp>
      <p:sp>
        <p:nvSpPr>
          <p:cNvPr id="4" name="Text 3">
            <a:extLst>
              <a:ext uri="{FF2B5EF4-FFF2-40B4-BE49-F238E27FC236}">
                <a16:creationId xmlns:a16="http://schemas.microsoft.com/office/drawing/2014/main" id="{927F478E-8A65-D52F-B8E8-50BDF33C3788}"/>
              </a:ext>
            </a:extLst>
          </p:cNvPr>
          <p:cNvSpPr/>
          <p:nvPr/>
        </p:nvSpPr>
        <p:spPr>
          <a:xfrm>
            <a:off x="548640" y="1005840"/>
            <a:ext cx="8046720" cy="640080"/>
          </a:xfrm>
          <a:prstGeom prst="rect">
            <a:avLst/>
          </a:prstGeom>
          <a:noFill/>
          <a:ln/>
        </p:spPr>
        <p:txBody>
          <a:bodyPr wrap="square" lIns="0" tIns="0" rIns="0" bIns="0" rtlCol="0" anchor="ctr"/>
          <a:lstStyle/>
          <a:p>
            <a:pPr marL="0" indent="0">
              <a:buNone/>
            </a:pPr>
            <a:endParaRPr lang="en-US" sz="1500" dirty="0"/>
          </a:p>
        </p:txBody>
      </p:sp>
      <p:sp>
        <p:nvSpPr>
          <p:cNvPr id="8" name="Text 4">
            <a:extLst>
              <a:ext uri="{FF2B5EF4-FFF2-40B4-BE49-F238E27FC236}">
                <a16:creationId xmlns:a16="http://schemas.microsoft.com/office/drawing/2014/main" id="{41E3F8B8-934B-99BA-951C-407321F3D3A1}"/>
              </a:ext>
            </a:extLst>
          </p:cNvPr>
          <p:cNvSpPr/>
          <p:nvPr/>
        </p:nvSpPr>
        <p:spPr>
          <a:xfrm>
            <a:off x="1423589" y="146987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GPT-5</a:t>
            </a:r>
            <a:endParaRPr lang="en-US" sz="1600" dirty="0">
              <a:latin typeface="Montserrat" panose="00000500000000000000" pitchFamily="2" charset="0"/>
            </a:endParaRPr>
          </a:p>
        </p:txBody>
      </p:sp>
      <p:sp>
        <p:nvSpPr>
          <p:cNvPr id="10" name="Shape 5">
            <a:extLst>
              <a:ext uri="{FF2B5EF4-FFF2-40B4-BE49-F238E27FC236}">
                <a16:creationId xmlns:a16="http://schemas.microsoft.com/office/drawing/2014/main" id="{79D07D50-B2DF-3729-61C4-70C066545837}"/>
              </a:ext>
            </a:extLst>
          </p:cNvPr>
          <p:cNvSpPr/>
          <p:nvPr/>
        </p:nvSpPr>
        <p:spPr>
          <a:xfrm>
            <a:off x="3526709" y="1543030"/>
            <a:ext cx="2569291" cy="274320"/>
          </a:xfrm>
          <a:prstGeom prst="rect">
            <a:avLst/>
          </a:prstGeom>
          <a:solidFill>
            <a:srgbClr val="D56E48"/>
          </a:solidFill>
          <a:ln/>
        </p:spPr>
        <p:txBody>
          <a:bodyPr/>
          <a:lstStyle/>
          <a:p>
            <a:endParaRPr lang="en-CA">
              <a:solidFill>
                <a:srgbClr val="D56E48"/>
              </a:solidFill>
            </a:endParaRPr>
          </a:p>
        </p:txBody>
      </p:sp>
      <p:sp>
        <p:nvSpPr>
          <p:cNvPr id="11" name="Text 6">
            <a:extLst>
              <a:ext uri="{FF2B5EF4-FFF2-40B4-BE49-F238E27FC236}">
                <a16:creationId xmlns:a16="http://schemas.microsoft.com/office/drawing/2014/main" id="{2CE5F398-F9C9-136E-5B90-8DB529993B32}"/>
              </a:ext>
            </a:extLst>
          </p:cNvPr>
          <p:cNvSpPr/>
          <p:nvPr/>
        </p:nvSpPr>
        <p:spPr>
          <a:xfrm>
            <a:off x="6407069" y="1479022"/>
            <a:ext cx="914400" cy="411480"/>
          </a:xfrm>
          <a:prstGeom prst="rect">
            <a:avLst/>
          </a:prstGeom>
          <a:noFill/>
          <a:ln/>
        </p:spPr>
        <p:txBody>
          <a:bodyPr wrap="square" lIns="0" tIns="0" rIns="0" bIns="0" rtlCol="0" anchor="ctr"/>
          <a:lstStyle/>
          <a:p>
            <a:pPr marL="0" indent="0">
              <a:buNone/>
            </a:pPr>
            <a:r>
              <a:rPr lang="en-US" b="1" dirty="0">
                <a:solidFill>
                  <a:srgbClr val="D56E48"/>
                </a:solidFill>
                <a:latin typeface="Montserrat" panose="00000500000000000000" pitchFamily="2" charset="0"/>
                <a:ea typeface="Calibri" pitchFamily="34" charset="-122"/>
                <a:cs typeface="Calibri" pitchFamily="34" charset="-120"/>
              </a:rPr>
              <a:t>400K</a:t>
            </a:r>
            <a:endParaRPr lang="en-US" dirty="0">
              <a:solidFill>
                <a:srgbClr val="D56E48"/>
              </a:solidFill>
              <a:latin typeface="Montserrat" panose="00000500000000000000" pitchFamily="2" charset="0"/>
            </a:endParaRPr>
          </a:p>
        </p:txBody>
      </p:sp>
      <p:sp>
        <p:nvSpPr>
          <p:cNvPr id="12" name="Text 7">
            <a:extLst>
              <a:ext uri="{FF2B5EF4-FFF2-40B4-BE49-F238E27FC236}">
                <a16:creationId xmlns:a16="http://schemas.microsoft.com/office/drawing/2014/main" id="{1B7E11A2-0433-9325-CEB4-D28A655D6F51}"/>
              </a:ext>
            </a:extLst>
          </p:cNvPr>
          <p:cNvSpPr/>
          <p:nvPr/>
        </p:nvSpPr>
        <p:spPr>
          <a:xfrm>
            <a:off x="1423589" y="201851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Claude Opus 4.6</a:t>
            </a:r>
            <a:endParaRPr lang="en-US" sz="1600" dirty="0">
              <a:latin typeface="Montserrat" panose="00000500000000000000" pitchFamily="2" charset="0"/>
            </a:endParaRPr>
          </a:p>
        </p:txBody>
      </p:sp>
      <p:sp>
        <p:nvSpPr>
          <p:cNvPr id="13" name="Shape 8">
            <a:extLst>
              <a:ext uri="{FF2B5EF4-FFF2-40B4-BE49-F238E27FC236}">
                <a16:creationId xmlns:a16="http://schemas.microsoft.com/office/drawing/2014/main" id="{613C4032-36B8-6F62-6BDB-AA047B7FDD88}"/>
              </a:ext>
            </a:extLst>
          </p:cNvPr>
          <p:cNvSpPr/>
          <p:nvPr/>
        </p:nvSpPr>
        <p:spPr>
          <a:xfrm>
            <a:off x="3526709" y="2091670"/>
            <a:ext cx="4645741" cy="274320"/>
          </a:xfrm>
          <a:prstGeom prst="rect">
            <a:avLst/>
          </a:prstGeom>
          <a:solidFill>
            <a:schemeClr val="bg1">
              <a:lumMod val="65000"/>
            </a:schemeClr>
          </a:solidFill>
          <a:ln/>
        </p:spPr>
        <p:txBody>
          <a:bodyPr/>
          <a:lstStyle/>
          <a:p>
            <a:endParaRPr lang="en-CA"/>
          </a:p>
        </p:txBody>
      </p:sp>
      <p:sp>
        <p:nvSpPr>
          <p:cNvPr id="17" name="Text 9">
            <a:extLst>
              <a:ext uri="{FF2B5EF4-FFF2-40B4-BE49-F238E27FC236}">
                <a16:creationId xmlns:a16="http://schemas.microsoft.com/office/drawing/2014/main" id="{0CC3C94E-8F4F-858C-E52C-B90C329CD459}"/>
              </a:ext>
            </a:extLst>
          </p:cNvPr>
          <p:cNvSpPr/>
          <p:nvPr/>
        </p:nvSpPr>
        <p:spPr>
          <a:xfrm>
            <a:off x="8382430" y="2056253"/>
            <a:ext cx="914400" cy="411480"/>
          </a:xfrm>
          <a:prstGeom prst="rect">
            <a:avLst/>
          </a:prstGeom>
          <a:noFill/>
          <a:ln/>
        </p:spPr>
        <p:txBody>
          <a:bodyPr wrap="square" lIns="0" tIns="0" rIns="0" bIns="0" rtlCol="0" anchor="ctr"/>
          <a:lstStyle/>
          <a:p>
            <a:pPr marL="0" indent="0">
              <a:buNone/>
            </a:pPr>
            <a:r>
              <a:rPr lang="en-US" b="1" dirty="0">
                <a:solidFill>
                  <a:schemeClr val="bg1">
                    <a:lumMod val="50000"/>
                  </a:schemeClr>
                </a:solidFill>
                <a:latin typeface="Montserrat" panose="00000500000000000000" pitchFamily="2" charset="0"/>
                <a:ea typeface="Calibri" pitchFamily="34" charset="-122"/>
                <a:cs typeface="Calibri" pitchFamily="34" charset="-120"/>
              </a:rPr>
              <a:t>1M</a:t>
            </a:r>
            <a:endParaRPr lang="en-US" dirty="0">
              <a:solidFill>
                <a:schemeClr val="bg1">
                  <a:lumMod val="50000"/>
                </a:schemeClr>
              </a:solidFill>
              <a:latin typeface="Montserrat" panose="00000500000000000000" pitchFamily="2" charset="0"/>
            </a:endParaRPr>
          </a:p>
        </p:txBody>
      </p:sp>
      <p:sp>
        <p:nvSpPr>
          <p:cNvPr id="18" name="Text 10">
            <a:extLst>
              <a:ext uri="{FF2B5EF4-FFF2-40B4-BE49-F238E27FC236}">
                <a16:creationId xmlns:a16="http://schemas.microsoft.com/office/drawing/2014/main" id="{29270D2E-0012-4EE9-C057-FE40C218FEBF}"/>
              </a:ext>
            </a:extLst>
          </p:cNvPr>
          <p:cNvSpPr/>
          <p:nvPr/>
        </p:nvSpPr>
        <p:spPr>
          <a:xfrm>
            <a:off x="1423589" y="256715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Gemini 3.0</a:t>
            </a:r>
            <a:endParaRPr lang="en-US" sz="1600" dirty="0">
              <a:latin typeface="Montserrat" panose="00000500000000000000" pitchFamily="2" charset="0"/>
            </a:endParaRPr>
          </a:p>
        </p:txBody>
      </p:sp>
      <p:sp>
        <p:nvSpPr>
          <p:cNvPr id="19" name="Shape 11">
            <a:extLst>
              <a:ext uri="{FF2B5EF4-FFF2-40B4-BE49-F238E27FC236}">
                <a16:creationId xmlns:a16="http://schemas.microsoft.com/office/drawing/2014/main" id="{532C980E-E8C4-D2EA-41BA-CE1CFE395B22}"/>
              </a:ext>
            </a:extLst>
          </p:cNvPr>
          <p:cNvSpPr/>
          <p:nvPr/>
        </p:nvSpPr>
        <p:spPr>
          <a:xfrm>
            <a:off x="3526709" y="2640310"/>
            <a:ext cx="4645741" cy="274320"/>
          </a:xfrm>
          <a:prstGeom prst="rect">
            <a:avLst/>
          </a:prstGeom>
          <a:solidFill>
            <a:srgbClr val="0C1752"/>
          </a:solidFill>
          <a:ln/>
        </p:spPr>
        <p:txBody>
          <a:bodyPr/>
          <a:lstStyle/>
          <a:p>
            <a:endParaRPr lang="en-CA">
              <a:solidFill>
                <a:srgbClr val="0C1752"/>
              </a:solidFill>
            </a:endParaRPr>
          </a:p>
        </p:txBody>
      </p:sp>
      <p:sp>
        <p:nvSpPr>
          <p:cNvPr id="21" name="Text 12">
            <a:extLst>
              <a:ext uri="{FF2B5EF4-FFF2-40B4-BE49-F238E27FC236}">
                <a16:creationId xmlns:a16="http://schemas.microsoft.com/office/drawing/2014/main" id="{F4F8C250-F9EE-0240-C6FC-D7F6343AFC6D}"/>
              </a:ext>
            </a:extLst>
          </p:cNvPr>
          <p:cNvSpPr/>
          <p:nvPr/>
        </p:nvSpPr>
        <p:spPr>
          <a:xfrm>
            <a:off x="8394607" y="2598222"/>
            <a:ext cx="914400" cy="411480"/>
          </a:xfrm>
          <a:prstGeom prst="rect">
            <a:avLst/>
          </a:prstGeom>
          <a:noFill/>
          <a:ln/>
        </p:spPr>
        <p:txBody>
          <a:bodyPr wrap="square" lIns="0" tIns="0" rIns="0" bIns="0" rtlCol="0" anchor="ctr"/>
          <a:lstStyle/>
          <a:p>
            <a:pPr marL="0" indent="0">
              <a:buNone/>
            </a:pPr>
            <a:r>
              <a:rPr lang="en-US" b="1" dirty="0">
                <a:solidFill>
                  <a:srgbClr val="0C1752"/>
                </a:solidFill>
                <a:latin typeface="Montserrat" panose="00000500000000000000" pitchFamily="2" charset="0"/>
                <a:ea typeface="Calibri" pitchFamily="34" charset="-122"/>
                <a:cs typeface="Calibri" pitchFamily="34" charset="-120"/>
              </a:rPr>
              <a:t>1M</a:t>
            </a:r>
            <a:endParaRPr lang="en-US" dirty="0">
              <a:solidFill>
                <a:srgbClr val="0C1752"/>
              </a:solidFill>
              <a:latin typeface="Montserrat" panose="00000500000000000000" pitchFamily="2" charset="0"/>
            </a:endParaRPr>
          </a:p>
        </p:txBody>
      </p:sp>
      <p:sp>
        <p:nvSpPr>
          <p:cNvPr id="22" name="Text 13">
            <a:extLst>
              <a:ext uri="{FF2B5EF4-FFF2-40B4-BE49-F238E27FC236}">
                <a16:creationId xmlns:a16="http://schemas.microsoft.com/office/drawing/2014/main" id="{C44D4C51-0FE4-5D05-FAFB-6A489E75F9DE}"/>
              </a:ext>
            </a:extLst>
          </p:cNvPr>
          <p:cNvSpPr/>
          <p:nvPr/>
        </p:nvSpPr>
        <p:spPr>
          <a:xfrm>
            <a:off x="1423589" y="311579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Llama 4 Maverick</a:t>
            </a:r>
            <a:endParaRPr lang="en-US" sz="1600" dirty="0">
              <a:latin typeface="Montserrat" panose="00000500000000000000" pitchFamily="2" charset="0"/>
            </a:endParaRPr>
          </a:p>
        </p:txBody>
      </p:sp>
      <p:sp>
        <p:nvSpPr>
          <p:cNvPr id="23" name="Shape 14">
            <a:extLst>
              <a:ext uri="{FF2B5EF4-FFF2-40B4-BE49-F238E27FC236}">
                <a16:creationId xmlns:a16="http://schemas.microsoft.com/office/drawing/2014/main" id="{26B4D30A-B359-245E-09D3-4D44C84C3174}"/>
              </a:ext>
            </a:extLst>
          </p:cNvPr>
          <p:cNvSpPr/>
          <p:nvPr/>
        </p:nvSpPr>
        <p:spPr>
          <a:xfrm>
            <a:off x="3526708" y="3188950"/>
            <a:ext cx="7388937" cy="274320"/>
          </a:xfrm>
          <a:prstGeom prst="rect">
            <a:avLst/>
          </a:prstGeom>
          <a:solidFill>
            <a:srgbClr val="1BBFD1"/>
          </a:solidFill>
          <a:ln/>
        </p:spPr>
        <p:txBody>
          <a:bodyPr/>
          <a:lstStyle/>
          <a:p>
            <a:endParaRPr lang="en-CA"/>
          </a:p>
        </p:txBody>
      </p:sp>
      <p:sp>
        <p:nvSpPr>
          <p:cNvPr id="25" name="Text 15">
            <a:extLst>
              <a:ext uri="{FF2B5EF4-FFF2-40B4-BE49-F238E27FC236}">
                <a16:creationId xmlns:a16="http://schemas.microsoft.com/office/drawing/2014/main" id="{9EF19AC7-C427-D040-AC03-2FF99B7E5764}"/>
              </a:ext>
            </a:extLst>
          </p:cNvPr>
          <p:cNvSpPr/>
          <p:nvPr/>
        </p:nvSpPr>
        <p:spPr>
          <a:xfrm>
            <a:off x="11096623" y="3136589"/>
            <a:ext cx="914400" cy="411480"/>
          </a:xfrm>
          <a:prstGeom prst="rect">
            <a:avLst/>
          </a:prstGeom>
          <a:noFill/>
          <a:ln/>
        </p:spPr>
        <p:txBody>
          <a:bodyPr wrap="square" lIns="0" tIns="0" rIns="0" bIns="0" rtlCol="0" anchor="ctr"/>
          <a:lstStyle/>
          <a:p>
            <a:pPr marL="0" indent="0">
              <a:buNone/>
            </a:pPr>
            <a:r>
              <a:rPr lang="en-US" b="1" dirty="0">
                <a:solidFill>
                  <a:srgbClr val="1BBFD1"/>
                </a:solidFill>
                <a:latin typeface="Montserrat" panose="00000500000000000000" pitchFamily="2" charset="0"/>
                <a:ea typeface="Calibri" pitchFamily="34" charset="-122"/>
                <a:cs typeface="Calibri" pitchFamily="34" charset="-120"/>
              </a:rPr>
              <a:t>10M</a:t>
            </a:r>
            <a:endParaRPr lang="en-US" dirty="0">
              <a:solidFill>
                <a:srgbClr val="1BBFD1"/>
              </a:solidFill>
              <a:latin typeface="Montserrat" panose="00000500000000000000" pitchFamily="2" charset="0"/>
            </a:endParaRPr>
          </a:p>
        </p:txBody>
      </p:sp>
      <p:sp>
        <p:nvSpPr>
          <p:cNvPr id="32" name="Shape 19">
            <a:extLst>
              <a:ext uri="{FF2B5EF4-FFF2-40B4-BE49-F238E27FC236}">
                <a16:creationId xmlns:a16="http://schemas.microsoft.com/office/drawing/2014/main" id="{89033E47-3189-C62C-2FB8-0325C01D0371}"/>
              </a:ext>
            </a:extLst>
          </p:cNvPr>
          <p:cNvSpPr/>
          <p:nvPr/>
        </p:nvSpPr>
        <p:spPr>
          <a:xfrm>
            <a:off x="689029" y="3735685"/>
            <a:ext cx="10586131" cy="923233"/>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800"/>
          </a:p>
        </p:txBody>
      </p:sp>
      <p:sp>
        <p:nvSpPr>
          <p:cNvPr id="33" name="Text 20">
            <a:extLst>
              <a:ext uri="{FF2B5EF4-FFF2-40B4-BE49-F238E27FC236}">
                <a16:creationId xmlns:a16="http://schemas.microsoft.com/office/drawing/2014/main" id="{C5EAC387-2B31-74D3-7997-DFD3B9F24BFC}"/>
              </a:ext>
            </a:extLst>
          </p:cNvPr>
          <p:cNvSpPr/>
          <p:nvPr/>
        </p:nvSpPr>
        <p:spPr>
          <a:xfrm>
            <a:off x="916840" y="3828071"/>
            <a:ext cx="2743200" cy="320040"/>
          </a:xfrm>
          <a:prstGeom prst="rect">
            <a:avLst/>
          </a:prstGeom>
          <a:noFill/>
          <a:ln/>
        </p:spPr>
        <p:txBody>
          <a:bodyPr wrap="square" lIns="0" tIns="0" rIns="0" bIns="0" rtlCol="0" anchor="ctr"/>
          <a:lstStyle/>
          <a:p>
            <a:pPr marL="0" indent="0">
              <a:buNone/>
            </a:pPr>
            <a:r>
              <a:rPr lang="en-US" sz="2000" b="1" dirty="0">
                <a:latin typeface="Montserrat" panose="00000500000000000000" pitchFamily="2" charset="0"/>
                <a:ea typeface="Calibri" pitchFamily="34" charset="-122"/>
                <a:cs typeface="Calibri" pitchFamily="34" charset="-120"/>
              </a:rPr>
              <a:t>Why it matters</a:t>
            </a:r>
            <a:endParaRPr lang="en-US" sz="2000" dirty="0">
              <a:latin typeface="Montserrat" panose="00000500000000000000" pitchFamily="2" charset="0"/>
            </a:endParaRPr>
          </a:p>
        </p:txBody>
      </p:sp>
      <p:sp>
        <p:nvSpPr>
          <p:cNvPr id="34" name="Text 21">
            <a:extLst>
              <a:ext uri="{FF2B5EF4-FFF2-40B4-BE49-F238E27FC236}">
                <a16:creationId xmlns:a16="http://schemas.microsoft.com/office/drawing/2014/main" id="{56D7E4E5-031D-C50B-7E34-FB720CD895A3}"/>
              </a:ext>
            </a:extLst>
          </p:cNvPr>
          <p:cNvSpPr/>
          <p:nvPr/>
        </p:nvSpPr>
        <p:spPr>
          <a:xfrm>
            <a:off x="1325903" y="3931955"/>
            <a:ext cx="10162332" cy="854201"/>
          </a:xfrm>
          <a:prstGeom prst="rect">
            <a:avLst/>
          </a:prstGeom>
          <a:noFill/>
          <a:ln/>
        </p:spPr>
        <p:txBody>
          <a:bodyPr wrap="square" lIns="0" tIns="0" rIns="0" bIns="0" rtlCol="0" anchor="ctr"/>
          <a:lstStyle/>
          <a:p>
            <a:pPr marL="0" indent="0">
              <a:buNone/>
            </a:pPr>
            <a:r>
              <a:rPr lang="en-US" sz="1600" dirty="0">
                <a:latin typeface="Montserrat" panose="00000500000000000000" pitchFamily="2" charset="0"/>
                <a:ea typeface="Calibri" pitchFamily="34" charset="-122"/>
                <a:cs typeface="Calibri" pitchFamily="34" charset="-120"/>
              </a:rPr>
              <a:t>Larger context = more documents, longer conversations, and complex tasks. </a:t>
            </a:r>
            <a:endParaRPr lang="en-US" sz="1600" dirty="0">
              <a:latin typeface="Montserrat" panose="00000500000000000000" pitchFamily="2" charset="0"/>
            </a:endParaRPr>
          </a:p>
        </p:txBody>
      </p:sp>
      <p:graphicFrame>
        <p:nvGraphicFramePr>
          <p:cNvPr id="38" name="Table 37">
            <a:extLst>
              <a:ext uri="{FF2B5EF4-FFF2-40B4-BE49-F238E27FC236}">
                <a16:creationId xmlns:a16="http://schemas.microsoft.com/office/drawing/2014/main" id="{38DE4487-DF52-21DA-C0A7-A43ECE69E6FA}"/>
              </a:ext>
            </a:extLst>
          </p:cNvPr>
          <p:cNvGraphicFramePr>
            <a:graphicFrameLocks noGrp="1"/>
          </p:cNvGraphicFramePr>
          <p:nvPr/>
        </p:nvGraphicFramePr>
        <p:xfrm>
          <a:off x="2559139" y="4890040"/>
          <a:ext cx="6580879" cy="1676400"/>
        </p:xfrm>
        <a:graphic>
          <a:graphicData uri="http://schemas.openxmlformats.org/drawingml/2006/table">
            <a:tbl>
              <a:tblPr>
                <a:tableStyleId>{0E3FDE45-AF77-4B5C-9715-49D594BDF05E}</a:tableStyleId>
              </a:tblPr>
              <a:tblGrid>
                <a:gridCol w="1941752">
                  <a:extLst>
                    <a:ext uri="{9D8B030D-6E8A-4147-A177-3AD203B41FA5}">
                      <a16:colId xmlns:a16="http://schemas.microsoft.com/office/drawing/2014/main" val="1291129798"/>
                    </a:ext>
                  </a:extLst>
                </a:gridCol>
                <a:gridCol w="4639127">
                  <a:extLst>
                    <a:ext uri="{9D8B030D-6E8A-4147-A177-3AD203B41FA5}">
                      <a16:colId xmlns:a16="http://schemas.microsoft.com/office/drawing/2014/main" val="646490295"/>
                    </a:ext>
                  </a:extLst>
                </a:gridCol>
              </a:tblGrid>
              <a:tr h="236144">
                <a:tc>
                  <a:txBody>
                    <a:bodyPr/>
                    <a:lstStyle/>
                    <a:p>
                      <a:pPr algn="ctr">
                        <a:buNone/>
                      </a:pPr>
                      <a:r>
                        <a:rPr lang="en-CA" sz="1600" b="1" dirty="0">
                          <a:latin typeface="Montserrat" panose="00000500000000000000" pitchFamily="2" charset="0"/>
                        </a:rPr>
                        <a:t>Model</a:t>
                      </a:r>
                    </a:p>
                  </a:txBody>
                  <a:tcPr anchor="ctr"/>
                </a:tc>
                <a:tc>
                  <a:txBody>
                    <a:bodyPr/>
                    <a:lstStyle/>
                    <a:p>
                      <a:pPr algn="ctr">
                        <a:buNone/>
                      </a:pPr>
                      <a:r>
                        <a:rPr lang="en-CA" sz="1600" b="1" dirty="0">
                          <a:latin typeface="Montserrat" panose="00000500000000000000" pitchFamily="2" charset="0"/>
                        </a:rPr>
                        <a:t>Tokens</a:t>
                      </a:r>
                    </a:p>
                  </a:txBody>
                  <a:tcPr anchor="ctr"/>
                </a:tc>
                <a:extLst>
                  <a:ext uri="{0D108BD9-81ED-4DB2-BD59-A6C34878D82A}">
                    <a16:rowId xmlns:a16="http://schemas.microsoft.com/office/drawing/2014/main" val="2076730139"/>
                  </a:ext>
                </a:extLst>
              </a:tr>
              <a:tr h="236144">
                <a:tc>
                  <a:txBody>
                    <a:bodyPr/>
                    <a:lstStyle/>
                    <a:p>
                      <a:pPr algn="ctr">
                        <a:buNone/>
                      </a:pPr>
                      <a:r>
                        <a:rPr lang="en-CA" sz="1600" dirty="0">
                          <a:latin typeface="Montserrat" panose="00000500000000000000" pitchFamily="2" charset="0"/>
                        </a:rPr>
                        <a:t>128K</a:t>
                      </a:r>
                    </a:p>
                  </a:txBody>
                  <a:tcPr anchor="ctr"/>
                </a:tc>
                <a:tc>
                  <a:txBody>
                    <a:bodyPr/>
                    <a:lstStyle/>
                    <a:p>
                      <a:pPr algn="ctr">
                        <a:buNone/>
                      </a:pPr>
                      <a:r>
                        <a:rPr lang="en-CA" sz="1600" dirty="0">
                          <a:latin typeface="Montserrat" panose="00000500000000000000" pitchFamily="2" charset="0"/>
                        </a:rPr>
                        <a:t>~300 pages</a:t>
                      </a:r>
                    </a:p>
                  </a:txBody>
                  <a:tcPr anchor="ctr"/>
                </a:tc>
                <a:extLst>
                  <a:ext uri="{0D108BD9-81ED-4DB2-BD59-A6C34878D82A}">
                    <a16:rowId xmlns:a16="http://schemas.microsoft.com/office/drawing/2014/main" val="761086204"/>
                  </a:ext>
                </a:extLst>
              </a:tr>
              <a:tr h="236144">
                <a:tc>
                  <a:txBody>
                    <a:bodyPr/>
                    <a:lstStyle/>
                    <a:p>
                      <a:pPr algn="ctr">
                        <a:buNone/>
                      </a:pPr>
                      <a:r>
                        <a:rPr lang="en-CA" sz="1600">
                          <a:latin typeface="Montserrat" panose="00000500000000000000" pitchFamily="2" charset="0"/>
                        </a:rPr>
                        <a:t>400K</a:t>
                      </a:r>
                    </a:p>
                  </a:txBody>
                  <a:tcPr anchor="ctr"/>
                </a:tc>
                <a:tc>
                  <a:txBody>
                    <a:bodyPr/>
                    <a:lstStyle/>
                    <a:p>
                      <a:pPr algn="ctr">
                        <a:buNone/>
                      </a:pPr>
                      <a:r>
                        <a:rPr lang="en-CA" sz="1600" dirty="0">
                          <a:latin typeface="Montserrat" panose="00000500000000000000" pitchFamily="2" charset="0"/>
                        </a:rPr>
                        <a:t>~1,200 pages</a:t>
                      </a:r>
                    </a:p>
                  </a:txBody>
                  <a:tcPr anchor="ctr"/>
                </a:tc>
                <a:extLst>
                  <a:ext uri="{0D108BD9-81ED-4DB2-BD59-A6C34878D82A}">
                    <a16:rowId xmlns:a16="http://schemas.microsoft.com/office/drawing/2014/main" val="1195696201"/>
                  </a:ext>
                </a:extLst>
              </a:tr>
              <a:tr h="236144">
                <a:tc>
                  <a:txBody>
                    <a:bodyPr/>
                    <a:lstStyle/>
                    <a:p>
                      <a:pPr algn="ctr">
                        <a:buNone/>
                      </a:pPr>
                      <a:r>
                        <a:rPr lang="en-CA" sz="1600">
                          <a:latin typeface="Montserrat" panose="00000500000000000000" pitchFamily="2" charset="0"/>
                        </a:rPr>
                        <a:t>1M</a:t>
                      </a:r>
                    </a:p>
                  </a:txBody>
                  <a:tcPr anchor="ctr"/>
                </a:tc>
                <a:tc>
                  <a:txBody>
                    <a:bodyPr/>
                    <a:lstStyle/>
                    <a:p>
                      <a:pPr algn="ctr">
                        <a:buNone/>
                      </a:pPr>
                      <a:r>
                        <a:rPr lang="en-CA" sz="1600" dirty="0">
                          <a:latin typeface="Montserrat" panose="00000500000000000000" pitchFamily="2" charset="0"/>
                        </a:rPr>
                        <a:t>~2,500–3,000 pages</a:t>
                      </a:r>
                    </a:p>
                  </a:txBody>
                  <a:tcPr anchor="ctr"/>
                </a:tc>
                <a:extLst>
                  <a:ext uri="{0D108BD9-81ED-4DB2-BD59-A6C34878D82A}">
                    <a16:rowId xmlns:a16="http://schemas.microsoft.com/office/drawing/2014/main" val="553903336"/>
                  </a:ext>
                </a:extLst>
              </a:tr>
              <a:tr h="236144">
                <a:tc>
                  <a:txBody>
                    <a:bodyPr/>
                    <a:lstStyle/>
                    <a:p>
                      <a:pPr algn="ctr">
                        <a:buNone/>
                      </a:pPr>
                      <a:r>
                        <a:rPr lang="en-CA" sz="1600">
                          <a:latin typeface="Montserrat" panose="00000500000000000000" pitchFamily="2" charset="0"/>
                        </a:rPr>
                        <a:t>10M</a:t>
                      </a:r>
                    </a:p>
                  </a:txBody>
                  <a:tcPr anchor="ctr"/>
                </a:tc>
                <a:tc>
                  <a:txBody>
                    <a:bodyPr/>
                    <a:lstStyle/>
                    <a:p>
                      <a:pPr algn="ctr">
                        <a:buNone/>
                      </a:pPr>
                      <a:r>
                        <a:rPr lang="en-CA" sz="1600" dirty="0">
                          <a:latin typeface="Montserrat" panose="00000500000000000000" pitchFamily="2" charset="0"/>
                        </a:rPr>
                        <a:t>Entire codebase / archive</a:t>
                      </a:r>
                    </a:p>
                  </a:txBody>
                  <a:tcPr anchor="ctr"/>
                </a:tc>
                <a:extLst>
                  <a:ext uri="{0D108BD9-81ED-4DB2-BD59-A6C34878D82A}">
                    <a16:rowId xmlns:a16="http://schemas.microsoft.com/office/drawing/2014/main" val="52615529"/>
                  </a:ext>
                </a:extLst>
              </a:tr>
            </a:tbl>
          </a:graphicData>
        </a:graphic>
      </p:graphicFrame>
    </p:spTree>
    <p:extLst>
      <p:ext uri="{BB962C8B-B14F-4D97-AF65-F5344CB8AC3E}">
        <p14:creationId xmlns:p14="http://schemas.microsoft.com/office/powerpoint/2010/main" val="70703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7" grpId="0" animBg="1"/>
      <p:bldP spid="18" grpId="0" animBg="1"/>
      <p:bldP spid="19" grpId="0" animBg="1"/>
      <p:bldP spid="21" grpId="0" animBg="1"/>
      <p:bldP spid="22" grpId="0" animBg="1"/>
      <p:bldP spid="23" grpId="0" animBg="1"/>
      <p:bldP spid="25" grpId="0" animBg="1"/>
      <p:bldP spid="32" grpId="0" animBg="1"/>
      <p:bldP spid="33" grpId="0" animBg="1"/>
      <p:bldP spid="3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B119-793C-0FDF-C32E-5F9DDE91E1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9267E8-8584-BDA9-D39B-300EAC7A87B4}"/>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92872C3-0E9D-1C5F-A116-5900D1DCADC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ADF091B-9C17-B638-40BA-5AE0C84FB81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Understanding Tokens </a:t>
            </a:r>
          </a:p>
        </p:txBody>
      </p:sp>
      <p:sp>
        <p:nvSpPr>
          <p:cNvPr id="9" name="TextBox 8">
            <a:extLst>
              <a:ext uri="{FF2B5EF4-FFF2-40B4-BE49-F238E27FC236}">
                <a16:creationId xmlns:a16="http://schemas.microsoft.com/office/drawing/2014/main" id="{62AC4715-593F-BF2A-1E8F-7A0FF7951D7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B431A747-CE62-D3DB-6E1D-A991DED273B4}"/>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E4E95363-7C0B-15FF-C8BD-02853A7DEC97}"/>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560A6279-38FB-B7CB-89A2-84DEBF975B7E}"/>
              </a:ext>
            </a:extLst>
          </p:cNvPr>
          <p:cNvSpPr txBox="1"/>
          <p:nvPr/>
        </p:nvSpPr>
        <p:spPr>
          <a:xfrm>
            <a:off x="153409" y="907669"/>
            <a:ext cx="8905799" cy="304698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Use the </a:t>
            </a:r>
            <a:r>
              <a:rPr lang="en-US" sz="1600" dirty="0">
                <a:latin typeface="Montserrat" panose="00000500000000000000" pitchFamily="2" charset="0"/>
                <a:hlinkClick r:id="rId4"/>
              </a:rPr>
              <a:t>OpenAI Tokenizer Tool </a:t>
            </a:r>
            <a:r>
              <a:rPr lang="en-US" sz="1600" dirty="0">
                <a:latin typeface="Montserrat" panose="00000500000000000000" pitchFamily="2" charset="0"/>
              </a:rPr>
              <a:t>to analyze the following two prompts. Record the number of tokens for each of the following examples:</a:t>
            </a:r>
          </a:p>
          <a:p>
            <a:pPr marL="742950" lvl="1" indent="-285750">
              <a:buFont typeface="Courier New" panose="02070309020205020404" pitchFamily="49" charset="0"/>
              <a:buChar char="o"/>
            </a:pPr>
            <a:r>
              <a:rPr lang="en-US" sz="1600" i="1" dirty="0">
                <a:latin typeface="Montserrat" panose="00000500000000000000" pitchFamily="2" charset="0"/>
              </a:rPr>
              <a:t>Example 1: "Explain the difference between supervised and unsupervised learning in AI."</a:t>
            </a:r>
          </a:p>
          <a:p>
            <a:pPr marL="742950" lvl="1" indent="-285750">
              <a:buFont typeface="Courier New" panose="02070309020205020404" pitchFamily="49" charset="0"/>
              <a:buChar char="o"/>
            </a:pPr>
            <a:r>
              <a:rPr lang="en-US" sz="1600" i="1" dirty="0">
                <a:latin typeface="Montserrat" panose="00000500000000000000" pitchFamily="2" charset="0"/>
              </a:rPr>
              <a:t>Example 2: "Please explain the difference between supervised and unsupervised learning in AI. Thank You."</a:t>
            </a:r>
          </a:p>
          <a:p>
            <a:pPr marL="285750" indent="-285750">
              <a:buFont typeface="Arial" panose="020B0604020202020204" pitchFamily="34" charset="0"/>
              <a:buChar char="•"/>
            </a:pPr>
            <a:r>
              <a:rPr lang="en-US" sz="1600" dirty="0">
                <a:latin typeface="Montserrat" panose="00000500000000000000" pitchFamily="2" charset="0"/>
              </a:rPr>
              <a:t>Which sentence had more tokens?</a:t>
            </a:r>
          </a:p>
          <a:p>
            <a:pPr marL="285750" indent="-285750">
              <a:buFont typeface="Arial" panose="020B0604020202020204" pitchFamily="34" charset="0"/>
              <a:buChar char="•"/>
            </a:pPr>
            <a:r>
              <a:rPr lang="en-US" sz="1600" dirty="0">
                <a:latin typeface="Montserrat" panose="00000500000000000000" pitchFamily="2" charset="0"/>
              </a:rPr>
              <a:t>Reflect: Sam Altman once mentioned that people typing “thank you” and "please" to ChatGPT cost OpenAI millions of dollars. What does this tell you about the importance of token efficiency when designing prompts or building tools? (</a:t>
            </a:r>
            <a:r>
              <a:rPr lang="en-US" sz="1600" dirty="0">
                <a:latin typeface="Montserrat" panose="00000500000000000000" pitchFamily="2" charset="0"/>
                <a:hlinkClick r:id="rId5"/>
              </a:rPr>
              <a:t>https://futurism.com/altman-please-thanks-chatgpt</a:t>
            </a:r>
            <a:r>
              <a:rPr lang="en-US" sz="1600" dirty="0">
                <a:latin typeface="Montserrat" panose="00000500000000000000" pitchFamily="2" charset="0"/>
              </a:rPr>
              <a:t>)</a:t>
            </a:r>
          </a:p>
          <a:p>
            <a:endParaRPr lang="en-US" sz="1400" dirty="0">
              <a:latin typeface="Montserrat" panose="00000500000000000000" pitchFamily="2" charset="0"/>
            </a:endParaRPr>
          </a:p>
        </p:txBody>
      </p:sp>
      <p:pic>
        <p:nvPicPr>
          <p:cNvPr id="2" name="Picture 1">
            <a:extLst>
              <a:ext uri="{FF2B5EF4-FFF2-40B4-BE49-F238E27FC236}">
                <a16:creationId xmlns:a16="http://schemas.microsoft.com/office/drawing/2014/main" id="{CA27231B-FFAA-F14A-02D5-B1871A7DECF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8998545" y="747334"/>
            <a:ext cx="3060152" cy="2421464"/>
          </a:xfrm>
          <a:prstGeom prst="rect">
            <a:avLst/>
          </a:prstGeom>
        </p:spPr>
      </p:pic>
    </p:spTree>
    <p:extLst>
      <p:ext uri="{BB962C8B-B14F-4D97-AF65-F5344CB8AC3E}">
        <p14:creationId xmlns:p14="http://schemas.microsoft.com/office/powerpoint/2010/main" val="2907660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945B-9AC5-9655-1F3F-BA8913D45B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780441-8869-1559-1FBA-4AE9F8E4DA82}"/>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5E594419-2D55-73D1-796E-0D29D1F00F5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BC95098-DA5D-8E90-AA7A-9EE94D9F06F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99A51415-D902-DB72-57F4-B249C4FB9E2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1D2F54A1-A847-84F9-E14D-28C0FDD23C3B}"/>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pic>
        <p:nvPicPr>
          <p:cNvPr id="2" name="Picture 1">
            <a:extLst>
              <a:ext uri="{FF2B5EF4-FFF2-40B4-BE49-F238E27FC236}">
                <a16:creationId xmlns:a16="http://schemas.microsoft.com/office/drawing/2014/main" id="{27641939-3BD4-782F-1EC6-3078BEAB473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pic>
        <p:nvPicPr>
          <p:cNvPr id="11" name="Picture 10">
            <a:extLst>
              <a:ext uri="{FF2B5EF4-FFF2-40B4-BE49-F238E27FC236}">
                <a16:creationId xmlns:a16="http://schemas.microsoft.com/office/drawing/2014/main" id="{4EC9C979-DB65-0995-7B76-86C67FEFB6A7}"/>
              </a:ext>
            </a:extLst>
          </p:cNvPr>
          <p:cNvPicPr>
            <a:picLocks noChangeAspect="1"/>
          </p:cNvPicPr>
          <p:nvPr/>
        </p:nvPicPr>
        <p:blipFill>
          <a:blip r:embed="rId5"/>
          <a:stretch>
            <a:fillRect/>
          </a:stretch>
        </p:blipFill>
        <p:spPr>
          <a:xfrm>
            <a:off x="164684" y="1017178"/>
            <a:ext cx="4317272" cy="3766391"/>
          </a:xfrm>
          <a:prstGeom prst="rect">
            <a:avLst/>
          </a:prstGeom>
        </p:spPr>
      </p:pic>
      <p:pic>
        <p:nvPicPr>
          <p:cNvPr id="13" name="Picture 12">
            <a:extLst>
              <a:ext uri="{FF2B5EF4-FFF2-40B4-BE49-F238E27FC236}">
                <a16:creationId xmlns:a16="http://schemas.microsoft.com/office/drawing/2014/main" id="{84B6D989-F72A-F660-79AF-F662FCF47299}"/>
              </a:ext>
            </a:extLst>
          </p:cNvPr>
          <p:cNvPicPr>
            <a:picLocks noChangeAspect="1"/>
          </p:cNvPicPr>
          <p:nvPr/>
        </p:nvPicPr>
        <p:blipFill>
          <a:blip r:embed="rId6"/>
          <a:stretch>
            <a:fillRect/>
          </a:stretch>
        </p:blipFill>
        <p:spPr>
          <a:xfrm>
            <a:off x="4793157" y="1094367"/>
            <a:ext cx="4359232" cy="3689202"/>
          </a:xfrm>
          <a:prstGeom prst="rect">
            <a:avLst/>
          </a:prstGeom>
        </p:spPr>
      </p:pic>
    </p:spTree>
    <p:extLst>
      <p:ext uri="{BB962C8B-B14F-4D97-AF65-F5344CB8AC3E}">
        <p14:creationId xmlns:p14="http://schemas.microsoft.com/office/powerpoint/2010/main" val="321075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60D1A-8343-AE39-1C7E-EB4560514C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993B865-5280-52F8-A7E5-87FF21D1B68E}"/>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2C86A26-F672-CFE8-4EBB-1EF96160F88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F961F49B-3EBA-2426-8DB8-4448657D3F61}"/>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SKILLS</a:t>
            </a:r>
          </a:p>
        </p:txBody>
      </p:sp>
      <p:pic>
        <p:nvPicPr>
          <p:cNvPr id="5" name="Picture 4">
            <a:extLst>
              <a:ext uri="{FF2B5EF4-FFF2-40B4-BE49-F238E27FC236}">
                <a16:creationId xmlns:a16="http://schemas.microsoft.com/office/drawing/2014/main" id="{D5D140DA-6AA1-A14D-0F75-696D7BF4D7D6}"/>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025187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D86C7-9C61-0178-9610-3988792187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CB3F50-D8DA-5FAF-D185-04525A1A21FB}"/>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DCFAE0E2-835B-946D-EFB6-90EB172566F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00D3CCC-EC6E-1028-45B6-92981E49C0E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What does a Skill file look like?</a:t>
            </a:r>
          </a:p>
        </p:txBody>
      </p:sp>
      <p:sp>
        <p:nvSpPr>
          <p:cNvPr id="9" name="TextBox 8">
            <a:extLst>
              <a:ext uri="{FF2B5EF4-FFF2-40B4-BE49-F238E27FC236}">
                <a16:creationId xmlns:a16="http://schemas.microsoft.com/office/drawing/2014/main" id="{6707CB1F-4C2F-FD85-36FE-E18DDA413E4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397E3BAD-8745-E1BE-2FFE-10E9A0D4B3FF}"/>
              </a:ext>
            </a:extLst>
          </p:cNvPr>
          <p:cNvSpPr txBox="1"/>
          <p:nvPr/>
        </p:nvSpPr>
        <p:spPr>
          <a:xfrm>
            <a:off x="236618" y="784575"/>
            <a:ext cx="11536281" cy="1754326"/>
          </a:xfrm>
          <a:prstGeom prst="rect">
            <a:avLst/>
          </a:prstGeom>
          <a:noFill/>
        </p:spPr>
        <p:txBody>
          <a:bodyPr wrap="square">
            <a:spAutoFit/>
          </a:bodyPr>
          <a:lstStyle>
            <a:defPPr>
              <a:defRPr lang="en-US"/>
            </a:defPPr>
            <a:lvl1pPr marL="285750" indent="-285750">
              <a:buFont typeface="Arial" panose="020B0604020202020204" pitchFamily="34" charset="0"/>
              <a:buChar char="•"/>
              <a:defRPr>
                <a:latin typeface="Montserrat" panose="00000500000000000000" pitchFamily="2" charset="0"/>
                <a:ea typeface="Calibri" pitchFamily="34" charset="-122"/>
                <a:cs typeface="Calibri" pitchFamily="34" charset="-120"/>
              </a:defRPr>
            </a:lvl1pPr>
          </a:lstStyle>
          <a:p>
            <a:pPr>
              <a:buClrTx/>
            </a:pPr>
            <a:r>
              <a:rPr lang="en-US" dirty="0"/>
              <a:t>Skills extend Claude's capabilities by giving it access to specialized knowledge and workflows. Create once, use everywhere.</a:t>
            </a:r>
          </a:p>
          <a:p>
            <a:pPr>
              <a:buClrTx/>
            </a:pPr>
            <a:r>
              <a:rPr lang="en-US" dirty="0"/>
              <a:t>Claude loads skills dynamically to improve performance on specialized tasks.</a:t>
            </a:r>
          </a:p>
          <a:p>
            <a:r>
              <a:rPr lang="en-US" dirty="0"/>
              <a:t>Every Skill requires a SKILL.md file. </a:t>
            </a:r>
          </a:p>
          <a:p>
            <a:r>
              <a:rPr lang="en-US" dirty="0"/>
              <a:t>Note that on the top of each SKILL.md file, there is metadata that describes what the skill does which includes name and description.</a:t>
            </a:r>
            <a:endParaRPr lang="en-CA" dirty="0"/>
          </a:p>
        </p:txBody>
      </p:sp>
      <p:pic>
        <p:nvPicPr>
          <p:cNvPr id="8" name="Picture 7">
            <a:extLst>
              <a:ext uri="{FF2B5EF4-FFF2-40B4-BE49-F238E27FC236}">
                <a16:creationId xmlns:a16="http://schemas.microsoft.com/office/drawing/2014/main" id="{FBB1AE7A-BB0C-D9BA-9A0F-0E74F409EEF9}"/>
              </a:ext>
            </a:extLst>
          </p:cNvPr>
          <p:cNvPicPr>
            <a:picLocks noChangeAspect="1"/>
          </p:cNvPicPr>
          <p:nvPr/>
        </p:nvPicPr>
        <p:blipFill>
          <a:blip r:embed="rId4"/>
          <a:stretch>
            <a:fillRect/>
          </a:stretch>
        </p:blipFill>
        <p:spPr>
          <a:xfrm>
            <a:off x="748397" y="2771323"/>
            <a:ext cx="10695205" cy="3756135"/>
          </a:xfrm>
          <a:prstGeom prst="rect">
            <a:avLst/>
          </a:prstGeom>
        </p:spPr>
      </p:pic>
    </p:spTree>
    <p:extLst>
      <p:ext uri="{BB962C8B-B14F-4D97-AF65-F5344CB8AC3E}">
        <p14:creationId xmlns:p14="http://schemas.microsoft.com/office/powerpoint/2010/main" val="300300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A2B1E-18FC-4AA6-B25F-972C6A666B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5DA7F8-472E-1EFD-2BD3-0E138248B9EA}"/>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F69B1A5E-89E6-ED2E-80E1-BCC23F0D454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315FA85-FA1A-E995-64FA-77386358B8B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Skills Sources</a:t>
            </a:r>
          </a:p>
        </p:txBody>
      </p:sp>
      <p:sp>
        <p:nvSpPr>
          <p:cNvPr id="9" name="TextBox 8">
            <a:extLst>
              <a:ext uri="{FF2B5EF4-FFF2-40B4-BE49-F238E27FC236}">
                <a16:creationId xmlns:a16="http://schemas.microsoft.com/office/drawing/2014/main" id="{B19FC58B-B69E-FE8C-F725-A99CBA50270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14" name="Picture 13">
            <a:extLst>
              <a:ext uri="{FF2B5EF4-FFF2-40B4-BE49-F238E27FC236}">
                <a16:creationId xmlns:a16="http://schemas.microsoft.com/office/drawing/2014/main" id="{939D5ABF-B61E-9960-E152-B27D423281A7}"/>
              </a:ext>
            </a:extLst>
          </p:cNvPr>
          <p:cNvPicPr>
            <a:picLocks noChangeAspect="1"/>
          </p:cNvPicPr>
          <p:nvPr/>
        </p:nvPicPr>
        <p:blipFill>
          <a:blip r:embed="rId4"/>
          <a:stretch>
            <a:fillRect/>
          </a:stretch>
        </p:blipFill>
        <p:spPr>
          <a:xfrm>
            <a:off x="738666" y="1080645"/>
            <a:ext cx="8514945" cy="4280436"/>
          </a:xfrm>
          <a:prstGeom prst="rect">
            <a:avLst/>
          </a:prstGeom>
        </p:spPr>
      </p:pic>
      <p:sp>
        <p:nvSpPr>
          <p:cNvPr id="15" name="TextBox 14">
            <a:extLst>
              <a:ext uri="{FF2B5EF4-FFF2-40B4-BE49-F238E27FC236}">
                <a16:creationId xmlns:a16="http://schemas.microsoft.com/office/drawing/2014/main" id="{A1D5622C-95B2-437A-B466-1EF6A764E66D}"/>
              </a:ext>
            </a:extLst>
          </p:cNvPr>
          <p:cNvSpPr txBox="1"/>
          <p:nvPr/>
        </p:nvSpPr>
        <p:spPr>
          <a:xfrm>
            <a:off x="6549361" y="1067237"/>
            <a:ext cx="4952816" cy="1015663"/>
          </a:xfrm>
          <a:prstGeom prst="rect">
            <a:avLst/>
          </a:prstGeom>
          <a:noFill/>
        </p:spPr>
        <p:txBody>
          <a:bodyPr wrap="square">
            <a:spAutoFit/>
          </a:bodyPr>
          <a:lstStyle/>
          <a:p>
            <a:r>
              <a:rPr lang="en-CA" sz="2000" dirty="0">
                <a:solidFill>
                  <a:schemeClr val="bg1"/>
                </a:solidFill>
                <a:hlinkClick r:id="rId5">
                  <a:extLst>
                    <a:ext uri="{A12FA001-AC4F-418D-AE19-62706E023703}">
                      <ahyp:hlinkClr xmlns:ahyp="http://schemas.microsoft.com/office/drawing/2018/hyperlinkcolor" val="tx"/>
                    </a:ext>
                  </a:extLst>
                </a:hlinkClick>
              </a:rPr>
              <a:t>https://skills.sh/</a:t>
            </a:r>
            <a:endParaRPr lang="en-CA" sz="2000" dirty="0">
              <a:solidFill>
                <a:schemeClr val="bg1"/>
              </a:solidFill>
            </a:endParaRPr>
          </a:p>
          <a:p>
            <a:endParaRPr lang="en-CA" sz="2000" dirty="0">
              <a:solidFill>
                <a:schemeClr val="bg2"/>
              </a:solidFill>
            </a:endParaRPr>
          </a:p>
          <a:p>
            <a:endParaRPr lang="en-CA" sz="2000" dirty="0">
              <a:solidFill>
                <a:schemeClr val="bg2"/>
              </a:solidFill>
            </a:endParaRPr>
          </a:p>
        </p:txBody>
      </p:sp>
      <p:pic>
        <p:nvPicPr>
          <p:cNvPr id="16" name="Picture 15">
            <a:extLst>
              <a:ext uri="{FF2B5EF4-FFF2-40B4-BE49-F238E27FC236}">
                <a16:creationId xmlns:a16="http://schemas.microsoft.com/office/drawing/2014/main" id="{DDD0CAC2-87D1-2904-82EA-789E1C2475F3}"/>
              </a:ext>
            </a:extLst>
          </p:cNvPr>
          <p:cNvPicPr>
            <a:picLocks noChangeAspect="1"/>
          </p:cNvPicPr>
          <p:nvPr/>
        </p:nvPicPr>
        <p:blipFill>
          <a:blip r:embed="rId6"/>
          <a:stretch>
            <a:fillRect/>
          </a:stretch>
        </p:blipFill>
        <p:spPr>
          <a:xfrm>
            <a:off x="3394423" y="1984615"/>
            <a:ext cx="6939064" cy="3784587"/>
          </a:xfrm>
          <a:prstGeom prst="rect">
            <a:avLst/>
          </a:prstGeom>
          <a:ln>
            <a:solidFill>
              <a:schemeClr val="bg2"/>
            </a:solidFill>
          </a:ln>
        </p:spPr>
      </p:pic>
      <p:sp>
        <p:nvSpPr>
          <p:cNvPr id="17" name="TextBox 16">
            <a:extLst>
              <a:ext uri="{FF2B5EF4-FFF2-40B4-BE49-F238E27FC236}">
                <a16:creationId xmlns:a16="http://schemas.microsoft.com/office/drawing/2014/main" id="{1547CE59-F8AF-D460-C48A-BF8857673361}"/>
              </a:ext>
            </a:extLst>
          </p:cNvPr>
          <p:cNvSpPr txBox="1"/>
          <p:nvPr/>
        </p:nvSpPr>
        <p:spPr>
          <a:xfrm>
            <a:off x="7163418" y="2141176"/>
            <a:ext cx="3898034" cy="707886"/>
          </a:xfrm>
          <a:prstGeom prst="rect">
            <a:avLst/>
          </a:prstGeom>
          <a:noFill/>
        </p:spPr>
        <p:txBody>
          <a:bodyPr wrap="square">
            <a:spAutoFit/>
          </a:bodyPr>
          <a:lstStyle/>
          <a:p>
            <a:r>
              <a:rPr lang="en-CA" sz="2000" dirty="0">
                <a:solidFill>
                  <a:srgbClr val="022911"/>
                </a:solidFill>
                <a:hlinkClick r:id="rId7">
                  <a:extLst>
                    <a:ext uri="{A12FA001-AC4F-418D-AE19-62706E023703}">
                      <ahyp:hlinkClr xmlns:ahyp="http://schemas.microsoft.com/office/drawing/2018/hyperlinkcolor" val="tx"/>
                    </a:ext>
                  </a:extLst>
                </a:hlinkClick>
              </a:rPr>
              <a:t>https://www.skillhub.club/</a:t>
            </a:r>
            <a:endParaRPr lang="en-CA" sz="2000" dirty="0">
              <a:solidFill>
                <a:srgbClr val="022911"/>
              </a:solidFill>
            </a:endParaRPr>
          </a:p>
          <a:p>
            <a:endParaRPr lang="en-CA" sz="2000" dirty="0">
              <a:solidFill>
                <a:srgbClr val="022911"/>
              </a:solidFill>
            </a:endParaRPr>
          </a:p>
        </p:txBody>
      </p:sp>
      <p:pic>
        <p:nvPicPr>
          <p:cNvPr id="18" name="Picture 17">
            <a:extLst>
              <a:ext uri="{FF2B5EF4-FFF2-40B4-BE49-F238E27FC236}">
                <a16:creationId xmlns:a16="http://schemas.microsoft.com/office/drawing/2014/main" id="{174F1B2F-B662-83BD-A3BC-175C44CC4D09}"/>
              </a:ext>
            </a:extLst>
          </p:cNvPr>
          <p:cNvPicPr>
            <a:picLocks noChangeAspect="1"/>
          </p:cNvPicPr>
          <p:nvPr/>
        </p:nvPicPr>
        <p:blipFill>
          <a:blip r:embed="rId8"/>
          <a:stretch>
            <a:fillRect/>
          </a:stretch>
        </p:blipFill>
        <p:spPr>
          <a:xfrm>
            <a:off x="5381732" y="3463088"/>
            <a:ext cx="6269291" cy="3236655"/>
          </a:xfrm>
          <a:prstGeom prst="rect">
            <a:avLst/>
          </a:prstGeom>
          <a:ln>
            <a:solidFill>
              <a:schemeClr val="bg2"/>
            </a:solidFill>
          </a:ln>
        </p:spPr>
      </p:pic>
      <p:sp>
        <p:nvSpPr>
          <p:cNvPr id="19" name="TextBox 18">
            <a:extLst>
              <a:ext uri="{FF2B5EF4-FFF2-40B4-BE49-F238E27FC236}">
                <a16:creationId xmlns:a16="http://schemas.microsoft.com/office/drawing/2014/main" id="{33C1F8D8-DB43-1328-83F9-9A08668A2981}"/>
              </a:ext>
            </a:extLst>
          </p:cNvPr>
          <p:cNvSpPr txBox="1"/>
          <p:nvPr/>
        </p:nvSpPr>
        <p:spPr>
          <a:xfrm>
            <a:off x="8665224" y="3653701"/>
            <a:ext cx="2930396" cy="707886"/>
          </a:xfrm>
          <a:prstGeom prst="rect">
            <a:avLst/>
          </a:prstGeom>
          <a:noFill/>
        </p:spPr>
        <p:txBody>
          <a:bodyPr wrap="square">
            <a:spAutoFit/>
          </a:bodyPr>
          <a:lstStyle/>
          <a:p>
            <a:r>
              <a:rPr lang="en-CA" sz="2000" dirty="0">
                <a:solidFill>
                  <a:srgbClr val="022911"/>
                </a:solidFill>
                <a:hlinkClick r:id="rId9">
                  <a:extLst>
                    <a:ext uri="{A12FA001-AC4F-418D-AE19-62706E023703}">
                      <ahyp:hlinkClr xmlns:ahyp="http://schemas.microsoft.com/office/drawing/2018/hyperlinkcolor" val="tx"/>
                    </a:ext>
                  </a:extLst>
                </a:hlinkClick>
              </a:rPr>
              <a:t>https://skillsmp.com/</a:t>
            </a:r>
            <a:endParaRPr lang="en-CA" sz="2000" dirty="0">
              <a:solidFill>
                <a:srgbClr val="022911"/>
              </a:solidFill>
            </a:endParaRPr>
          </a:p>
          <a:p>
            <a:endParaRPr lang="en-CA" sz="2000" dirty="0"/>
          </a:p>
        </p:txBody>
      </p:sp>
      <p:sp>
        <p:nvSpPr>
          <p:cNvPr id="20" name="Rectangle 19">
            <a:extLst>
              <a:ext uri="{FF2B5EF4-FFF2-40B4-BE49-F238E27FC236}">
                <a16:creationId xmlns:a16="http://schemas.microsoft.com/office/drawing/2014/main" id="{7E7EBC53-5776-8E5D-4A76-03F5BB74F43C}"/>
              </a:ext>
            </a:extLst>
          </p:cNvPr>
          <p:cNvSpPr>
            <a:spLocks noChangeArrowheads="1"/>
          </p:cNvSpPr>
          <p:nvPr/>
        </p:nvSpPr>
        <p:spPr bwMode="auto">
          <a:xfrm>
            <a:off x="214711" y="803151"/>
            <a:ext cx="11480067" cy="792696"/>
          </a:xfrm>
          <a:prstGeom prst="rect">
            <a:avLst/>
          </a:prstGeom>
        </p:spPr>
        <p:txBody>
          <a:bodyPr vert="horz" lIns="91440" tIns="45720" rIns="91440" bIns="45720" rtlCol="0">
            <a:normAutofit/>
          </a:bodyPr>
          <a:lstStyle/>
          <a:p>
            <a:pPr marL="304792" indent="-304792">
              <a:lnSpc>
                <a:spcPct val="90000"/>
              </a:lnSpc>
              <a:spcBef>
                <a:spcPts val="1333"/>
              </a:spcBef>
              <a:buClr>
                <a:srgbClr val="1BBFD1"/>
              </a:buClr>
              <a:buFont typeface="Arial" panose="020B0604020202020204" pitchFamily="34" charset="0"/>
              <a:buChar char="•"/>
            </a:pPr>
            <a:endParaRPr lang="en-US" altLang="en-US" dirty="0">
              <a:latin typeface="Montserrat" panose="00000500000000000000" pitchFamily="2" charset="0"/>
            </a:endParaRPr>
          </a:p>
        </p:txBody>
      </p:sp>
    </p:spTree>
    <p:extLst>
      <p:ext uri="{BB962C8B-B14F-4D97-AF65-F5344CB8AC3E}">
        <p14:creationId xmlns:p14="http://schemas.microsoft.com/office/powerpoint/2010/main" val="73086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31561-4E21-7671-C40D-BF70790858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0ED2304-6C1B-B7C4-4C44-7BFE2A8A17D0}"/>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6A0A2EB-6C96-B07F-05AD-357EBFB3FE5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828E3EF-5B57-9E97-1212-0AB9F9B6DE5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Claude Agent Skills</a:t>
            </a:r>
          </a:p>
        </p:txBody>
      </p:sp>
      <p:sp>
        <p:nvSpPr>
          <p:cNvPr id="9" name="TextBox 8">
            <a:extLst>
              <a:ext uri="{FF2B5EF4-FFF2-40B4-BE49-F238E27FC236}">
                <a16:creationId xmlns:a16="http://schemas.microsoft.com/office/drawing/2014/main" id="{68A0087B-697B-453A-4420-BCB5948CBB8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0" name="Rectangle 19">
            <a:extLst>
              <a:ext uri="{FF2B5EF4-FFF2-40B4-BE49-F238E27FC236}">
                <a16:creationId xmlns:a16="http://schemas.microsoft.com/office/drawing/2014/main" id="{7C5BA997-4AE3-9B50-3632-52D0115B1A5C}"/>
              </a:ext>
            </a:extLst>
          </p:cNvPr>
          <p:cNvSpPr>
            <a:spLocks noChangeArrowheads="1"/>
          </p:cNvSpPr>
          <p:nvPr/>
        </p:nvSpPr>
        <p:spPr bwMode="auto">
          <a:xfrm>
            <a:off x="214711" y="803151"/>
            <a:ext cx="11480067" cy="792696"/>
          </a:xfrm>
          <a:prstGeom prst="rect">
            <a:avLst/>
          </a:prstGeom>
        </p:spPr>
        <p:txBody>
          <a:bodyPr vert="horz" lIns="91440" tIns="45720" rIns="91440" bIns="45720" rtlCol="0">
            <a:normAutofit/>
          </a:bodyPr>
          <a:lstStyle/>
          <a:p>
            <a:pPr marL="304792" indent="-304792">
              <a:lnSpc>
                <a:spcPct val="90000"/>
              </a:lnSpc>
              <a:spcBef>
                <a:spcPts val="1333"/>
              </a:spcBef>
              <a:buClr>
                <a:srgbClr val="1BBFD1"/>
              </a:buClr>
              <a:buFont typeface="Arial" panose="020B0604020202020204" pitchFamily="34" charset="0"/>
              <a:buChar char="•"/>
            </a:pPr>
            <a:endParaRPr lang="en-US" altLang="en-US" dirty="0">
              <a:latin typeface="Montserrat" panose="00000500000000000000" pitchFamily="2" charset="0"/>
            </a:endParaRPr>
          </a:p>
        </p:txBody>
      </p:sp>
      <p:sp>
        <p:nvSpPr>
          <p:cNvPr id="21" name="TextBox 20">
            <a:extLst>
              <a:ext uri="{FF2B5EF4-FFF2-40B4-BE49-F238E27FC236}">
                <a16:creationId xmlns:a16="http://schemas.microsoft.com/office/drawing/2014/main" id="{1D72868F-1A4B-93A3-3FFA-65D9EB4B9D55}"/>
              </a:ext>
            </a:extLst>
          </p:cNvPr>
          <p:cNvSpPr txBox="1"/>
          <p:nvPr/>
        </p:nvSpPr>
        <p:spPr>
          <a:xfrm>
            <a:off x="139689" y="869700"/>
            <a:ext cx="11749731" cy="1291293"/>
          </a:xfrm>
          <a:prstGeom prst="rect">
            <a:avLst/>
          </a:prstGeom>
        </p:spPr>
        <p:txBody>
          <a:bodyPr vert="horz" lIns="91440" tIns="45720" rIns="91440" bIns="45720" rtlCol="0">
            <a:normAutofit/>
          </a:bodyPr>
          <a:lstStyle>
            <a:defPPr marR="0" lvl="0" algn="l" rtl="0">
              <a:lnSpc>
                <a:spcPct val="100000"/>
              </a:lnSpc>
              <a:spcBef>
                <a:spcPts val="0"/>
              </a:spcBef>
              <a:spcAft>
                <a:spcPts val="0"/>
              </a:spcAft>
            </a:defPPr>
            <a:lvl1pPr marL="228600" indent="-228600">
              <a:lnSpc>
                <a:spcPct val="90000"/>
              </a:lnSpc>
              <a:spcBef>
                <a:spcPts val="1000"/>
              </a:spcBef>
              <a:buClr>
                <a:srgbClr val="1BBFD1"/>
              </a:buClr>
              <a:buFont typeface="Arial" panose="020B0604020202020204" pitchFamily="34" charset="0"/>
              <a:buChar char="•"/>
              <a:defRPr sz="1350">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a:buClrTx/>
            </a:pPr>
            <a:endParaRPr lang="en-US" sz="1800" dirty="0"/>
          </a:p>
        </p:txBody>
      </p:sp>
      <p:sp>
        <p:nvSpPr>
          <p:cNvPr id="3" name="Text 3">
            <a:extLst>
              <a:ext uri="{FF2B5EF4-FFF2-40B4-BE49-F238E27FC236}">
                <a16:creationId xmlns:a16="http://schemas.microsoft.com/office/drawing/2014/main" id="{18F464A2-FDBC-BEB3-1E50-7DD0280BA9FF}"/>
              </a:ext>
            </a:extLst>
          </p:cNvPr>
          <p:cNvSpPr/>
          <p:nvPr/>
        </p:nvSpPr>
        <p:spPr>
          <a:xfrm>
            <a:off x="1665083" y="1661972"/>
            <a:ext cx="7315200" cy="685800"/>
          </a:xfrm>
          <a:prstGeom prst="rect">
            <a:avLst/>
          </a:prstGeom>
          <a:noFill/>
          <a:ln/>
        </p:spPr>
        <p:txBody>
          <a:bodyPr wrap="square" rtlCol="0" anchor="ctr"/>
          <a:lstStyle/>
          <a:p>
            <a:pPr marL="0" indent="0">
              <a:buNone/>
            </a:pPr>
            <a:endParaRPr lang="en-US" sz="1500" dirty="0"/>
          </a:p>
        </p:txBody>
      </p:sp>
      <p:sp>
        <p:nvSpPr>
          <p:cNvPr id="4" name="Shape 4">
            <a:extLst>
              <a:ext uri="{FF2B5EF4-FFF2-40B4-BE49-F238E27FC236}">
                <a16:creationId xmlns:a16="http://schemas.microsoft.com/office/drawing/2014/main" id="{A8CA9CA5-D555-1745-B51C-ADDCFADCFD33}"/>
              </a:ext>
            </a:extLst>
          </p:cNvPr>
          <p:cNvSpPr/>
          <p:nvPr/>
        </p:nvSpPr>
        <p:spPr>
          <a:xfrm>
            <a:off x="725283" y="1674600"/>
            <a:ext cx="3180080" cy="33249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sp>
        <p:nvSpPr>
          <p:cNvPr id="11" name="Text 6">
            <a:extLst>
              <a:ext uri="{FF2B5EF4-FFF2-40B4-BE49-F238E27FC236}">
                <a16:creationId xmlns:a16="http://schemas.microsoft.com/office/drawing/2014/main" id="{7EEBBA0D-FF8A-589D-B427-09A7CF9E5935}"/>
              </a:ext>
            </a:extLst>
          </p:cNvPr>
          <p:cNvSpPr/>
          <p:nvPr/>
        </p:nvSpPr>
        <p:spPr>
          <a:xfrm>
            <a:off x="1230260" y="2820906"/>
            <a:ext cx="2459990" cy="320040"/>
          </a:xfrm>
          <a:prstGeom prst="rect">
            <a:avLst/>
          </a:prstGeom>
          <a:noFill/>
          <a:ln/>
        </p:spPr>
        <p:txBody>
          <a:bodyPr wrap="square" lIns="0" tIns="0" rIns="0" bIns="0" rtlCol="0" anchor="ctr"/>
          <a:lstStyle/>
          <a:p>
            <a:pPr marL="0" indent="0" algn="ctr">
              <a:buNone/>
            </a:pPr>
            <a:r>
              <a:rPr lang="en-US" sz="2800" b="1" dirty="0">
                <a:solidFill>
                  <a:srgbClr val="0C1752"/>
                </a:solidFill>
                <a:latin typeface="Montserrat" panose="00000500000000000000" pitchFamily="2" charset="0"/>
                <a:ea typeface="Trebuchet MS" pitchFamily="34" charset="-122"/>
                <a:cs typeface="Trebuchet MS" pitchFamily="34" charset="-120"/>
              </a:rPr>
              <a:t>Built-in Skills</a:t>
            </a:r>
            <a:endParaRPr lang="en-US" sz="2800" dirty="0">
              <a:solidFill>
                <a:srgbClr val="0C1752"/>
              </a:solidFill>
              <a:latin typeface="Montserrat" panose="00000500000000000000" pitchFamily="2" charset="0"/>
            </a:endParaRPr>
          </a:p>
        </p:txBody>
      </p:sp>
      <p:sp>
        <p:nvSpPr>
          <p:cNvPr id="13" name="Text 7">
            <a:extLst>
              <a:ext uri="{FF2B5EF4-FFF2-40B4-BE49-F238E27FC236}">
                <a16:creationId xmlns:a16="http://schemas.microsoft.com/office/drawing/2014/main" id="{4DA697C0-01D9-550F-2F2A-A073C2F25B52}"/>
              </a:ext>
            </a:extLst>
          </p:cNvPr>
          <p:cNvSpPr/>
          <p:nvPr/>
        </p:nvSpPr>
        <p:spPr>
          <a:xfrm>
            <a:off x="1734910" y="4930326"/>
            <a:ext cx="2540332" cy="370629"/>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23" name="Text 8">
            <a:extLst>
              <a:ext uri="{FF2B5EF4-FFF2-40B4-BE49-F238E27FC236}">
                <a16:creationId xmlns:a16="http://schemas.microsoft.com/office/drawing/2014/main" id="{1795A8E8-7CF5-85A2-EF97-A14F7B3568D4}"/>
              </a:ext>
            </a:extLst>
          </p:cNvPr>
          <p:cNvSpPr/>
          <p:nvPr/>
        </p:nvSpPr>
        <p:spPr>
          <a:xfrm>
            <a:off x="1734910" y="5204646"/>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25" name="Text 9">
            <a:extLst>
              <a:ext uri="{FF2B5EF4-FFF2-40B4-BE49-F238E27FC236}">
                <a16:creationId xmlns:a16="http://schemas.microsoft.com/office/drawing/2014/main" id="{86963715-C719-669B-1CF5-8E0736AE51F1}"/>
              </a:ext>
            </a:extLst>
          </p:cNvPr>
          <p:cNvSpPr/>
          <p:nvPr/>
        </p:nvSpPr>
        <p:spPr>
          <a:xfrm>
            <a:off x="1734910" y="5478966"/>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27" name="Text 10">
            <a:extLst>
              <a:ext uri="{FF2B5EF4-FFF2-40B4-BE49-F238E27FC236}">
                <a16:creationId xmlns:a16="http://schemas.microsoft.com/office/drawing/2014/main" id="{6A33FC2B-E594-E535-8581-61EC8BEFF5F8}"/>
              </a:ext>
            </a:extLst>
          </p:cNvPr>
          <p:cNvSpPr/>
          <p:nvPr/>
        </p:nvSpPr>
        <p:spPr>
          <a:xfrm>
            <a:off x="1952288" y="5287248"/>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28" name="Shape 11">
            <a:extLst>
              <a:ext uri="{FF2B5EF4-FFF2-40B4-BE49-F238E27FC236}">
                <a16:creationId xmlns:a16="http://schemas.microsoft.com/office/drawing/2014/main" id="{34609753-E064-D65F-C2FE-6BB28056A4CD}"/>
              </a:ext>
            </a:extLst>
          </p:cNvPr>
          <p:cNvSpPr/>
          <p:nvPr/>
        </p:nvSpPr>
        <p:spPr>
          <a:xfrm>
            <a:off x="4225403" y="1674600"/>
            <a:ext cx="3017520" cy="33249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30" name="Image 5" descr="preencoded.png">
            <a:extLst>
              <a:ext uri="{FF2B5EF4-FFF2-40B4-BE49-F238E27FC236}">
                <a16:creationId xmlns:a16="http://schemas.microsoft.com/office/drawing/2014/main" id="{AE58A96D-5A3C-A4AC-320B-68EAB2162551}"/>
              </a:ext>
            </a:extLst>
          </p:cNvPr>
          <p:cNvPicPr>
            <a:picLocks noChangeAspect="1"/>
          </p:cNvPicPr>
          <p:nvPr/>
        </p:nvPicPr>
        <p:blipFill>
          <a:blip r:embed="rId4"/>
          <a:stretch>
            <a:fillRect/>
          </a:stretch>
        </p:blipFill>
        <p:spPr>
          <a:xfrm>
            <a:off x="5454774" y="1845827"/>
            <a:ext cx="719348" cy="719348"/>
          </a:xfrm>
          <a:prstGeom prst="rect">
            <a:avLst/>
          </a:prstGeom>
        </p:spPr>
      </p:pic>
      <p:sp>
        <p:nvSpPr>
          <p:cNvPr id="31" name="Text 13">
            <a:extLst>
              <a:ext uri="{FF2B5EF4-FFF2-40B4-BE49-F238E27FC236}">
                <a16:creationId xmlns:a16="http://schemas.microsoft.com/office/drawing/2014/main" id="{075BF071-C585-74FF-20FC-C76901D07C8E}"/>
              </a:ext>
            </a:extLst>
          </p:cNvPr>
          <p:cNvSpPr/>
          <p:nvPr/>
        </p:nvSpPr>
        <p:spPr>
          <a:xfrm>
            <a:off x="4522454" y="2835461"/>
            <a:ext cx="2713658" cy="320040"/>
          </a:xfrm>
          <a:prstGeom prst="rect">
            <a:avLst/>
          </a:prstGeom>
          <a:noFill/>
          <a:ln/>
        </p:spPr>
        <p:txBody>
          <a:bodyPr wrap="square" lIns="0" tIns="0" rIns="0" bIns="0" rtlCol="0" anchor="ctr"/>
          <a:lstStyle/>
          <a:p>
            <a:pPr marL="0" indent="0" algn="ctr">
              <a:buNone/>
            </a:pPr>
            <a:r>
              <a:rPr lang="en-US" sz="2800" b="1" dirty="0">
                <a:solidFill>
                  <a:srgbClr val="0C1752"/>
                </a:solidFill>
                <a:latin typeface="Montserrat" panose="00000500000000000000" pitchFamily="2" charset="0"/>
                <a:ea typeface="Trebuchet MS" pitchFamily="34" charset="-122"/>
                <a:cs typeface="Trebuchet MS" pitchFamily="34" charset="-120"/>
              </a:rPr>
              <a:t>Custom Skills</a:t>
            </a:r>
            <a:endParaRPr lang="en-US" sz="2800" dirty="0">
              <a:solidFill>
                <a:srgbClr val="0C1752"/>
              </a:solidFill>
              <a:latin typeface="Montserrat" panose="00000500000000000000" pitchFamily="2" charset="0"/>
            </a:endParaRPr>
          </a:p>
        </p:txBody>
      </p:sp>
      <p:sp>
        <p:nvSpPr>
          <p:cNvPr id="33" name="Text 14">
            <a:extLst>
              <a:ext uri="{FF2B5EF4-FFF2-40B4-BE49-F238E27FC236}">
                <a16:creationId xmlns:a16="http://schemas.microsoft.com/office/drawing/2014/main" id="{CD6E3011-100B-043A-6D8C-3BAA1598FE29}"/>
              </a:ext>
            </a:extLst>
          </p:cNvPr>
          <p:cNvSpPr/>
          <p:nvPr/>
        </p:nvSpPr>
        <p:spPr>
          <a:xfrm>
            <a:off x="5241380" y="5113206"/>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35" name="Text 15">
            <a:extLst>
              <a:ext uri="{FF2B5EF4-FFF2-40B4-BE49-F238E27FC236}">
                <a16:creationId xmlns:a16="http://schemas.microsoft.com/office/drawing/2014/main" id="{ABF711D3-0C32-605D-3455-9027A0E694FD}"/>
              </a:ext>
            </a:extLst>
          </p:cNvPr>
          <p:cNvSpPr/>
          <p:nvPr/>
        </p:nvSpPr>
        <p:spPr>
          <a:xfrm>
            <a:off x="5241380" y="5433246"/>
            <a:ext cx="2268220" cy="18288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37" name="Text 16">
            <a:extLst>
              <a:ext uri="{FF2B5EF4-FFF2-40B4-BE49-F238E27FC236}">
                <a16:creationId xmlns:a16="http://schemas.microsoft.com/office/drawing/2014/main" id="{B5A5C218-902E-D69E-3DCB-7D3FD0C4CA1B}"/>
              </a:ext>
            </a:extLst>
          </p:cNvPr>
          <p:cNvSpPr/>
          <p:nvPr/>
        </p:nvSpPr>
        <p:spPr>
          <a:xfrm>
            <a:off x="5458758" y="5195808"/>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39" name="Text 17">
            <a:extLst>
              <a:ext uri="{FF2B5EF4-FFF2-40B4-BE49-F238E27FC236}">
                <a16:creationId xmlns:a16="http://schemas.microsoft.com/office/drawing/2014/main" id="{D009A1F5-88A8-592D-8276-466666C13F90}"/>
              </a:ext>
            </a:extLst>
          </p:cNvPr>
          <p:cNvSpPr/>
          <p:nvPr/>
        </p:nvSpPr>
        <p:spPr>
          <a:xfrm>
            <a:off x="5458758" y="5470128"/>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40" name="Shape 18">
            <a:extLst>
              <a:ext uri="{FF2B5EF4-FFF2-40B4-BE49-F238E27FC236}">
                <a16:creationId xmlns:a16="http://schemas.microsoft.com/office/drawing/2014/main" id="{5C422014-F574-6D0A-3ABF-4198CC3F7FC1}"/>
              </a:ext>
            </a:extLst>
          </p:cNvPr>
          <p:cNvSpPr/>
          <p:nvPr/>
        </p:nvSpPr>
        <p:spPr>
          <a:xfrm>
            <a:off x="8019107" y="1690723"/>
            <a:ext cx="3206216" cy="3349973"/>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42" name="Image 10" descr="preencoded.png">
            <a:extLst>
              <a:ext uri="{FF2B5EF4-FFF2-40B4-BE49-F238E27FC236}">
                <a16:creationId xmlns:a16="http://schemas.microsoft.com/office/drawing/2014/main" id="{F957300C-1323-E965-818B-EBA8B842F021}"/>
              </a:ext>
            </a:extLst>
          </p:cNvPr>
          <p:cNvPicPr>
            <a:picLocks noChangeAspect="1"/>
          </p:cNvPicPr>
          <p:nvPr/>
        </p:nvPicPr>
        <p:blipFill>
          <a:blip r:embed="rId5">
            <a:duotone>
              <a:schemeClr val="accent3">
                <a:shade val="45000"/>
                <a:satMod val="135000"/>
              </a:schemeClr>
              <a:prstClr val="white"/>
            </a:duotone>
          </a:blip>
          <a:stretch>
            <a:fillRect/>
          </a:stretch>
        </p:blipFill>
        <p:spPr>
          <a:xfrm>
            <a:off x="9435103" y="1768289"/>
            <a:ext cx="827720" cy="827720"/>
          </a:xfrm>
          <a:prstGeom prst="rect">
            <a:avLst/>
          </a:prstGeom>
        </p:spPr>
      </p:pic>
      <p:sp>
        <p:nvSpPr>
          <p:cNvPr id="43" name="Text 20">
            <a:extLst>
              <a:ext uri="{FF2B5EF4-FFF2-40B4-BE49-F238E27FC236}">
                <a16:creationId xmlns:a16="http://schemas.microsoft.com/office/drawing/2014/main" id="{DB07499C-2414-2F42-F18A-EB42331376CD}"/>
              </a:ext>
            </a:extLst>
          </p:cNvPr>
          <p:cNvSpPr/>
          <p:nvPr/>
        </p:nvSpPr>
        <p:spPr>
          <a:xfrm>
            <a:off x="8345616" y="2835461"/>
            <a:ext cx="2683771" cy="320040"/>
          </a:xfrm>
          <a:prstGeom prst="rect">
            <a:avLst/>
          </a:prstGeom>
          <a:noFill/>
          <a:ln/>
        </p:spPr>
        <p:txBody>
          <a:bodyPr wrap="square" lIns="0" tIns="0" rIns="0" bIns="0" rtlCol="0" anchor="ctr"/>
          <a:lstStyle/>
          <a:p>
            <a:pPr marL="0" indent="0" algn="ctr">
              <a:buNone/>
            </a:pPr>
            <a:r>
              <a:rPr lang="en-US" sz="2800" b="1" dirty="0">
                <a:solidFill>
                  <a:srgbClr val="0C1752"/>
                </a:solidFill>
                <a:latin typeface="Montserrat" panose="00000500000000000000" pitchFamily="2" charset="0"/>
                <a:ea typeface="Trebuchet MS" pitchFamily="34" charset="-122"/>
                <a:cs typeface="Trebuchet MS" pitchFamily="34" charset="-120"/>
              </a:rPr>
              <a:t>Partner Skills</a:t>
            </a:r>
            <a:endParaRPr lang="en-US" sz="2800" dirty="0">
              <a:solidFill>
                <a:srgbClr val="0C1752"/>
              </a:solidFill>
              <a:latin typeface="Montserrat" panose="00000500000000000000" pitchFamily="2" charset="0"/>
            </a:endParaRPr>
          </a:p>
        </p:txBody>
      </p:sp>
      <p:sp>
        <p:nvSpPr>
          <p:cNvPr id="45" name="Text 21">
            <a:extLst>
              <a:ext uri="{FF2B5EF4-FFF2-40B4-BE49-F238E27FC236}">
                <a16:creationId xmlns:a16="http://schemas.microsoft.com/office/drawing/2014/main" id="{FD650153-311D-8BEA-6FF0-AE08629CCA13}"/>
              </a:ext>
            </a:extLst>
          </p:cNvPr>
          <p:cNvSpPr/>
          <p:nvPr/>
        </p:nvSpPr>
        <p:spPr>
          <a:xfrm>
            <a:off x="9154464" y="5011623"/>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47" name="Text 22">
            <a:extLst>
              <a:ext uri="{FF2B5EF4-FFF2-40B4-BE49-F238E27FC236}">
                <a16:creationId xmlns:a16="http://schemas.microsoft.com/office/drawing/2014/main" id="{6343F9C0-68FB-8A27-AC94-DA5910F00C2F}"/>
              </a:ext>
            </a:extLst>
          </p:cNvPr>
          <p:cNvSpPr/>
          <p:nvPr/>
        </p:nvSpPr>
        <p:spPr>
          <a:xfrm>
            <a:off x="9154464" y="5285943"/>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49" name="Text 23">
            <a:extLst>
              <a:ext uri="{FF2B5EF4-FFF2-40B4-BE49-F238E27FC236}">
                <a16:creationId xmlns:a16="http://schemas.microsoft.com/office/drawing/2014/main" id="{48B4B910-D9C4-DE77-C3E6-31578C4DEF3B}"/>
              </a:ext>
            </a:extLst>
          </p:cNvPr>
          <p:cNvSpPr/>
          <p:nvPr/>
        </p:nvSpPr>
        <p:spPr>
          <a:xfrm>
            <a:off x="9371842" y="5094225"/>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51" name="Text 24">
            <a:extLst>
              <a:ext uri="{FF2B5EF4-FFF2-40B4-BE49-F238E27FC236}">
                <a16:creationId xmlns:a16="http://schemas.microsoft.com/office/drawing/2014/main" id="{D94167A7-BC55-FDD6-D057-410922DF5EE2}"/>
              </a:ext>
            </a:extLst>
          </p:cNvPr>
          <p:cNvSpPr/>
          <p:nvPr/>
        </p:nvSpPr>
        <p:spPr>
          <a:xfrm>
            <a:off x="9371842" y="5368545"/>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54" name="Text 6">
            <a:extLst>
              <a:ext uri="{FF2B5EF4-FFF2-40B4-BE49-F238E27FC236}">
                <a16:creationId xmlns:a16="http://schemas.microsoft.com/office/drawing/2014/main" id="{EC1566D7-1B8F-71B6-863D-D852394E12F3}"/>
              </a:ext>
            </a:extLst>
          </p:cNvPr>
          <p:cNvSpPr/>
          <p:nvPr/>
        </p:nvSpPr>
        <p:spPr>
          <a:xfrm>
            <a:off x="1125333" y="3541483"/>
            <a:ext cx="2876550" cy="1338043"/>
          </a:xfrm>
          <a:prstGeom prst="rect">
            <a:avLst/>
          </a:prstGeom>
          <a:noFill/>
          <a:ln/>
        </p:spPr>
        <p:txBody>
          <a:bodyPr wrap="square" lIns="0" tIns="0" rIns="0" bIns="0" rtlCol="0" anchor="ctr"/>
          <a:lstStyle/>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Excel spreadsheets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Word documents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PowerPoint decks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PDF processing</a:t>
            </a:r>
            <a:endParaRPr lang="en-US" dirty="0">
              <a:latin typeface="Montserrat" panose="00000500000000000000" pitchFamily="2" charset="0"/>
            </a:endParaRPr>
          </a:p>
          <a:p>
            <a:pPr marL="285750" indent="-285750">
              <a:buFont typeface="Arial" panose="020B0604020202020204" pitchFamily="34" charset="0"/>
              <a:buChar char="•"/>
            </a:pPr>
            <a:endParaRPr lang="en-US" dirty="0">
              <a:latin typeface="Montserrat" panose="00000500000000000000" pitchFamily="2" charset="0"/>
            </a:endParaRPr>
          </a:p>
          <a:p>
            <a:pPr marL="285750" indent="-285750">
              <a:buFont typeface="Arial" panose="020B0604020202020204" pitchFamily="34" charset="0"/>
              <a:buChar char="•"/>
            </a:pPr>
            <a:endParaRPr lang="en-US" dirty="0">
              <a:latin typeface="Montserrat" panose="00000500000000000000" pitchFamily="2" charset="0"/>
            </a:endParaRPr>
          </a:p>
        </p:txBody>
      </p:sp>
      <p:sp>
        <p:nvSpPr>
          <p:cNvPr id="55" name="Text 6">
            <a:extLst>
              <a:ext uri="{FF2B5EF4-FFF2-40B4-BE49-F238E27FC236}">
                <a16:creationId xmlns:a16="http://schemas.microsoft.com/office/drawing/2014/main" id="{50300769-83CC-2150-E870-5803F5FB7649}"/>
              </a:ext>
            </a:extLst>
          </p:cNvPr>
          <p:cNvSpPr/>
          <p:nvPr/>
        </p:nvSpPr>
        <p:spPr>
          <a:xfrm>
            <a:off x="4405012" y="3285422"/>
            <a:ext cx="2876550" cy="1338043"/>
          </a:xfrm>
          <a:prstGeom prst="rect">
            <a:avLst/>
          </a:prstGeom>
          <a:noFill/>
          <a:ln/>
        </p:spPr>
        <p:txBody>
          <a:bodyPr wrap="square" lIns="0" tIns="0" rIns="0" bIns="0" rtlCol="0" anchor="ctr"/>
          <a:lstStyle/>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Create your own</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Upload via Customize</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Tailored to your needs</a:t>
            </a:r>
            <a:endParaRPr lang="en-US" dirty="0">
              <a:latin typeface="Montserrat" panose="00000500000000000000" pitchFamily="2" charset="0"/>
            </a:endParaRPr>
          </a:p>
        </p:txBody>
      </p:sp>
      <p:sp>
        <p:nvSpPr>
          <p:cNvPr id="56" name="Text 6">
            <a:extLst>
              <a:ext uri="{FF2B5EF4-FFF2-40B4-BE49-F238E27FC236}">
                <a16:creationId xmlns:a16="http://schemas.microsoft.com/office/drawing/2014/main" id="{AB71B90E-E6EF-E75A-6953-C385F6D4B30A}"/>
              </a:ext>
            </a:extLst>
          </p:cNvPr>
          <p:cNvSpPr/>
          <p:nvPr/>
        </p:nvSpPr>
        <p:spPr>
          <a:xfrm>
            <a:off x="8212468" y="3752856"/>
            <a:ext cx="3206215" cy="1338043"/>
          </a:xfrm>
          <a:prstGeom prst="rect">
            <a:avLst/>
          </a:prstGeom>
          <a:noFill/>
          <a:ln/>
        </p:spPr>
        <p:txBody>
          <a:bodyPr wrap="square" lIns="0" tIns="0" rIns="0" bIns="0" rtlCol="0" anchor="ctr"/>
          <a:lstStyle/>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Notion, Figma, Atlassian</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Work with MCP connectors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Professionally built</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Skills Directory</a:t>
            </a:r>
            <a:endParaRPr lang="en-US" dirty="0">
              <a:latin typeface="Montserrat" panose="00000500000000000000" pitchFamily="2" charset="0"/>
            </a:endParaRPr>
          </a:p>
          <a:p>
            <a:endParaRPr lang="en-US" dirty="0">
              <a:latin typeface="Montserrat" panose="00000500000000000000" pitchFamily="2" charset="0"/>
            </a:endParaRPr>
          </a:p>
          <a:p>
            <a:endParaRPr lang="en-US" dirty="0">
              <a:latin typeface="Montserrat" panose="00000500000000000000" pitchFamily="2" charset="0"/>
            </a:endParaRPr>
          </a:p>
          <a:p>
            <a:endParaRPr lang="en-US" dirty="0">
              <a:latin typeface="Montserrat" panose="00000500000000000000" pitchFamily="2" charset="0"/>
            </a:endParaRPr>
          </a:p>
        </p:txBody>
      </p:sp>
      <p:pic>
        <p:nvPicPr>
          <p:cNvPr id="57" name="Image 4" descr="preencoded.png">
            <a:extLst>
              <a:ext uri="{FF2B5EF4-FFF2-40B4-BE49-F238E27FC236}">
                <a16:creationId xmlns:a16="http://schemas.microsoft.com/office/drawing/2014/main" id="{549EF195-6400-84B4-8869-6D2B023C3CBA}"/>
              </a:ext>
            </a:extLst>
          </p:cNvPr>
          <p:cNvPicPr>
            <a:picLocks noChangeAspect="1"/>
          </p:cNvPicPr>
          <p:nvPr/>
        </p:nvPicPr>
        <p:blipFill>
          <a:blip r:embed="rId6">
            <a:duotone>
              <a:prstClr val="black"/>
              <a:schemeClr val="accent1">
                <a:tint val="45000"/>
                <a:satMod val="400000"/>
              </a:schemeClr>
            </a:duotone>
          </a:blip>
          <a:stretch>
            <a:fillRect/>
          </a:stretch>
        </p:blipFill>
        <p:spPr>
          <a:xfrm>
            <a:off x="1881143" y="1753500"/>
            <a:ext cx="812640" cy="812640"/>
          </a:xfrm>
          <a:prstGeom prst="rect">
            <a:avLst/>
          </a:prstGeom>
        </p:spPr>
      </p:pic>
      <p:sp>
        <p:nvSpPr>
          <p:cNvPr id="58" name="TextBox 57">
            <a:extLst>
              <a:ext uri="{FF2B5EF4-FFF2-40B4-BE49-F238E27FC236}">
                <a16:creationId xmlns:a16="http://schemas.microsoft.com/office/drawing/2014/main" id="{695E6806-2886-386F-2198-434BE0C21CA0}"/>
              </a:ext>
            </a:extLst>
          </p:cNvPr>
          <p:cNvSpPr txBox="1"/>
          <p:nvPr/>
        </p:nvSpPr>
        <p:spPr>
          <a:xfrm>
            <a:off x="261009" y="1021846"/>
            <a:ext cx="11387469" cy="1291293"/>
          </a:xfrm>
          <a:prstGeom prst="rect">
            <a:avLst/>
          </a:prstGeom>
        </p:spPr>
        <p:txBody>
          <a:bodyPr vert="horz" lIns="91440" tIns="45720" rIns="91440" bIns="45720" rtlCol="0">
            <a:normAutofit/>
          </a:bodyPr>
          <a:lstStyle>
            <a:defPPr marR="0" lvl="0" algn="l" rtl="0">
              <a:lnSpc>
                <a:spcPct val="100000"/>
              </a:lnSpc>
              <a:spcBef>
                <a:spcPts val="0"/>
              </a:spcBef>
              <a:spcAft>
                <a:spcPts val="0"/>
              </a:spcAft>
            </a:defPPr>
            <a:lvl1pPr marL="228600" indent="-228600">
              <a:lnSpc>
                <a:spcPct val="90000"/>
              </a:lnSpc>
              <a:spcBef>
                <a:spcPts val="1000"/>
              </a:spcBef>
              <a:buClr>
                <a:srgbClr val="1BBFD1"/>
              </a:buClr>
              <a:buFont typeface="Arial" panose="020B0604020202020204" pitchFamily="34" charset="0"/>
              <a:buChar char="•"/>
              <a:defRPr sz="1350">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a:buClrTx/>
            </a:pPr>
            <a:endParaRPr lang="en-US" sz="1800" dirty="0"/>
          </a:p>
        </p:txBody>
      </p:sp>
    </p:spTree>
    <p:extLst>
      <p:ext uri="{BB962C8B-B14F-4D97-AF65-F5344CB8AC3E}">
        <p14:creationId xmlns:p14="http://schemas.microsoft.com/office/powerpoint/2010/main" val="78464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500"/>
                                        <p:tgtEl>
                                          <p:spTgt spid="3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500"/>
                                        <p:tgtEl>
                                          <p:spTgt spid="5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500"/>
                                        <p:tgtEl>
                                          <p:spTgt spid="40"/>
                                        </p:tgtEl>
                                      </p:cBhvr>
                                    </p:animEffect>
                                  </p:childTnLst>
                                </p:cTn>
                              </p:par>
                              <p:par>
                                <p:cTn id="45" presetID="10" presetClass="entr" presetSubtype="0"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500"/>
                                        <p:tgtEl>
                                          <p:spTgt spid="4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500"/>
                                        <p:tgtEl>
                                          <p:spTgt spid="4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7"/>
                                        </p:tgtEl>
                                        <p:attrNameLst>
                                          <p:attrName>style.visibility</p:attrName>
                                        </p:attrNameLst>
                                      </p:cBhvr>
                                      <p:to>
                                        <p:strVal val="visible"/>
                                      </p:to>
                                    </p:set>
                                    <p:animEffect transition="in" filter="fade">
                                      <p:cBhvr>
                                        <p:cTn id="56" dur="500"/>
                                        <p:tgtEl>
                                          <p:spTgt spid="4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23" grpId="0" animBg="1"/>
      <p:bldP spid="28" grpId="0" animBg="1"/>
      <p:bldP spid="31" grpId="0" animBg="1"/>
      <p:bldP spid="33" grpId="0" animBg="1"/>
      <p:bldP spid="35" grpId="0" animBg="1"/>
      <p:bldP spid="40" grpId="0" animBg="1"/>
      <p:bldP spid="43" grpId="0" animBg="1"/>
      <p:bldP spid="45" grpId="0" animBg="1"/>
      <p:bldP spid="47" grpId="0" animBg="1"/>
      <p:bldP spid="54" grpId="0" animBg="1"/>
      <p:bldP spid="55" grpId="0" animBg="1"/>
      <p:bldP spid="5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89B43-64B3-EF3F-19A4-65623C3C16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C27C2C-303F-4984-6D14-D06C6DAA681A}"/>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E855E9A2-A459-FF45-BFA5-B0619B7AA3F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636F913-5476-E9A3-AE58-6DA04C9BFD3E}"/>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Example: Loading PDF Skill</a:t>
            </a:r>
          </a:p>
        </p:txBody>
      </p:sp>
      <p:sp>
        <p:nvSpPr>
          <p:cNvPr id="9" name="TextBox 8">
            <a:extLst>
              <a:ext uri="{FF2B5EF4-FFF2-40B4-BE49-F238E27FC236}">
                <a16:creationId xmlns:a16="http://schemas.microsoft.com/office/drawing/2014/main" id="{C1F31908-84CB-3DCD-98FC-8EA0470FFA0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199BAA6A-5D61-8776-4756-4857B2C369E2}"/>
              </a:ext>
            </a:extLst>
          </p:cNvPr>
          <p:cNvSpPr txBox="1"/>
          <p:nvPr/>
        </p:nvSpPr>
        <p:spPr>
          <a:xfrm>
            <a:off x="307133" y="745993"/>
            <a:ext cx="11751564" cy="2308324"/>
          </a:xfrm>
          <a:prstGeom prst="rect">
            <a:avLst/>
          </a:prstGeom>
          <a:noFill/>
        </p:spPr>
        <p:txBody>
          <a:bodyPr wrap="square">
            <a:spAutoFit/>
          </a:bodyPr>
          <a:lstStyle/>
          <a:p>
            <a:pPr algn="l">
              <a:buNone/>
            </a:pPr>
            <a:r>
              <a:rPr lang="en-US" sz="1600" b="0" i="0" dirty="0">
                <a:solidFill>
                  <a:srgbClr val="3D3D3A"/>
                </a:solidFill>
                <a:effectLst/>
                <a:latin typeface="Montserrat" panose="00000500000000000000" pitchFamily="2" charset="0"/>
              </a:rPr>
              <a:t>Here's how Claude loads and uses a PDF processing skill:</a:t>
            </a:r>
          </a:p>
          <a:p>
            <a:pPr marL="800100" lvl="1" indent="-342900">
              <a:buFont typeface="+mj-lt"/>
              <a:buAutoNum type="arabicPeriod"/>
            </a:pPr>
            <a:r>
              <a:rPr lang="en-US" sz="1600" b="1" i="0" dirty="0">
                <a:solidFill>
                  <a:srgbClr val="3D3D3A"/>
                </a:solidFill>
                <a:effectLst/>
                <a:latin typeface="Montserrat" panose="00000500000000000000" pitchFamily="2" charset="0"/>
              </a:rPr>
              <a:t>Startup</a:t>
            </a:r>
            <a:r>
              <a:rPr lang="en-US" sz="1600" b="0" i="0" dirty="0">
                <a:solidFill>
                  <a:srgbClr val="3D3D3A"/>
                </a:solidFill>
                <a:effectLst/>
                <a:latin typeface="Montserrat" panose="00000500000000000000" pitchFamily="2" charset="0"/>
              </a:rPr>
              <a:t>: System prompt includes: PDF Processing - Extract text and tables from PDF files, fill forms, merge documents</a:t>
            </a:r>
          </a:p>
          <a:p>
            <a:pPr marL="800100" lvl="1" indent="-342900">
              <a:buFont typeface="+mj-lt"/>
              <a:buAutoNum type="arabicPeriod"/>
            </a:pPr>
            <a:r>
              <a:rPr lang="en-US" sz="1600" b="1" i="0" dirty="0">
                <a:solidFill>
                  <a:srgbClr val="3D3D3A"/>
                </a:solidFill>
                <a:effectLst/>
                <a:latin typeface="Montserrat" panose="00000500000000000000" pitchFamily="2" charset="0"/>
              </a:rPr>
              <a:t>User request</a:t>
            </a:r>
            <a:r>
              <a:rPr lang="en-US" sz="1600" b="0" i="0" dirty="0">
                <a:solidFill>
                  <a:srgbClr val="3D3D3A"/>
                </a:solidFill>
                <a:effectLst/>
                <a:latin typeface="Montserrat" panose="00000500000000000000" pitchFamily="2" charset="0"/>
              </a:rPr>
              <a:t>: "Extract the text from this PDF and summarize it"</a:t>
            </a:r>
          </a:p>
          <a:p>
            <a:pPr marL="800100" lvl="1" indent="-342900">
              <a:buFont typeface="+mj-lt"/>
              <a:buAutoNum type="arabicPeriod"/>
            </a:pPr>
            <a:r>
              <a:rPr lang="en-US" sz="1600" b="1" i="0" dirty="0">
                <a:solidFill>
                  <a:srgbClr val="3D3D3A"/>
                </a:solidFill>
                <a:effectLst/>
                <a:latin typeface="Montserrat" panose="00000500000000000000" pitchFamily="2" charset="0"/>
              </a:rPr>
              <a:t>Claude invokes</a:t>
            </a:r>
            <a:r>
              <a:rPr lang="en-US" sz="1600" b="0" i="0" dirty="0">
                <a:solidFill>
                  <a:srgbClr val="3D3D3A"/>
                </a:solidFill>
                <a:effectLst/>
                <a:latin typeface="Montserrat" panose="00000500000000000000" pitchFamily="2" charset="0"/>
              </a:rPr>
              <a:t>: bash: read pdf-skill/SKILL.md → Instructions loaded into context</a:t>
            </a:r>
          </a:p>
          <a:p>
            <a:pPr marL="800100" lvl="1" indent="-342900">
              <a:buFont typeface="+mj-lt"/>
              <a:buAutoNum type="arabicPeriod"/>
            </a:pPr>
            <a:r>
              <a:rPr lang="en-US" sz="1600" b="1" i="0" dirty="0">
                <a:solidFill>
                  <a:srgbClr val="3D3D3A"/>
                </a:solidFill>
                <a:effectLst/>
                <a:latin typeface="Montserrat" panose="00000500000000000000" pitchFamily="2" charset="0"/>
              </a:rPr>
              <a:t>Claude determines</a:t>
            </a:r>
            <a:r>
              <a:rPr lang="en-US" sz="1600" b="0" i="0" dirty="0">
                <a:solidFill>
                  <a:srgbClr val="3D3D3A"/>
                </a:solidFill>
                <a:effectLst/>
                <a:latin typeface="Montserrat" panose="00000500000000000000" pitchFamily="2" charset="0"/>
              </a:rPr>
              <a:t>: Form filling is not needed, so FORMS.md is not read</a:t>
            </a:r>
          </a:p>
          <a:p>
            <a:pPr marL="800100" lvl="1" indent="-342900">
              <a:buFont typeface="+mj-lt"/>
              <a:buAutoNum type="arabicPeriod"/>
            </a:pPr>
            <a:r>
              <a:rPr lang="en-US" sz="1600" b="1" i="0" dirty="0">
                <a:solidFill>
                  <a:srgbClr val="3D3D3A"/>
                </a:solidFill>
                <a:effectLst/>
                <a:latin typeface="Montserrat" panose="00000500000000000000" pitchFamily="2" charset="0"/>
              </a:rPr>
              <a:t>Claude executes</a:t>
            </a:r>
            <a:r>
              <a:rPr lang="en-US" sz="1600" b="0" i="0" dirty="0">
                <a:solidFill>
                  <a:srgbClr val="3D3D3A"/>
                </a:solidFill>
                <a:effectLst/>
                <a:latin typeface="Montserrat" panose="00000500000000000000" pitchFamily="2" charset="0"/>
              </a:rPr>
              <a:t>: Uses instructions from SKILL.md to complete the task</a:t>
            </a:r>
          </a:p>
          <a:p>
            <a:pPr>
              <a:buNone/>
            </a:pPr>
            <a:br>
              <a:rPr lang="en-US" sz="1600" dirty="0">
                <a:latin typeface="Montserrat" panose="00000500000000000000" pitchFamily="2" charset="0"/>
              </a:rPr>
            </a:br>
            <a:endParaRPr lang="en-CA" sz="1600" dirty="0">
              <a:latin typeface="Montserrat" panose="00000500000000000000" pitchFamily="2" charset="0"/>
            </a:endParaRPr>
          </a:p>
        </p:txBody>
      </p:sp>
      <p:pic>
        <p:nvPicPr>
          <p:cNvPr id="1026" name="Picture 2" descr="Skills loading into context window - showing the progressive loading of skill metadata and content">
            <a:extLst>
              <a:ext uri="{FF2B5EF4-FFF2-40B4-BE49-F238E27FC236}">
                <a16:creationId xmlns:a16="http://schemas.microsoft.com/office/drawing/2014/main" id="{8C0CA890-DF4D-A290-E49E-35E7BF82E1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545" y="2619876"/>
            <a:ext cx="4146359" cy="233628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260DFA1-B65E-9AA5-BEE0-5DF124DEF430}"/>
              </a:ext>
            </a:extLst>
          </p:cNvPr>
          <p:cNvSpPr txBox="1"/>
          <p:nvPr/>
        </p:nvSpPr>
        <p:spPr>
          <a:xfrm>
            <a:off x="521904" y="5018690"/>
            <a:ext cx="10977372" cy="1569660"/>
          </a:xfrm>
          <a:prstGeom prst="rect">
            <a:avLst/>
          </a:prstGeom>
          <a:noFill/>
        </p:spPr>
        <p:txBody>
          <a:bodyPr wrap="square">
            <a:spAutoFit/>
          </a:bodyPr>
          <a:lstStyle/>
          <a:p>
            <a:pPr algn="l">
              <a:buNone/>
            </a:pPr>
            <a:r>
              <a:rPr lang="en-US" sz="1600" b="0" i="0" dirty="0">
                <a:solidFill>
                  <a:srgbClr val="3D3D3A"/>
                </a:solidFill>
                <a:effectLst/>
                <a:latin typeface="Montserrat" panose="00000500000000000000" pitchFamily="2" charset="0"/>
              </a:rPr>
              <a:t>The diagram shows:</a:t>
            </a:r>
          </a:p>
          <a:p>
            <a:pPr marL="800100" lvl="1" indent="-342900">
              <a:buFont typeface="+mj-lt"/>
              <a:buAutoNum type="arabicPeriod"/>
            </a:pPr>
            <a:r>
              <a:rPr lang="en-US" sz="1600" b="0" i="0" dirty="0">
                <a:solidFill>
                  <a:srgbClr val="3D3D3A"/>
                </a:solidFill>
                <a:effectLst/>
                <a:latin typeface="Montserrat" panose="00000500000000000000" pitchFamily="2" charset="0"/>
              </a:rPr>
              <a:t>Default state with system prompt and skill metadata pre-loaded</a:t>
            </a:r>
          </a:p>
          <a:p>
            <a:pPr marL="800100" lvl="1" indent="-342900">
              <a:buFont typeface="+mj-lt"/>
              <a:buAutoNum type="arabicPeriod"/>
            </a:pPr>
            <a:r>
              <a:rPr lang="en-US" sz="1600" b="0" i="0" dirty="0">
                <a:solidFill>
                  <a:srgbClr val="3D3D3A"/>
                </a:solidFill>
                <a:effectLst/>
                <a:latin typeface="Montserrat" panose="00000500000000000000" pitchFamily="2" charset="0"/>
              </a:rPr>
              <a:t>Claude triggers the skill by reading SKILL.md via bash</a:t>
            </a:r>
          </a:p>
          <a:p>
            <a:pPr marL="800100" lvl="1" indent="-342900">
              <a:buFont typeface="+mj-lt"/>
              <a:buAutoNum type="arabicPeriod"/>
            </a:pPr>
            <a:r>
              <a:rPr lang="en-US" sz="1600" b="0" i="0" dirty="0">
                <a:solidFill>
                  <a:srgbClr val="3D3D3A"/>
                </a:solidFill>
                <a:effectLst/>
                <a:latin typeface="Montserrat" panose="00000500000000000000" pitchFamily="2" charset="0"/>
              </a:rPr>
              <a:t>Claude optionally reads additional bundled files like FORMS.md as needed</a:t>
            </a:r>
          </a:p>
          <a:p>
            <a:pPr marL="800100" lvl="1" indent="-342900">
              <a:buFont typeface="+mj-lt"/>
              <a:buAutoNum type="arabicPeriod"/>
            </a:pPr>
            <a:r>
              <a:rPr lang="en-US" sz="1600" b="0" i="0" dirty="0">
                <a:solidFill>
                  <a:srgbClr val="3D3D3A"/>
                </a:solidFill>
                <a:effectLst/>
                <a:latin typeface="Montserrat" panose="00000500000000000000" pitchFamily="2" charset="0"/>
              </a:rPr>
              <a:t>Claude proceeds with the task</a:t>
            </a:r>
          </a:p>
          <a:p>
            <a:pPr marL="800100" lvl="1" indent="-342900">
              <a:buFont typeface="+mj-lt"/>
              <a:buAutoNum type="arabicPeriod"/>
            </a:pPr>
            <a:r>
              <a:rPr lang="en-US" sz="1600" b="0" i="0" dirty="0">
                <a:solidFill>
                  <a:srgbClr val="3D3D3A"/>
                </a:solidFill>
                <a:effectLst/>
                <a:latin typeface="Montserrat" panose="00000500000000000000" pitchFamily="2" charset="0"/>
              </a:rPr>
              <a:t>This dynamic loading ensures only relevant skill content occupies the context window.</a:t>
            </a:r>
          </a:p>
        </p:txBody>
      </p:sp>
    </p:spTree>
    <p:extLst>
      <p:ext uri="{BB962C8B-B14F-4D97-AF65-F5344CB8AC3E}">
        <p14:creationId xmlns:p14="http://schemas.microsoft.com/office/powerpoint/2010/main" val="382021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FD6D9-5648-41BB-506F-65875C1735A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B07C64-21D5-A76C-E338-92320630D727}"/>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5F0937E-E9B3-FC27-98E9-A1A7C565EBBB}"/>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D7D6982F-BDC9-E708-E413-D7FD1A0C853A}"/>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LIVE DEMOS</a:t>
            </a:r>
          </a:p>
        </p:txBody>
      </p:sp>
      <p:pic>
        <p:nvPicPr>
          <p:cNvPr id="5" name="Picture 4">
            <a:extLst>
              <a:ext uri="{FF2B5EF4-FFF2-40B4-BE49-F238E27FC236}">
                <a16:creationId xmlns:a16="http://schemas.microsoft.com/office/drawing/2014/main" id="{AB93AEE5-197D-D8D5-75DC-153529801705}"/>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808999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15F33-5EFE-9A0C-5EFA-1B5D4DC2375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F652E4-A7C9-9FCF-36EC-D4D0E6E5F0D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C88CE58B-68C1-45FC-959F-62A7776B2E9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CA2C291-26D8-91D4-2226-7F43A3D2C8FE}"/>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Practical Demo</a:t>
            </a:r>
          </a:p>
        </p:txBody>
      </p:sp>
      <p:sp>
        <p:nvSpPr>
          <p:cNvPr id="9" name="TextBox 8">
            <a:extLst>
              <a:ext uri="{FF2B5EF4-FFF2-40B4-BE49-F238E27FC236}">
                <a16:creationId xmlns:a16="http://schemas.microsoft.com/office/drawing/2014/main" id="{7400AFE9-D6BC-75A9-B390-8A9A10A090E8}"/>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279490C3-1033-A2E1-6926-5D38FE9CC137}"/>
              </a:ext>
            </a:extLst>
          </p:cNvPr>
          <p:cNvPicPr>
            <a:picLocks noChangeAspect="1"/>
          </p:cNvPicPr>
          <p:nvPr/>
        </p:nvPicPr>
        <p:blipFill>
          <a:blip r:embed="rId4"/>
          <a:stretch>
            <a:fillRect/>
          </a:stretch>
        </p:blipFill>
        <p:spPr>
          <a:xfrm>
            <a:off x="2186722" y="1322104"/>
            <a:ext cx="8252678" cy="4277271"/>
          </a:xfrm>
          <a:prstGeom prst="rect">
            <a:avLst/>
          </a:prstGeom>
        </p:spPr>
      </p:pic>
    </p:spTree>
    <p:extLst>
      <p:ext uri="{BB962C8B-B14F-4D97-AF65-F5344CB8AC3E}">
        <p14:creationId xmlns:p14="http://schemas.microsoft.com/office/powerpoint/2010/main" val="35553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9E7D7-63C1-9DCA-A7B1-B839D11993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E5D3B3-D609-13E4-7779-7BD5E01D752B}"/>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AFBCD09-E6FA-3444-F259-4E7BB002ADF5}"/>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70C1981-F860-AA8F-3C01-BBEDA3F9F5A3}"/>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PLUG-INS</a:t>
            </a:r>
          </a:p>
        </p:txBody>
      </p:sp>
      <p:pic>
        <p:nvPicPr>
          <p:cNvPr id="5" name="Picture 4">
            <a:extLst>
              <a:ext uri="{FF2B5EF4-FFF2-40B4-BE49-F238E27FC236}">
                <a16:creationId xmlns:a16="http://schemas.microsoft.com/office/drawing/2014/main" id="{92F03F10-BEF5-2DCF-ABA8-DFA305019B89}"/>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028415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B60EC-0163-2103-5D90-09CB50DB6F9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0C45C4-6C58-C9A0-6021-D2A51D5BAF4D}"/>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90FC2007-BFB1-3F3D-1F7D-9D9821F5F49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C965D83-3C7F-0875-8ECA-3FB5EE28AE6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Plugins</a:t>
            </a:r>
          </a:p>
        </p:txBody>
      </p:sp>
      <p:sp>
        <p:nvSpPr>
          <p:cNvPr id="9" name="TextBox 8">
            <a:extLst>
              <a:ext uri="{FF2B5EF4-FFF2-40B4-BE49-F238E27FC236}">
                <a16:creationId xmlns:a16="http://schemas.microsoft.com/office/drawing/2014/main" id="{68048C52-D724-B852-B30D-0F0B802B7B71}"/>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20" name="Rectangle 19">
            <a:extLst>
              <a:ext uri="{FF2B5EF4-FFF2-40B4-BE49-F238E27FC236}">
                <a16:creationId xmlns:a16="http://schemas.microsoft.com/office/drawing/2014/main" id="{05374863-6FC5-EFD8-EBF2-D4040E6F9CBF}"/>
              </a:ext>
            </a:extLst>
          </p:cNvPr>
          <p:cNvSpPr>
            <a:spLocks noChangeArrowheads="1"/>
          </p:cNvSpPr>
          <p:nvPr/>
        </p:nvSpPr>
        <p:spPr bwMode="auto">
          <a:xfrm>
            <a:off x="214711" y="803151"/>
            <a:ext cx="11480067" cy="792696"/>
          </a:xfrm>
          <a:prstGeom prst="rect">
            <a:avLst/>
          </a:prstGeom>
        </p:spPr>
        <p:txBody>
          <a:bodyPr vert="horz" lIns="91440" tIns="45720" rIns="91440" bIns="45720" rtlCol="0">
            <a:normAutofit/>
          </a:bodyPr>
          <a:lstStyle/>
          <a:p>
            <a:pPr marL="304792" indent="-304792">
              <a:lnSpc>
                <a:spcPct val="90000"/>
              </a:lnSpc>
              <a:spcBef>
                <a:spcPts val="1333"/>
              </a:spcBef>
              <a:buClr>
                <a:srgbClr val="1BBFD1"/>
              </a:buClr>
              <a:buFont typeface="Arial" panose="020B0604020202020204" pitchFamily="34" charset="0"/>
              <a:buChar char="•"/>
            </a:pPr>
            <a:endParaRPr lang="en-US" altLang="en-US" dirty="0">
              <a:latin typeface="Montserrat" panose="00000500000000000000" pitchFamily="2" charset="0"/>
            </a:endParaRPr>
          </a:p>
        </p:txBody>
      </p:sp>
      <p:sp>
        <p:nvSpPr>
          <p:cNvPr id="3" name="TextBox 2">
            <a:extLst>
              <a:ext uri="{FF2B5EF4-FFF2-40B4-BE49-F238E27FC236}">
                <a16:creationId xmlns:a16="http://schemas.microsoft.com/office/drawing/2014/main" id="{27343430-9F44-FCBE-61EC-22F14C7BC4F6}"/>
              </a:ext>
            </a:extLst>
          </p:cNvPr>
          <p:cNvSpPr txBox="1"/>
          <p:nvPr/>
        </p:nvSpPr>
        <p:spPr>
          <a:xfrm>
            <a:off x="214711" y="907391"/>
            <a:ext cx="11215289" cy="64633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Plugins bundle skills, connectors, slash commands &amp; sub-agents into one package for a specific job function. No technical knowledge required to create them.</a:t>
            </a:r>
            <a:endParaRPr lang="en-US" sz="1800" dirty="0">
              <a:latin typeface="Montserrat" panose="00000500000000000000" pitchFamily="2" charset="0"/>
            </a:endParaRPr>
          </a:p>
        </p:txBody>
      </p:sp>
      <p:sp>
        <p:nvSpPr>
          <p:cNvPr id="28" name="Text 4">
            <a:extLst>
              <a:ext uri="{FF2B5EF4-FFF2-40B4-BE49-F238E27FC236}">
                <a16:creationId xmlns:a16="http://schemas.microsoft.com/office/drawing/2014/main" id="{A57E931C-83DF-347A-1869-DE53CDFC1FAC}"/>
              </a:ext>
            </a:extLst>
          </p:cNvPr>
          <p:cNvSpPr/>
          <p:nvPr/>
        </p:nvSpPr>
        <p:spPr>
          <a:xfrm>
            <a:off x="688548" y="1892400"/>
            <a:ext cx="5120640" cy="487680"/>
          </a:xfrm>
          <a:prstGeom prst="rect">
            <a:avLst/>
          </a:prstGeom>
          <a:noFill/>
          <a:ln/>
        </p:spPr>
        <p:txBody>
          <a:bodyPr wrap="square" lIns="0" tIns="0" rIns="0" bIns="0" rtlCol="0" anchor="ctr"/>
          <a:lstStyle/>
          <a:p>
            <a:pPr defTabSz="1219170"/>
            <a:r>
              <a:rPr lang="en-US" sz="2400" b="1" dirty="0">
                <a:solidFill>
                  <a:srgbClr val="0F172A"/>
                </a:solidFill>
                <a:latin typeface="Montserrat" panose="00000500000000000000" pitchFamily="2" charset="0"/>
                <a:ea typeface="Trebuchet MS" pitchFamily="34" charset="-122"/>
                <a:cs typeface="Trebuchet MS" pitchFamily="34" charset="-120"/>
              </a:rPr>
              <a:t>What's Inside a Plugin</a:t>
            </a:r>
            <a:endParaRPr lang="en-US" sz="2400" dirty="0">
              <a:solidFill>
                <a:prstClr val="black"/>
              </a:solidFill>
              <a:latin typeface="Montserrat" panose="00000500000000000000" pitchFamily="2" charset="0"/>
            </a:endParaRPr>
          </a:p>
        </p:txBody>
      </p:sp>
      <p:sp>
        <p:nvSpPr>
          <p:cNvPr id="29" name="Shape 5">
            <a:extLst>
              <a:ext uri="{FF2B5EF4-FFF2-40B4-BE49-F238E27FC236}">
                <a16:creationId xmlns:a16="http://schemas.microsoft.com/office/drawing/2014/main" id="{4A5908F8-50E7-B624-4809-6652C8BC633E}"/>
              </a:ext>
            </a:extLst>
          </p:cNvPr>
          <p:cNvSpPr/>
          <p:nvPr/>
        </p:nvSpPr>
        <p:spPr>
          <a:xfrm>
            <a:off x="688548" y="2441040"/>
            <a:ext cx="5120640" cy="585216"/>
          </a:xfrm>
          <a:prstGeom prst="rect">
            <a:avLst/>
          </a:prstGeom>
          <a:solidFill>
            <a:srgbClr val="FFFFFF"/>
          </a:solidFill>
          <a:ln/>
          <a:effectLst>
            <a:outerShdw blurRad="101600" dist="38100" dir="8100000" algn="bl" rotWithShape="0">
              <a:srgbClr val="000000">
                <a:alpha val="12000"/>
              </a:srgbClr>
            </a:outerShdw>
          </a:effectLst>
        </p:spPr>
        <p:txBody>
          <a:bodyPr/>
          <a:lstStyle/>
          <a:p>
            <a:pPr defTabSz="1219170"/>
            <a:endParaRPr lang="en-CA" sz="2400">
              <a:solidFill>
                <a:prstClr val="black"/>
              </a:solidFill>
              <a:latin typeface="Montserrat" panose="00000500000000000000" pitchFamily="2" charset="0"/>
            </a:endParaRPr>
          </a:p>
        </p:txBody>
      </p:sp>
      <p:pic>
        <p:nvPicPr>
          <p:cNvPr id="30" name="Image 0" descr="preencoded.png">
            <a:extLst>
              <a:ext uri="{FF2B5EF4-FFF2-40B4-BE49-F238E27FC236}">
                <a16:creationId xmlns:a16="http://schemas.microsoft.com/office/drawing/2014/main" id="{FB64E94E-323E-433D-961B-1EE72B5F1261}"/>
              </a:ext>
            </a:extLst>
          </p:cNvPr>
          <p:cNvPicPr>
            <a:picLocks noChangeAspect="1"/>
          </p:cNvPicPr>
          <p:nvPr/>
        </p:nvPicPr>
        <p:blipFill>
          <a:blip r:embed="rId4">
            <a:duotone>
              <a:prstClr val="black"/>
              <a:schemeClr val="accent1">
                <a:tint val="45000"/>
                <a:satMod val="400000"/>
              </a:schemeClr>
            </a:duotone>
          </a:blip>
          <a:stretch>
            <a:fillRect/>
          </a:stretch>
        </p:blipFill>
        <p:spPr>
          <a:xfrm>
            <a:off x="871428" y="2526384"/>
            <a:ext cx="414528" cy="414528"/>
          </a:xfrm>
          <a:prstGeom prst="rect">
            <a:avLst/>
          </a:prstGeom>
        </p:spPr>
      </p:pic>
      <p:sp>
        <p:nvSpPr>
          <p:cNvPr id="31" name="Text 6">
            <a:extLst>
              <a:ext uri="{FF2B5EF4-FFF2-40B4-BE49-F238E27FC236}">
                <a16:creationId xmlns:a16="http://schemas.microsoft.com/office/drawing/2014/main" id="{6016D5B4-7FC2-52A8-DF6B-C2EC2E4CFF3E}"/>
              </a:ext>
            </a:extLst>
          </p:cNvPr>
          <p:cNvSpPr/>
          <p:nvPr/>
        </p:nvSpPr>
        <p:spPr>
          <a:xfrm>
            <a:off x="1481028" y="2465424"/>
            <a:ext cx="4145280" cy="536448"/>
          </a:xfrm>
          <a:prstGeom prst="rect">
            <a:avLst/>
          </a:prstGeom>
          <a:noFill/>
          <a:ln/>
        </p:spPr>
        <p:txBody>
          <a:bodyPr wrap="square" lIns="0" tIns="0" rIns="0" bIns="0" rtlCol="0" anchor="ctr"/>
          <a:lstStyle/>
          <a:p>
            <a:pPr defTabSz="1219170"/>
            <a:r>
              <a:rPr lang="en-US" sz="1600" b="1" dirty="0">
                <a:solidFill>
                  <a:srgbClr val="0C1752"/>
                </a:solidFill>
                <a:latin typeface="Montserrat" panose="00000500000000000000" pitchFamily="2" charset="0"/>
                <a:ea typeface="Trebuchet MS" pitchFamily="34" charset="-122"/>
                <a:cs typeface="Trebuchet MS" pitchFamily="34" charset="-120"/>
              </a:rPr>
              <a:t>Skills</a:t>
            </a:r>
            <a:r>
              <a:rPr lang="en-US" sz="1467" b="1" dirty="0">
                <a:solidFill>
                  <a:srgbClr val="0C1752"/>
                </a:solidFill>
                <a:latin typeface="Montserrat" panose="00000500000000000000" pitchFamily="2" charset="0"/>
                <a:ea typeface="Calibri" pitchFamily="34" charset="-122"/>
                <a:cs typeface="Calibri" pitchFamily="34" charset="-120"/>
              </a:rPr>
              <a:t>:</a:t>
            </a:r>
            <a:r>
              <a:rPr lang="en-US" sz="1467" dirty="0">
                <a:solidFill>
                  <a:srgbClr val="0C1752"/>
                </a:solidFill>
                <a:latin typeface="Montserrat" panose="00000500000000000000" pitchFamily="2" charset="0"/>
                <a:ea typeface="Calibri" pitchFamily="34" charset="-122"/>
                <a:cs typeface="Calibri" pitchFamily="34" charset="-120"/>
              </a:rPr>
              <a:t> Specialized knowledge &amp; workflows</a:t>
            </a:r>
            <a:endParaRPr lang="en-US" sz="1600" dirty="0">
              <a:solidFill>
                <a:srgbClr val="0C1752"/>
              </a:solidFill>
              <a:latin typeface="Montserrat" panose="00000500000000000000" pitchFamily="2" charset="0"/>
            </a:endParaRPr>
          </a:p>
        </p:txBody>
      </p:sp>
      <p:sp>
        <p:nvSpPr>
          <p:cNvPr id="32" name="Shape 7">
            <a:extLst>
              <a:ext uri="{FF2B5EF4-FFF2-40B4-BE49-F238E27FC236}">
                <a16:creationId xmlns:a16="http://schemas.microsoft.com/office/drawing/2014/main" id="{95E86DF4-58A8-4BEB-EC88-0894B987AE46}"/>
              </a:ext>
            </a:extLst>
          </p:cNvPr>
          <p:cNvSpPr/>
          <p:nvPr/>
        </p:nvSpPr>
        <p:spPr>
          <a:xfrm>
            <a:off x="688548" y="3148176"/>
            <a:ext cx="5120640" cy="585216"/>
          </a:xfrm>
          <a:prstGeom prst="rect">
            <a:avLst/>
          </a:prstGeom>
          <a:solidFill>
            <a:srgbClr val="FFFFFF"/>
          </a:solidFill>
          <a:ln/>
          <a:effectLst>
            <a:outerShdw blurRad="101600" dist="38100" dir="8100000" algn="bl" rotWithShape="0">
              <a:srgbClr val="000000">
                <a:alpha val="12000"/>
              </a:srgbClr>
            </a:outerShdw>
          </a:effectLst>
        </p:spPr>
        <p:txBody>
          <a:bodyPr/>
          <a:lstStyle/>
          <a:p>
            <a:pPr defTabSz="1219170"/>
            <a:endParaRPr lang="en-CA" sz="2400">
              <a:solidFill>
                <a:prstClr val="black"/>
              </a:solidFill>
              <a:latin typeface="Montserrat" panose="00000500000000000000" pitchFamily="2" charset="0"/>
            </a:endParaRPr>
          </a:p>
        </p:txBody>
      </p:sp>
      <p:pic>
        <p:nvPicPr>
          <p:cNvPr id="33" name="Image 1" descr="preencoded.png">
            <a:extLst>
              <a:ext uri="{FF2B5EF4-FFF2-40B4-BE49-F238E27FC236}">
                <a16:creationId xmlns:a16="http://schemas.microsoft.com/office/drawing/2014/main" id="{2F43BA4C-F2A6-BE0D-611B-48A5CB353882}"/>
              </a:ext>
            </a:extLst>
          </p:cNvPr>
          <p:cNvPicPr>
            <a:picLocks noChangeAspect="1"/>
          </p:cNvPicPr>
          <p:nvPr/>
        </p:nvPicPr>
        <p:blipFill>
          <a:blip r:embed="rId5"/>
          <a:stretch>
            <a:fillRect/>
          </a:stretch>
        </p:blipFill>
        <p:spPr>
          <a:xfrm>
            <a:off x="871428" y="3233520"/>
            <a:ext cx="414528" cy="414528"/>
          </a:xfrm>
          <a:prstGeom prst="rect">
            <a:avLst/>
          </a:prstGeom>
        </p:spPr>
      </p:pic>
      <p:sp>
        <p:nvSpPr>
          <p:cNvPr id="34" name="Text 8">
            <a:extLst>
              <a:ext uri="{FF2B5EF4-FFF2-40B4-BE49-F238E27FC236}">
                <a16:creationId xmlns:a16="http://schemas.microsoft.com/office/drawing/2014/main" id="{97AD8013-1BA0-161C-955C-C59CA7C76F0B}"/>
              </a:ext>
            </a:extLst>
          </p:cNvPr>
          <p:cNvSpPr/>
          <p:nvPr/>
        </p:nvSpPr>
        <p:spPr>
          <a:xfrm>
            <a:off x="1481028" y="3172560"/>
            <a:ext cx="4145280" cy="536448"/>
          </a:xfrm>
          <a:prstGeom prst="rect">
            <a:avLst/>
          </a:prstGeom>
          <a:noFill/>
          <a:ln/>
        </p:spPr>
        <p:txBody>
          <a:bodyPr wrap="square" lIns="0" tIns="0" rIns="0" bIns="0" rtlCol="0" anchor="ctr"/>
          <a:lstStyle/>
          <a:p>
            <a:pPr defTabSz="1219170"/>
            <a:r>
              <a:rPr lang="en-US" sz="1600" b="1" dirty="0">
                <a:solidFill>
                  <a:srgbClr val="0C1752"/>
                </a:solidFill>
                <a:latin typeface="Montserrat" panose="00000500000000000000" pitchFamily="2" charset="0"/>
                <a:ea typeface="Trebuchet MS" pitchFamily="34" charset="-122"/>
                <a:cs typeface="Trebuchet MS" pitchFamily="34" charset="-120"/>
              </a:rPr>
              <a:t>Connectors (MCP)</a:t>
            </a:r>
            <a:r>
              <a:rPr lang="en-US" sz="1467" b="1" dirty="0">
                <a:solidFill>
                  <a:srgbClr val="0C1752"/>
                </a:solidFill>
                <a:latin typeface="Montserrat" panose="00000500000000000000" pitchFamily="2" charset="0"/>
                <a:ea typeface="Calibri" pitchFamily="34" charset="-122"/>
                <a:cs typeface="Calibri" pitchFamily="34" charset="-120"/>
              </a:rPr>
              <a:t>:</a:t>
            </a:r>
            <a:r>
              <a:rPr lang="en-US" sz="1467" dirty="0">
                <a:solidFill>
                  <a:srgbClr val="0C1752"/>
                </a:solidFill>
                <a:latin typeface="Montserrat" panose="00000500000000000000" pitchFamily="2" charset="0"/>
                <a:ea typeface="Calibri" pitchFamily="34" charset="-122"/>
                <a:cs typeface="Calibri" pitchFamily="34" charset="-120"/>
              </a:rPr>
              <a:t> Link to Google Drive, Slack, etc.</a:t>
            </a:r>
            <a:endParaRPr lang="en-US" sz="1600" dirty="0">
              <a:solidFill>
                <a:srgbClr val="0C1752"/>
              </a:solidFill>
              <a:latin typeface="Montserrat" panose="00000500000000000000" pitchFamily="2" charset="0"/>
            </a:endParaRPr>
          </a:p>
        </p:txBody>
      </p:sp>
      <p:sp>
        <p:nvSpPr>
          <p:cNvPr id="35" name="Shape 9">
            <a:extLst>
              <a:ext uri="{FF2B5EF4-FFF2-40B4-BE49-F238E27FC236}">
                <a16:creationId xmlns:a16="http://schemas.microsoft.com/office/drawing/2014/main" id="{F208EBE6-8227-8B1C-834A-32034879C016}"/>
              </a:ext>
            </a:extLst>
          </p:cNvPr>
          <p:cNvSpPr/>
          <p:nvPr/>
        </p:nvSpPr>
        <p:spPr>
          <a:xfrm>
            <a:off x="688548" y="3855312"/>
            <a:ext cx="5120640" cy="585216"/>
          </a:xfrm>
          <a:prstGeom prst="rect">
            <a:avLst/>
          </a:prstGeom>
          <a:solidFill>
            <a:srgbClr val="FFFFFF"/>
          </a:solidFill>
          <a:ln/>
          <a:effectLst>
            <a:outerShdw blurRad="101600" dist="38100" dir="8100000" algn="bl" rotWithShape="0">
              <a:srgbClr val="000000">
                <a:alpha val="12000"/>
              </a:srgbClr>
            </a:outerShdw>
          </a:effectLst>
        </p:spPr>
        <p:txBody>
          <a:bodyPr/>
          <a:lstStyle/>
          <a:p>
            <a:pPr defTabSz="1219170"/>
            <a:endParaRPr lang="en-CA" sz="2400">
              <a:solidFill>
                <a:prstClr val="black"/>
              </a:solidFill>
              <a:latin typeface="Montserrat" panose="00000500000000000000" pitchFamily="2" charset="0"/>
            </a:endParaRPr>
          </a:p>
        </p:txBody>
      </p:sp>
      <p:pic>
        <p:nvPicPr>
          <p:cNvPr id="36" name="Image 2" descr="preencoded.png">
            <a:extLst>
              <a:ext uri="{FF2B5EF4-FFF2-40B4-BE49-F238E27FC236}">
                <a16:creationId xmlns:a16="http://schemas.microsoft.com/office/drawing/2014/main" id="{85718FE5-AF0E-E4CB-9BD5-8555B7F243FF}"/>
              </a:ext>
            </a:extLst>
          </p:cNvPr>
          <p:cNvPicPr>
            <a:picLocks noChangeAspect="1"/>
          </p:cNvPicPr>
          <p:nvPr/>
        </p:nvPicPr>
        <p:blipFill>
          <a:blip r:embed="rId6">
            <a:duotone>
              <a:prstClr val="black"/>
              <a:schemeClr val="tx2">
                <a:tint val="45000"/>
                <a:satMod val="400000"/>
              </a:schemeClr>
            </a:duotone>
          </a:blip>
          <a:stretch>
            <a:fillRect/>
          </a:stretch>
        </p:blipFill>
        <p:spPr>
          <a:xfrm>
            <a:off x="871428" y="3940656"/>
            <a:ext cx="414528" cy="414528"/>
          </a:xfrm>
          <a:prstGeom prst="rect">
            <a:avLst/>
          </a:prstGeom>
        </p:spPr>
      </p:pic>
      <p:sp>
        <p:nvSpPr>
          <p:cNvPr id="37" name="Text 10">
            <a:extLst>
              <a:ext uri="{FF2B5EF4-FFF2-40B4-BE49-F238E27FC236}">
                <a16:creationId xmlns:a16="http://schemas.microsoft.com/office/drawing/2014/main" id="{41AE5B17-42B6-7108-298F-4999EC7551FD}"/>
              </a:ext>
            </a:extLst>
          </p:cNvPr>
          <p:cNvSpPr/>
          <p:nvPr/>
        </p:nvSpPr>
        <p:spPr>
          <a:xfrm>
            <a:off x="1481028" y="3879696"/>
            <a:ext cx="4145280" cy="536448"/>
          </a:xfrm>
          <a:prstGeom prst="rect">
            <a:avLst/>
          </a:prstGeom>
          <a:noFill/>
          <a:ln/>
        </p:spPr>
        <p:txBody>
          <a:bodyPr wrap="square" lIns="0" tIns="0" rIns="0" bIns="0" rtlCol="0" anchor="ctr"/>
          <a:lstStyle/>
          <a:p>
            <a:pPr defTabSz="1219170"/>
            <a:r>
              <a:rPr lang="en-US" sz="1600" b="1" dirty="0">
                <a:solidFill>
                  <a:srgbClr val="0C1752"/>
                </a:solidFill>
                <a:latin typeface="Montserrat" panose="00000500000000000000" pitchFamily="2" charset="0"/>
                <a:ea typeface="Trebuchet MS" pitchFamily="34" charset="-122"/>
                <a:cs typeface="Trebuchet MS" pitchFamily="34" charset="-120"/>
              </a:rPr>
              <a:t>Slash Commands</a:t>
            </a:r>
            <a:r>
              <a:rPr lang="en-US" sz="1467" b="1" dirty="0">
                <a:solidFill>
                  <a:srgbClr val="0C1752"/>
                </a:solidFill>
                <a:latin typeface="Montserrat" panose="00000500000000000000" pitchFamily="2" charset="0"/>
                <a:ea typeface="Calibri" pitchFamily="34" charset="-122"/>
                <a:cs typeface="Calibri" pitchFamily="34" charset="-120"/>
              </a:rPr>
              <a:t>:</a:t>
            </a:r>
            <a:r>
              <a:rPr lang="en-US" sz="1467" dirty="0">
                <a:solidFill>
                  <a:srgbClr val="0C1752"/>
                </a:solidFill>
                <a:latin typeface="Montserrat" panose="00000500000000000000" pitchFamily="2" charset="0"/>
                <a:ea typeface="Calibri" pitchFamily="34" charset="-122"/>
                <a:cs typeface="Calibri" pitchFamily="34" charset="-120"/>
              </a:rPr>
              <a:t>  Quick-launch structured workflows</a:t>
            </a:r>
            <a:endParaRPr lang="en-US" sz="1600" dirty="0">
              <a:solidFill>
                <a:srgbClr val="0C1752"/>
              </a:solidFill>
              <a:latin typeface="Montserrat" panose="00000500000000000000" pitchFamily="2" charset="0"/>
            </a:endParaRPr>
          </a:p>
        </p:txBody>
      </p:sp>
      <p:sp>
        <p:nvSpPr>
          <p:cNvPr id="38" name="Shape 11">
            <a:extLst>
              <a:ext uri="{FF2B5EF4-FFF2-40B4-BE49-F238E27FC236}">
                <a16:creationId xmlns:a16="http://schemas.microsoft.com/office/drawing/2014/main" id="{3E57111C-CF49-5576-0D75-B6ACDAED8B33}"/>
              </a:ext>
            </a:extLst>
          </p:cNvPr>
          <p:cNvSpPr/>
          <p:nvPr/>
        </p:nvSpPr>
        <p:spPr>
          <a:xfrm>
            <a:off x="688548" y="4562448"/>
            <a:ext cx="5120640" cy="585216"/>
          </a:xfrm>
          <a:prstGeom prst="rect">
            <a:avLst/>
          </a:prstGeom>
          <a:solidFill>
            <a:srgbClr val="FFFFFF"/>
          </a:solidFill>
          <a:ln/>
          <a:effectLst>
            <a:outerShdw blurRad="101600" dist="38100" dir="8100000" algn="bl" rotWithShape="0">
              <a:srgbClr val="000000">
                <a:alpha val="12000"/>
              </a:srgbClr>
            </a:outerShdw>
          </a:effectLst>
        </p:spPr>
        <p:txBody>
          <a:bodyPr/>
          <a:lstStyle/>
          <a:p>
            <a:pPr defTabSz="1219170"/>
            <a:endParaRPr lang="en-CA" sz="2400">
              <a:solidFill>
                <a:prstClr val="black"/>
              </a:solidFill>
              <a:latin typeface="Montserrat" panose="00000500000000000000" pitchFamily="2" charset="0"/>
            </a:endParaRPr>
          </a:p>
        </p:txBody>
      </p:sp>
      <p:pic>
        <p:nvPicPr>
          <p:cNvPr id="39" name="Image 3" descr="preencoded.png">
            <a:extLst>
              <a:ext uri="{FF2B5EF4-FFF2-40B4-BE49-F238E27FC236}">
                <a16:creationId xmlns:a16="http://schemas.microsoft.com/office/drawing/2014/main" id="{0A3FDFB5-7DC5-2259-D49E-9CC934C643AE}"/>
              </a:ext>
            </a:extLst>
          </p:cNvPr>
          <p:cNvPicPr>
            <a:picLocks noChangeAspect="1"/>
          </p:cNvPicPr>
          <p:nvPr/>
        </p:nvPicPr>
        <p:blipFill>
          <a:blip r:embed="rId7"/>
          <a:stretch>
            <a:fillRect/>
          </a:stretch>
        </p:blipFill>
        <p:spPr>
          <a:xfrm>
            <a:off x="871428" y="4647792"/>
            <a:ext cx="414528" cy="414528"/>
          </a:xfrm>
          <a:prstGeom prst="rect">
            <a:avLst/>
          </a:prstGeom>
        </p:spPr>
      </p:pic>
      <p:sp>
        <p:nvSpPr>
          <p:cNvPr id="40" name="Text 12">
            <a:extLst>
              <a:ext uri="{FF2B5EF4-FFF2-40B4-BE49-F238E27FC236}">
                <a16:creationId xmlns:a16="http://schemas.microsoft.com/office/drawing/2014/main" id="{D663544D-8D44-D0F3-60C1-7C857446DA78}"/>
              </a:ext>
            </a:extLst>
          </p:cNvPr>
          <p:cNvSpPr/>
          <p:nvPr/>
        </p:nvSpPr>
        <p:spPr>
          <a:xfrm>
            <a:off x="1481028" y="4586832"/>
            <a:ext cx="4145280" cy="536448"/>
          </a:xfrm>
          <a:prstGeom prst="rect">
            <a:avLst/>
          </a:prstGeom>
          <a:noFill/>
          <a:ln/>
        </p:spPr>
        <p:txBody>
          <a:bodyPr wrap="square" lIns="0" tIns="0" rIns="0" bIns="0" rtlCol="0" anchor="ctr"/>
          <a:lstStyle/>
          <a:p>
            <a:pPr defTabSz="1219170"/>
            <a:r>
              <a:rPr lang="en-US" sz="1600" b="1" dirty="0">
                <a:solidFill>
                  <a:srgbClr val="0C1752"/>
                </a:solidFill>
                <a:latin typeface="Montserrat" panose="00000500000000000000" pitchFamily="2" charset="0"/>
                <a:ea typeface="Trebuchet MS" pitchFamily="34" charset="-122"/>
                <a:cs typeface="Trebuchet MS" pitchFamily="34" charset="-120"/>
              </a:rPr>
              <a:t>Sub-Agents</a:t>
            </a:r>
            <a:r>
              <a:rPr lang="en-US" sz="1467" b="1" dirty="0">
                <a:solidFill>
                  <a:srgbClr val="0C1752"/>
                </a:solidFill>
                <a:latin typeface="Montserrat" panose="00000500000000000000" pitchFamily="2" charset="0"/>
                <a:ea typeface="Calibri" pitchFamily="34" charset="-122"/>
                <a:cs typeface="Calibri" pitchFamily="34" charset="-120"/>
              </a:rPr>
              <a:t>: </a:t>
            </a:r>
            <a:r>
              <a:rPr lang="en-US" sz="1467" dirty="0">
                <a:solidFill>
                  <a:srgbClr val="0C1752"/>
                </a:solidFill>
                <a:latin typeface="Montserrat" panose="00000500000000000000" pitchFamily="2" charset="0"/>
                <a:ea typeface="Calibri" pitchFamily="34" charset="-122"/>
                <a:cs typeface="Calibri" pitchFamily="34" charset="-120"/>
              </a:rPr>
              <a:t>Specialized task executors</a:t>
            </a:r>
            <a:endParaRPr lang="en-US" sz="1600" dirty="0">
              <a:solidFill>
                <a:srgbClr val="0C1752"/>
              </a:solidFill>
              <a:latin typeface="Montserrat" panose="00000500000000000000" pitchFamily="2" charset="0"/>
            </a:endParaRPr>
          </a:p>
        </p:txBody>
      </p:sp>
      <p:sp>
        <p:nvSpPr>
          <p:cNvPr id="41" name="Text 13">
            <a:extLst>
              <a:ext uri="{FF2B5EF4-FFF2-40B4-BE49-F238E27FC236}">
                <a16:creationId xmlns:a16="http://schemas.microsoft.com/office/drawing/2014/main" id="{EEE0F908-8006-45F5-32C3-386841C3AA31}"/>
              </a:ext>
            </a:extLst>
          </p:cNvPr>
          <p:cNvSpPr/>
          <p:nvPr/>
        </p:nvSpPr>
        <p:spPr>
          <a:xfrm>
            <a:off x="6868534" y="1892400"/>
            <a:ext cx="5120640" cy="487680"/>
          </a:xfrm>
          <a:prstGeom prst="rect">
            <a:avLst/>
          </a:prstGeom>
          <a:noFill/>
          <a:ln/>
        </p:spPr>
        <p:txBody>
          <a:bodyPr wrap="square" lIns="0" tIns="0" rIns="0" bIns="0" rtlCol="0" anchor="ctr"/>
          <a:lstStyle/>
          <a:p>
            <a:pPr defTabSz="1219170"/>
            <a:r>
              <a:rPr lang="en-US" sz="2400" b="1" dirty="0">
                <a:solidFill>
                  <a:srgbClr val="0F172A"/>
                </a:solidFill>
                <a:latin typeface="Montserrat" panose="00000500000000000000" pitchFamily="2" charset="0"/>
                <a:ea typeface="Trebuchet MS" pitchFamily="34" charset="-122"/>
                <a:cs typeface="Trebuchet MS" pitchFamily="34" charset="-120"/>
              </a:rPr>
              <a:t>Pre-Built Plugins</a:t>
            </a:r>
            <a:endParaRPr lang="en-US" sz="2400" dirty="0">
              <a:solidFill>
                <a:prstClr val="black"/>
              </a:solidFill>
              <a:latin typeface="Montserrat" panose="00000500000000000000" pitchFamily="2" charset="0"/>
            </a:endParaRPr>
          </a:p>
        </p:txBody>
      </p:sp>
      <p:pic>
        <p:nvPicPr>
          <p:cNvPr id="42" name="Image 4" descr="preencoded.png">
            <a:extLst>
              <a:ext uri="{FF2B5EF4-FFF2-40B4-BE49-F238E27FC236}">
                <a16:creationId xmlns:a16="http://schemas.microsoft.com/office/drawing/2014/main" id="{71A37600-892E-8960-E4E6-60E96A82819E}"/>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2599536"/>
            <a:ext cx="304800" cy="304800"/>
          </a:xfrm>
          <a:prstGeom prst="rect">
            <a:avLst/>
          </a:prstGeom>
        </p:spPr>
      </p:pic>
      <p:sp>
        <p:nvSpPr>
          <p:cNvPr id="43" name="Text 14">
            <a:extLst>
              <a:ext uri="{FF2B5EF4-FFF2-40B4-BE49-F238E27FC236}">
                <a16:creationId xmlns:a16="http://schemas.microsoft.com/office/drawing/2014/main" id="{5572ED2E-F677-AC53-14C2-5BF122B3CCBE}"/>
              </a:ext>
            </a:extLst>
          </p:cNvPr>
          <p:cNvSpPr/>
          <p:nvPr/>
        </p:nvSpPr>
        <p:spPr>
          <a:xfrm>
            <a:off x="7478134" y="2562960"/>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HR: People operations &amp; lifecycle</a:t>
            </a:r>
            <a:endParaRPr lang="en-US" sz="1600" dirty="0">
              <a:solidFill>
                <a:prstClr val="black"/>
              </a:solidFill>
              <a:latin typeface="Montserrat" panose="00000500000000000000" pitchFamily="2" charset="0"/>
            </a:endParaRPr>
          </a:p>
        </p:txBody>
      </p:sp>
      <p:pic>
        <p:nvPicPr>
          <p:cNvPr id="44" name="Image 5" descr="preencoded.png">
            <a:extLst>
              <a:ext uri="{FF2B5EF4-FFF2-40B4-BE49-F238E27FC236}">
                <a16:creationId xmlns:a16="http://schemas.microsoft.com/office/drawing/2014/main" id="{D6AAB6AC-931E-6827-2A69-6F38AF34E340}"/>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3111600"/>
            <a:ext cx="304800" cy="304800"/>
          </a:xfrm>
          <a:prstGeom prst="rect">
            <a:avLst/>
          </a:prstGeom>
        </p:spPr>
      </p:pic>
      <p:sp>
        <p:nvSpPr>
          <p:cNvPr id="45" name="Text 15">
            <a:extLst>
              <a:ext uri="{FF2B5EF4-FFF2-40B4-BE49-F238E27FC236}">
                <a16:creationId xmlns:a16="http://schemas.microsoft.com/office/drawing/2014/main" id="{CBD7CA9D-9235-C37D-CACC-6386432E7D1C}"/>
              </a:ext>
            </a:extLst>
          </p:cNvPr>
          <p:cNvSpPr/>
          <p:nvPr/>
        </p:nvSpPr>
        <p:spPr>
          <a:xfrm>
            <a:off x="7478134" y="3075024"/>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Design: UX, accessibility, critiques</a:t>
            </a:r>
            <a:endParaRPr lang="en-US" sz="1600" dirty="0">
              <a:solidFill>
                <a:prstClr val="black"/>
              </a:solidFill>
              <a:latin typeface="Montserrat" panose="00000500000000000000" pitchFamily="2" charset="0"/>
            </a:endParaRPr>
          </a:p>
        </p:txBody>
      </p:sp>
      <p:pic>
        <p:nvPicPr>
          <p:cNvPr id="46" name="Image 6" descr="preencoded.png">
            <a:extLst>
              <a:ext uri="{FF2B5EF4-FFF2-40B4-BE49-F238E27FC236}">
                <a16:creationId xmlns:a16="http://schemas.microsoft.com/office/drawing/2014/main" id="{788FB0BF-17CA-5E68-D24A-E50339002218}"/>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3623664"/>
            <a:ext cx="304800" cy="304800"/>
          </a:xfrm>
          <a:prstGeom prst="rect">
            <a:avLst/>
          </a:prstGeom>
        </p:spPr>
      </p:pic>
      <p:sp>
        <p:nvSpPr>
          <p:cNvPr id="47" name="Text 16">
            <a:extLst>
              <a:ext uri="{FF2B5EF4-FFF2-40B4-BE49-F238E27FC236}">
                <a16:creationId xmlns:a16="http://schemas.microsoft.com/office/drawing/2014/main" id="{1A30E9F9-43FD-38A1-6FF1-5BE2ED760169}"/>
              </a:ext>
            </a:extLst>
          </p:cNvPr>
          <p:cNvSpPr/>
          <p:nvPr/>
        </p:nvSpPr>
        <p:spPr>
          <a:xfrm>
            <a:off x="7478134" y="3587088"/>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Engineering: Standups, deploys, incidents</a:t>
            </a:r>
            <a:endParaRPr lang="en-US" sz="1600" dirty="0">
              <a:solidFill>
                <a:prstClr val="black"/>
              </a:solidFill>
              <a:latin typeface="Montserrat" panose="00000500000000000000" pitchFamily="2" charset="0"/>
            </a:endParaRPr>
          </a:p>
        </p:txBody>
      </p:sp>
      <p:pic>
        <p:nvPicPr>
          <p:cNvPr id="48" name="Image 7" descr="preencoded.png">
            <a:extLst>
              <a:ext uri="{FF2B5EF4-FFF2-40B4-BE49-F238E27FC236}">
                <a16:creationId xmlns:a16="http://schemas.microsoft.com/office/drawing/2014/main" id="{3631AB11-0AC8-8A76-0DF5-D0F9AACF5F7B}"/>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4135728"/>
            <a:ext cx="304800" cy="304800"/>
          </a:xfrm>
          <a:prstGeom prst="rect">
            <a:avLst/>
          </a:prstGeom>
        </p:spPr>
      </p:pic>
      <p:sp>
        <p:nvSpPr>
          <p:cNvPr id="49" name="Text 17">
            <a:extLst>
              <a:ext uri="{FF2B5EF4-FFF2-40B4-BE49-F238E27FC236}">
                <a16:creationId xmlns:a16="http://schemas.microsoft.com/office/drawing/2014/main" id="{E38D4818-4252-BB46-784A-EBD53A11736C}"/>
              </a:ext>
            </a:extLst>
          </p:cNvPr>
          <p:cNvSpPr/>
          <p:nvPr/>
        </p:nvSpPr>
        <p:spPr>
          <a:xfrm>
            <a:off x="7478134" y="4099152"/>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Operations: Runbooks, vendor evals</a:t>
            </a:r>
            <a:endParaRPr lang="en-US" sz="1600" dirty="0">
              <a:solidFill>
                <a:prstClr val="black"/>
              </a:solidFill>
              <a:latin typeface="Montserrat" panose="00000500000000000000" pitchFamily="2" charset="0"/>
            </a:endParaRPr>
          </a:p>
        </p:txBody>
      </p:sp>
      <p:pic>
        <p:nvPicPr>
          <p:cNvPr id="50" name="Image 8" descr="preencoded.png">
            <a:extLst>
              <a:ext uri="{FF2B5EF4-FFF2-40B4-BE49-F238E27FC236}">
                <a16:creationId xmlns:a16="http://schemas.microsoft.com/office/drawing/2014/main" id="{3C1B99E3-288E-821F-1378-E63AAD814AE1}"/>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4647792"/>
            <a:ext cx="304800" cy="304800"/>
          </a:xfrm>
          <a:prstGeom prst="rect">
            <a:avLst/>
          </a:prstGeom>
        </p:spPr>
      </p:pic>
      <p:sp>
        <p:nvSpPr>
          <p:cNvPr id="51" name="Text 18">
            <a:extLst>
              <a:ext uri="{FF2B5EF4-FFF2-40B4-BE49-F238E27FC236}">
                <a16:creationId xmlns:a16="http://schemas.microsoft.com/office/drawing/2014/main" id="{6B4DB5B4-4BFA-8AAF-7041-84A7EAB4E264}"/>
              </a:ext>
            </a:extLst>
          </p:cNvPr>
          <p:cNvSpPr/>
          <p:nvPr/>
        </p:nvSpPr>
        <p:spPr>
          <a:xfrm>
            <a:off x="7478134" y="4611216"/>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Finance: FP&amp;A, variance analysis</a:t>
            </a:r>
            <a:endParaRPr lang="en-US" sz="1600" dirty="0">
              <a:solidFill>
                <a:prstClr val="black"/>
              </a:solidFill>
              <a:latin typeface="Montserrat" panose="00000500000000000000" pitchFamily="2" charset="0"/>
            </a:endParaRPr>
          </a:p>
        </p:txBody>
      </p:sp>
      <p:pic>
        <p:nvPicPr>
          <p:cNvPr id="52" name="Image 9" descr="preencoded.png">
            <a:extLst>
              <a:ext uri="{FF2B5EF4-FFF2-40B4-BE49-F238E27FC236}">
                <a16:creationId xmlns:a16="http://schemas.microsoft.com/office/drawing/2014/main" id="{8C8B6F39-45B9-CCA8-D242-4D5FBEF587A9}"/>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5159856"/>
            <a:ext cx="304800" cy="304800"/>
          </a:xfrm>
          <a:prstGeom prst="rect">
            <a:avLst/>
          </a:prstGeom>
        </p:spPr>
      </p:pic>
      <p:sp>
        <p:nvSpPr>
          <p:cNvPr id="53" name="Text 19">
            <a:extLst>
              <a:ext uri="{FF2B5EF4-FFF2-40B4-BE49-F238E27FC236}">
                <a16:creationId xmlns:a16="http://schemas.microsoft.com/office/drawing/2014/main" id="{3505D79B-D18D-713D-DB4B-310B46A78948}"/>
              </a:ext>
            </a:extLst>
          </p:cNvPr>
          <p:cNvSpPr/>
          <p:nvPr/>
        </p:nvSpPr>
        <p:spPr>
          <a:xfrm>
            <a:off x="7478134" y="5123280"/>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Sales: Outreach, research, CRM</a:t>
            </a:r>
            <a:endParaRPr lang="en-US" sz="1600" dirty="0">
              <a:solidFill>
                <a:prstClr val="black"/>
              </a:solidFill>
              <a:latin typeface="Montserrat" panose="00000500000000000000" pitchFamily="2" charset="0"/>
            </a:endParaRPr>
          </a:p>
        </p:txBody>
      </p:sp>
    </p:spTree>
    <p:extLst>
      <p:ext uri="{BB962C8B-B14F-4D97-AF65-F5344CB8AC3E}">
        <p14:creationId xmlns:p14="http://schemas.microsoft.com/office/powerpoint/2010/main" val="373103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par>
                                <p:cTn id="22" presetID="10" presetClass="entr" presetSubtype="0" fill="hold"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par>
                                <p:cTn id="33" presetID="10"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par>
                                <p:cTn id="44" presetID="10" presetClass="entr" presetSubtype="0" fill="hold"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par>
                                <p:cTn id="55" presetID="10"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5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500"/>
                                        <p:tgtEl>
                                          <p:spTgt spid="43"/>
                                        </p:tgtEl>
                                      </p:cBhvr>
                                    </p:animEffect>
                                  </p:childTnLst>
                                </p:cTn>
                              </p:par>
                              <p:par>
                                <p:cTn id="61" presetID="10" presetClass="entr" presetSubtype="0" fill="hold"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500"/>
                                        <p:tgtEl>
                                          <p:spTgt spid="4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500"/>
                                        <p:tgtEl>
                                          <p:spTgt spid="45"/>
                                        </p:tgtEl>
                                      </p:cBhvr>
                                    </p:animEffect>
                                  </p:childTnLst>
                                </p:cTn>
                              </p:par>
                              <p:par>
                                <p:cTn id="67" presetID="10" presetClass="entr" presetSubtype="0" fill="hold"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500"/>
                                        <p:tgtEl>
                                          <p:spTgt spid="4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par>
                                <p:cTn id="73" presetID="10" presetClass="entr" presetSubtype="0" fill="hold"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500"/>
                                        <p:tgtEl>
                                          <p:spTgt spid="49"/>
                                        </p:tgtEl>
                                      </p:cBhvr>
                                    </p:animEffect>
                                  </p:childTnLst>
                                </p:cTn>
                              </p:par>
                              <p:par>
                                <p:cTn id="79" presetID="10" presetClass="entr" presetSubtype="0" fill="hold"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500"/>
                                        <p:tgtEl>
                                          <p:spTgt spid="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500"/>
                                        <p:tgtEl>
                                          <p:spTgt spid="51"/>
                                        </p:tgtEl>
                                      </p:cBhvr>
                                    </p:animEffect>
                                  </p:childTnLst>
                                </p:cTn>
                              </p:par>
                              <p:par>
                                <p:cTn id="85" presetID="10" presetClass="entr" presetSubtype="0" fill="hold"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500"/>
                                        <p:tgtEl>
                                          <p:spTgt spid="5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fade">
                                      <p:cBhvr>
                                        <p:cTn id="9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5" grpId="0" animBg="1"/>
      <p:bldP spid="47" grpId="0" animBg="1"/>
      <p:bldP spid="49" grpId="0" animBg="1"/>
      <p:bldP spid="51" grpId="0" animBg="1"/>
      <p:bldP spid="5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DD842-F390-2AC5-FE71-52B4941306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312D07-3E1F-5992-40C3-B485390BB19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AD352691-848D-7E58-E313-08614C657AB3}"/>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87B0968-8CFF-E32C-5D71-AFBC258A7949}"/>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Available Claude Plugins</a:t>
            </a:r>
          </a:p>
        </p:txBody>
      </p:sp>
      <p:sp>
        <p:nvSpPr>
          <p:cNvPr id="9" name="TextBox 8">
            <a:extLst>
              <a:ext uri="{FF2B5EF4-FFF2-40B4-BE49-F238E27FC236}">
                <a16:creationId xmlns:a16="http://schemas.microsoft.com/office/drawing/2014/main" id="{51F0EF8B-0E7C-2C27-7326-659B2A726A8E}"/>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20" name="Rectangle 19">
            <a:extLst>
              <a:ext uri="{FF2B5EF4-FFF2-40B4-BE49-F238E27FC236}">
                <a16:creationId xmlns:a16="http://schemas.microsoft.com/office/drawing/2014/main" id="{163026E2-2336-5BD1-7DE7-1AC75F625C27}"/>
              </a:ext>
            </a:extLst>
          </p:cNvPr>
          <p:cNvSpPr>
            <a:spLocks noChangeArrowheads="1"/>
          </p:cNvSpPr>
          <p:nvPr/>
        </p:nvSpPr>
        <p:spPr bwMode="auto">
          <a:xfrm>
            <a:off x="214711" y="803151"/>
            <a:ext cx="11480067" cy="792696"/>
          </a:xfrm>
          <a:prstGeom prst="rect">
            <a:avLst/>
          </a:prstGeom>
        </p:spPr>
        <p:txBody>
          <a:bodyPr vert="horz" lIns="91440" tIns="45720" rIns="91440" bIns="45720" rtlCol="0">
            <a:normAutofit/>
          </a:bodyPr>
          <a:lstStyle/>
          <a:p>
            <a:pPr marL="304792" indent="-304792">
              <a:lnSpc>
                <a:spcPct val="90000"/>
              </a:lnSpc>
              <a:spcBef>
                <a:spcPts val="1333"/>
              </a:spcBef>
              <a:buClr>
                <a:srgbClr val="1BBFD1"/>
              </a:buClr>
              <a:buFont typeface="Arial" panose="020B0604020202020204" pitchFamily="34" charset="0"/>
              <a:buChar char="•"/>
            </a:pPr>
            <a:endParaRPr lang="en-US" altLang="en-US" dirty="0">
              <a:latin typeface="Montserrat" panose="00000500000000000000" pitchFamily="2" charset="0"/>
            </a:endParaRPr>
          </a:p>
        </p:txBody>
      </p:sp>
      <p:pic>
        <p:nvPicPr>
          <p:cNvPr id="4" name="Picture 3">
            <a:extLst>
              <a:ext uri="{FF2B5EF4-FFF2-40B4-BE49-F238E27FC236}">
                <a16:creationId xmlns:a16="http://schemas.microsoft.com/office/drawing/2014/main" id="{DA7B0AE5-C6C4-9446-ED94-403104115A41}"/>
              </a:ext>
            </a:extLst>
          </p:cNvPr>
          <p:cNvPicPr>
            <a:picLocks noChangeAspect="1"/>
          </p:cNvPicPr>
          <p:nvPr/>
        </p:nvPicPr>
        <p:blipFill>
          <a:blip r:embed="rId4">
            <a:clrChange>
              <a:clrFrom>
                <a:srgbClr val="5E5E5C"/>
              </a:clrFrom>
              <a:clrTo>
                <a:srgbClr val="5E5E5C">
                  <a:alpha val="0"/>
                </a:srgbClr>
              </a:clrTo>
            </a:clrChange>
          </a:blip>
          <a:srcRect l="16813" t="13412" r="14554" b="12503"/>
          <a:stretch>
            <a:fillRect/>
          </a:stretch>
        </p:blipFill>
        <p:spPr>
          <a:xfrm>
            <a:off x="2139355" y="1393018"/>
            <a:ext cx="6934200" cy="4624117"/>
          </a:xfrm>
          <a:prstGeom prst="rect">
            <a:avLst/>
          </a:prstGeom>
        </p:spPr>
      </p:pic>
    </p:spTree>
    <p:extLst>
      <p:ext uri="{BB962C8B-B14F-4D97-AF65-F5344CB8AC3E}">
        <p14:creationId xmlns:p14="http://schemas.microsoft.com/office/powerpoint/2010/main" val="1676951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48263-6A00-BB12-7797-44895FE4D8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10FFEE-A75F-0DA7-7B6C-775172EC258A}"/>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E72402F-9D1A-A8F4-D7B1-AE719FA558D5}"/>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EE43A8F6-6F79-B676-0D9A-28394F28BACC}"/>
              </a:ext>
            </a:extLst>
          </p:cNvPr>
          <p:cNvSpPr/>
          <p:nvPr/>
        </p:nvSpPr>
        <p:spPr>
          <a:xfrm>
            <a:off x="293914" y="793804"/>
            <a:ext cx="5578566"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PRACTICAL DEMO: DATA ANALSYIS USING DATA PLUGIN</a:t>
            </a:r>
          </a:p>
        </p:txBody>
      </p:sp>
      <p:pic>
        <p:nvPicPr>
          <p:cNvPr id="5" name="Picture 4">
            <a:extLst>
              <a:ext uri="{FF2B5EF4-FFF2-40B4-BE49-F238E27FC236}">
                <a16:creationId xmlns:a16="http://schemas.microsoft.com/office/drawing/2014/main" id="{8B2A6781-A2B0-F324-46F7-E111CD3F42D4}"/>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513012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F4481-687F-7C60-4AD2-5A0F3C8411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2961A7-ED74-0A2C-C48F-27BA84BCADB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2960A9F9-B1E8-6B63-FDAE-30403620FD3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C82BC4F-9DFD-EE69-0BDB-53EC7803A22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Dataset Overview</a:t>
            </a:r>
          </a:p>
        </p:txBody>
      </p:sp>
      <p:sp>
        <p:nvSpPr>
          <p:cNvPr id="9" name="TextBox 8">
            <a:extLst>
              <a:ext uri="{FF2B5EF4-FFF2-40B4-BE49-F238E27FC236}">
                <a16:creationId xmlns:a16="http://schemas.microsoft.com/office/drawing/2014/main" id="{C5691A8B-E0BF-02DC-9855-AE7FA2EEADA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5" name="Picture 34">
            <a:extLst>
              <a:ext uri="{FF2B5EF4-FFF2-40B4-BE49-F238E27FC236}">
                <a16:creationId xmlns:a16="http://schemas.microsoft.com/office/drawing/2014/main" id="{8245CA20-ECED-A8B7-48CA-ADB269A72B6B}"/>
              </a:ext>
            </a:extLst>
          </p:cNvPr>
          <p:cNvPicPr>
            <a:picLocks noChangeAspect="1"/>
          </p:cNvPicPr>
          <p:nvPr/>
        </p:nvPicPr>
        <p:blipFill>
          <a:blip r:embed="rId4"/>
          <a:stretch>
            <a:fillRect/>
          </a:stretch>
        </p:blipFill>
        <p:spPr>
          <a:xfrm>
            <a:off x="886140" y="2414599"/>
            <a:ext cx="5209860" cy="4337466"/>
          </a:xfrm>
          <a:prstGeom prst="rect">
            <a:avLst/>
          </a:prstGeom>
        </p:spPr>
      </p:pic>
      <p:pic>
        <p:nvPicPr>
          <p:cNvPr id="31" name="Picture 30">
            <a:extLst>
              <a:ext uri="{FF2B5EF4-FFF2-40B4-BE49-F238E27FC236}">
                <a16:creationId xmlns:a16="http://schemas.microsoft.com/office/drawing/2014/main" id="{87D4222A-3D9F-5B26-3F3D-C4AD3C3B9F42}"/>
              </a:ext>
            </a:extLst>
          </p:cNvPr>
          <p:cNvPicPr>
            <a:picLocks noChangeAspect="1"/>
          </p:cNvPicPr>
          <p:nvPr/>
        </p:nvPicPr>
        <p:blipFill>
          <a:blip r:embed="rId5"/>
          <a:stretch>
            <a:fillRect/>
          </a:stretch>
        </p:blipFill>
        <p:spPr>
          <a:xfrm>
            <a:off x="3971439" y="2751501"/>
            <a:ext cx="5040953" cy="3948003"/>
          </a:xfrm>
          <a:prstGeom prst="rect">
            <a:avLst/>
          </a:prstGeom>
        </p:spPr>
      </p:pic>
      <p:pic>
        <p:nvPicPr>
          <p:cNvPr id="37" name="Picture 36">
            <a:extLst>
              <a:ext uri="{FF2B5EF4-FFF2-40B4-BE49-F238E27FC236}">
                <a16:creationId xmlns:a16="http://schemas.microsoft.com/office/drawing/2014/main" id="{C9EC72EA-997A-58CA-E422-57092CEE70B1}"/>
              </a:ext>
            </a:extLst>
          </p:cNvPr>
          <p:cNvPicPr>
            <a:picLocks noChangeAspect="1"/>
          </p:cNvPicPr>
          <p:nvPr/>
        </p:nvPicPr>
        <p:blipFill>
          <a:blip r:embed="rId6"/>
          <a:stretch>
            <a:fillRect/>
          </a:stretch>
        </p:blipFill>
        <p:spPr>
          <a:xfrm>
            <a:off x="5415406" y="3358970"/>
            <a:ext cx="5760911" cy="3393095"/>
          </a:xfrm>
          <a:prstGeom prst="rect">
            <a:avLst/>
          </a:prstGeom>
        </p:spPr>
      </p:pic>
      <p:sp>
        <p:nvSpPr>
          <p:cNvPr id="39" name="TextBox 38">
            <a:extLst>
              <a:ext uri="{FF2B5EF4-FFF2-40B4-BE49-F238E27FC236}">
                <a16:creationId xmlns:a16="http://schemas.microsoft.com/office/drawing/2014/main" id="{23E12434-F657-BCE8-A5F9-9A65E7F6F865}"/>
              </a:ext>
            </a:extLst>
          </p:cNvPr>
          <p:cNvSpPr txBox="1"/>
          <p:nvPr/>
        </p:nvSpPr>
        <p:spPr>
          <a:xfrm>
            <a:off x="154722" y="739004"/>
            <a:ext cx="11245596" cy="1569660"/>
          </a:xfrm>
          <a:prstGeom prst="rect">
            <a:avLst/>
          </a:prstGeom>
          <a:noFill/>
        </p:spPr>
        <p:txBody>
          <a:bodyPr wrap="square">
            <a:spAutoFit/>
          </a:bodyPr>
          <a:lstStyle/>
          <a:p>
            <a:pPr>
              <a:buNone/>
            </a:pPr>
            <a:r>
              <a:rPr lang="en-US" sz="1600" b="1" dirty="0">
                <a:latin typeface="Montserrat" panose="00000500000000000000" pitchFamily="2" charset="0"/>
              </a:rPr>
              <a:t>Using data plugin, these Commands are readily available:</a:t>
            </a:r>
          </a:p>
          <a:p>
            <a:pPr marL="285750" indent="-285750">
              <a:buFont typeface="Arial" panose="020B0604020202020204" pitchFamily="34" charset="0"/>
              <a:buChar char="•"/>
            </a:pPr>
            <a:r>
              <a:rPr lang="en-US" sz="1600" b="1" dirty="0">
                <a:latin typeface="Montserrat" panose="00000500000000000000" pitchFamily="2" charset="0"/>
              </a:rPr>
              <a:t>/explore-data</a:t>
            </a:r>
            <a:r>
              <a:rPr lang="en-US" sz="1600" dirty="0">
                <a:latin typeface="Montserrat" panose="00000500000000000000" pitchFamily="2" charset="0"/>
              </a:rPr>
              <a:t> – Used with Sales_data.xlsx to understand the dataset structure.</a:t>
            </a:r>
          </a:p>
          <a:p>
            <a:pPr marL="285750" indent="-285750">
              <a:buFont typeface="Arial" panose="020B0604020202020204" pitchFamily="34" charset="0"/>
              <a:buChar char="•"/>
            </a:pPr>
            <a:r>
              <a:rPr lang="en-US" sz="1600" b="1" dirty="0">
                <a:latin typeface="Montserrat" panose="00000500000000000000" pitchFamily="2" charset="0"/>
              </a:rPr>
              <a:t>/validate</a:t>
            </a:r>
            <a:r>
              <a:rPr lang="en-US" sz="1600" dirty="0">
                <a:latin typeface="Montserrat" panose="00000500000000000000" pitchFamily="2" charset="0"/>
              </a:rPr>
              <a:t> – To check for errors or inconsistencies.</a:t>
            </a:r>
          </a:p>
          <a:p>
            <a:pPr marL="285750" indent="-285750">
              <a:buFont typeface="Arial" panose="020B0604020202020204" pitchFamily="34" charset="0"/>
              <a:buChar char="•"/>
            </a:pPr>
            <a:r>
              <a:rPr lang="en-US" sz="1600" b="1" dirty="0">
                <a:latin typeface="Montserrat" panose="00000500000000000000" pitchFamily="2" charset="0"/>
              </a:rPr>
              <a:t>/build-dashboard</a:t>
            </a:r>
            <a:r>
              <a:rPr lang="en-US" sz="1600" dirty="0">
                <a:latin typeface="Montserrat" panose="00000500000000000000" pitchFamily="2" charset="0"/>
              </a:rPr>
              <a:t> – To generate a high-level overview of the data.</a:t>
            </a:r>
          </a:p>
          <a:p>
            <a:pPr marL="285750" indent="-285750">
              <a:buFont typeface="Arial" panose="020B0604020202020204" pitchFamily="34" charset="0"/>
              <a:buChar char="•"/>
            </a:pPr>
            <a:r>
              <a:rPr lang="en-US" sz="1600" b="1" dirty="0">
                <a:latin typeface="Montserrat" panose="00000500000000000000" pitchFamily="2" charset="0"/>
              </a:rPr>
              <a:t>/create-viz</a:t>
            </a:r>
            <a:r>
              <a:rPr lang="en-US" sz="1600" dirty="0">
                <a:latin typeface="Montserrat" panose="00000500000000000000" pitchFamily="2" charset="0"/>
              </a:rPr>
              <a:t> – To generate specific charts and visual representations.</a:t>
            </a:r>
          </a:p>
          <a:p>
            <a:pPr marL="285750" indent="-285750">
              <a:buFont typeface="Arial" panose="020B0604020202020204" pitchFamily="34" charset="0"/>
              <a:buChar char="•"/>
            </a:pPr>
            <a:r>
              <a:rPr lang="en-US" sz="1600" b="1" dirty="0">
                <a:latin typeface="Montserrat" panose="00000500000000000000" pitchFamily="2" charset="0"/>
              </a:rPr>
              <a:t>/statistical-analysis</a:t>
            </a:r>
            <a:r>
              <a:rPr lang="en-US" sz="1600" dirty="0">
                <a:latin typeface="Montserrat" panose="00000500000000000000" pitchFamily="2" charset="0"/>
              </a:rPr>
              <a:t> – To extract deeper mathematical insights and trends.</a:t>
            </a:r>
          </a:p>
        </p:txBody>
      </p:sp>
    </p:spTree>
    <p:extLst>
      <p:ext uri="{BB962C8B-B14F-4D97-AF65-F5344CB8AC3E}">
        <p14:creationId xmlns:p14="http://schemas.microsoft.com/office/powerpoint/2010/main" val="385404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1F462-09E4-FC28-0869-9AE517F2C90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7129A7-2F27-7938-91F5-D7C4D4E5C8D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21D2732A-65FB-01E6-38E3-1F34BB94DED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6366885-BF1B-7746-2F38-1485BD19F57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Practical Demo</a:t>
            </a:r>
          </a:p>
        </p:txBody>
      </p:sp>
      <p:sp>
        <p:nvSpPr>
          <p:cNvPr id="9" name="TextBox 8">
            <a:extLst>
              <a:ext uri="{FF2B5EF4-FFF2-40B4-BE49-F238E27FC236}">
                <a16:creationId xmlns:a16="http://schemas.microsoft.com/office/drawing/2014/main" id="{63A3D5DA-E9BB-504B-19FF-B32D4990636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B539C5A1-A229-1DBD-02B9-572DA39FF21B}"/>
              </a:ext>
            </a:extLst>
          </p:cNvPr>
          <p:cNvPicPr>
            <a:picLocks noChangeAspect="1"/>
          </p:cNvPicPr>
          <p:nvPr/>
        </p:nvPicPr>
        <p:blipFill>
          <a:blip r:embed="rId4"/>
          <a:stretch>
            <a:fillRect/>
          </a:stretch>
        </p:blipFill>
        <p:spPr>
          <a:xfrm>
            <a:off x="2186722" y="1322104"/>
            <a:ext cx="8252678" cy="4277271"/>
          </a:xfrm>
          <a:prstGeom prst="rect">
            <a:avLst/>
          </a:prstGeom>
        </p:spPr>
      </p:pic>
    </p:spTree>
    <p:extLst>
      <p:ext uri="{BB962C8B-B14F-4D97-AF65-F5344CB8AC3E}">
        <p14:creationId xmlns:p14="http://schemas.microsoft.com/office/powerpoint/2010/main" val="2248210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AE2FF-4D12-4AB1-15B0-8A29A91DED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525B21C-D142-6C03-A874-B625D81DE3EB}"/>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56AFCD39-ED58-E3C5-7A44-D7E72D79F9A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F35A18A5-C4F6-75C9-5311-82839B79873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sp>
        <p:nvSpPr>
          <p:cNvPr id="9" name="TextBox 8">
            <a:extLst>
              <a:ext uri="{FF2B5EF4-FFF2-40B4-BE49-F238E27FC236}">
                <a16:creationId xmlns:a16="http://schemas.microsoft.com/office/drawing/2014/main" id="{F3E02713-A81E-E51E-4CB0-5F44106D663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F4D57A0B-6730-2D3A-4A99-C7668329DA13}"/>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6849106E-94D0-A5D7-DCD2-89478663F491}"/>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077EFFCC-8FDE-188B-11B7-E6FF17D59EAF}"/>
              </a:ext>
            </a:extLst>
          </p:cNvPr>
          <p:cNvSpPr txBox="1"/>
          <p:nvPr/>
        </p:nvSpPr>
        <p:spPr>
          <a:xfrm>
            <a:off x="153409" y="907669"/>
            <a:ext cx="8905799" cy="830997"/>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Using the data plugin in Claude </a:t>
            </a:r>
            <a:r>
              <a:rPr lang="en-US" sz="1600" dirty="0" err="1">
                <a:latin typeface="Montserrat" panose="00000500000000000000" pitchFamily="2" charset="0"/>
              </a:rPr>
              <a:t>Cowork</a:t>
            </a:r>
            <a:r>
              <a:rPr lang="en-US" sz="1600" dirty="0">
                <a:latin typeface="Montserrat" panose="00000500000000000000" pitchFamily="2" charset="0"/>
              </a:rPr>
              <a:t>, perform data visualization on the sales_data.xlsx</a:t>
            </a:r>
          </a:p>
          <a:p>
            <a:pPr marL="285750" indent="-285750">
              <a:buFont typeface="Arial" panose="020B0604020202020204" pitchFamily="34" charset="0"/>
              <a:buChar char="•"/>
            </a:pPr>
            <a:r>
              <a:rPr lang="en-US" sz="1600" dirty="0">
                <a:latin typeface="Montserrat" panose="00000500000000000000" pitchFamily="2" charset="0"/>
              </a:rPr>
              <a:t>Analyze the results and perform a sanity check</a:t>
            </a:r>
            <a:endParaRPr lang="en-US" sz="1400" dirty="0">
              <a:latin typeface="Montserrat" panose="00000500000000000000" pitchFamily="2" charset="0"/>
            </a:endParaRPr>
          </a:p>
        </p:txBody>
      </p:sp>
      <p:pic>
        <p:nvPicPr>
          <p:cNvPr id="2" name="Picture 1">
            <a:extLst>
              <a:ext uri="{FF2B5EF4-FFF2-40B4-BE49-F238E27FC236}">
                <a16:creationId xmlns:a16="http://schemas.microsoft.com/office/drawing/2014/main" id="{ADC4654B-1C83-9908-9DE5-0BFEBA41709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spTree>
    <p:extLst>
      <p:ext uri="{BB962C8B-B14F-4D97-AF65-F5344CB8AC3E}">
        <p14:creationId xmlns:p14="http://schemas.microsoft.com/office/powerpoint/2010/main" val="38192317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83F7F-D3C9-8D1B-3465-F4C6EBBD99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704F9E8-EBB5-6BF0-72C8-1DE9C8F8DD05}"/>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3C6079C-84D8-4A84-14D8-28557400FC1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634119B6-C96C-1DDA-EFAA-1B3118CB0FE5}"/>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pic>
        <p:nvPicPr>
          <p:cNvPr id="5" name="Picture 4">
            <a:extLst>
              <a:ext uri="{FF2B5EF4-FFF2-40B4-BE49-F238E27FC236}">
                <a16:creationId xmlns:a16="http://schemas.microsoft.com/office/drawing/2014/main" id="{8D25CA05-A14C-07BB-785F-02746E24C234}"/>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57612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0FAD-A298-6B51-81EB-E470178251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E2E8FE7-37DD-B634-9309-E70C5ECCD9D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8F5E8570-8935-0EEA-C40B-14749CFBEBB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FEC936C-257A-8EA3-F9B1-EEC1E13E2067}"/>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Claude Data Plugin</a:t>
            </a:r>
          </a:p>
        </p:txBody>
      </p:sp>
      <p:sp>
        <p:nvSpPr>
          <p:cNvPr id="9" name="TextBox 8">
            <a:extLst>
              <a:ext uri="{FF2B5EF4-FFF2-40B4-BE49-F238E27FC236}">
                <a16:creationId xmlns:a16="http://schemas.microsoft.com/office/drawing/2014/main" id="{B3C814A0-2851-0248-A8E6-1EAC997C0C2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Box 1">
            <a:extLst>
              <a:ext uri="{FF2B5EF4-FFF2-40B4-BE49-F238E27FC236}">
                <a16:creationId xmlns:a16="http://schemas.microsoft.com/office/drawing/2014/main" id="{A6A1CFB5-DE0B-5646-4735-FB683E79F6B6}"/>
              </a:ext>
            </a:extLst>
          </p:cNvPr>
          <p:cNvSpPr txBox="1"/>
          <p:nvPr/>
        </p:nvSpPr>
        <p:spPr>
          <a:xfrm>
            <a:off x="154723" y="1065829"/>
            <a:ext cx="9539535" cy="2862322"/>
          </a:xfrm>
          <a:prstGeom prst="rect">
            <a:avLst/>
          </a:prstGeom>
          <a:noFill/>
        </p:spPr>
        <p:txBody>
          <a:bodyPr wrap="square">
            <a:spAutoFit/>
          </a:bodyPr>
          <a:lstStyle/>
          <a:p>
            <a:r>
              <a:rPr lang="en-US" b="1" dirty="0"/>
              <a:t>Scenario:</a:t>
            </a:r>
            <a:r>
              <a:rPr lang="en-US" dirty="0"/>
              <a:t> You are a Data Analyst for a tech brand. Use the </a:t>
            </a:r>
            <a:r>
              <a:rPr lang="en-US" b="1" dirty="0"/>
              <a:t>Data plugin</a:t>
            </a:r>
            <a:r>
              <a:rPr lang="en-US" dirty="0"/>
              <a:t> to analyze “</a:t>
            </a:r>
            <a:r>
              <a:rPr lang="en-US" i="1" dirty="0"/>
              <a:t>reviews.xlsx</a:t>
            </a:r>
            <a:r>
              <a:rPr lang="en-US" dirty="0"/>
              <a:t>” and present your findings to the product team.</a:t>
            </a:r>
          </a:p>
          <a:p>
            <a:endParaRPr lang="en-US" dirty="0"/>
          </a:p>
          <a:p>
            <a:r>
              <a:rPr lang="en-US" b="1" dirty="0"/>
              <a:t>Tasks</a:t>
            </a:r>
          </a:p>
          <a:p>
            <a:pPr marL="285750" indent="-285750">
              <a:buFont typeface="Arial" panose="020B0604020202020204" pitchFamily="34" charset="0"/>
              <a:buChar char="•"/>
            </a:pPr>
            <a:r>
              <a:rPr lang="en-US" b="1" dirty="0"/>
              <a:t>Exploratory Analysis:</a:t>
            </a:r>
            <a:r>
              <a:rPr lang="en-US" dirty="0"/>
              <a:t> Visualize the distribution of star ratings and generate a statistical summary (mean, median, outliers).</a:t>
            </a:r>
          </a:p>
          <a:p>
            <a:pPr marL="285750" indent="-285750">
              <a:buFont typeface="Arial" panose="020B0604020202020204" pitchFamily="34" charset="0"/>
              <a:buChar char="•"/>
            </a:pPr>
            <a:r>
              <a:rPr lang="en-US" b="1" dirty="0"/>
              <a:t>Dashboarding:</a:t>
            </a:r>
            <a:r>
              <a:rPr lang="en-US" dirty="0"/>
              <a:t> Create a single-page dashboard showing review volume and average sentiment.</a:t>
            </a:r>
          </a:p>
          <a:p>
            <a:pPr marL="285750" indent="-285750">
              <a:buFont typeface="Arial" panose="020B0604020202020204" pitchFamily="34" charset="0"/>
              <a:buChar char="•"/>
            </a:pPr>
            <a:r>
              <a:rPr lang="en-US" b="1" dirty="0"/>
              <a:t>Text Mining:</a:t>
            </a:r>
            <a:r>
              <a:rPr lang="en-US" dirty="0"/>
              <a:t> Clean the </a:t>
            </a:r>
            <a:r>
              <a:rPr lang="en-US" dirty="0" err="1"/>
              <a:t>Verified_reviews</a:t>
            </a:r>
            <a:r>
              <a:rPr lang="en-US" dirty="0"/>
              <a:t> column and plot a </a:t>
            </a:r>
            <a:r>
              <a:rPr lang="en-US" b="1" dirty="0"/>
              <a:t>Word Cloud</a:t>
            </a:r>
            <a:r>
              <a:rPr lang="en-US" dirty="0"/>
              <a:t> to identify the most frequent customer feedback themes.</a:t>
            </a:r>
          </a:p>
          <a:p>
            <a:pPr marL="285750" indent="-285750">
              <a:buFont typeface="Arial" panose="020B0604020202020204" pitchFamily="34" charset="0"/>
              <a:buChar char="•"/>
            </a:pPr>
            <a:r>
              <a:rPr lang="en-US" b="1" dirty="0"/>
              <a:t>Reporting:</a:t>
            </a:r>
            <a:r>
              <a:rPr lang="en-US" dirty="0"/>
              <a:t> Generate a 3-slide PowerPoint summary</a:t>
            </a:r>
          </a:p>
        </p:txBody>
      </p:sp>
      <p:pic>
        <p:nvPicPr>
          <p:cNvPr id="1028" name="Picture 4" descr="Logos Download | Claude">
            <a:extLst>
              <a:ext uri="{FF2B5EF4-FFF2-40B4-BE49-F238E27FC236}">
                <a16:creationId xmlns:a16="http://schemas.microsoft.com/office/drawing/2014/main" id="{FD73799B-A86B-EDC2-1B91-38162AFF97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5009" y="5108969"/>
            <a:ext cx="4727211" cy="101499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D2CD9E5-90E7-8EF5-2146-345629808DEA}"/>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503534" y="1066488"/>
            <a:ext cx="2613785" cy="2068258"/>
          </a:xfrm>
          <a:prstGeom prst="rect">
            <a:avLst/>
          </a:prstGeom>
        </p:spPr>
      </p:pic>
    </p:spTree>
    <p:extLst>
      <p:ext uri="{BB962C8B-B14F-4D97-AF65-F5344CB8AC3E}">
        <p14:creationId xmlns:p14="http://schemas.microsoft.com/office/powerpoint/2010/main" val="2614454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5344</TotalTime>
  <Words>2052</Words>
  <Application>Microsoft Office PowerPoint</Application>
  <PresentationFormat>Widescreen</PresentationFormat>
  <Paragraphs>262</Paragraphs>
  <Slides>39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Courier New</vt:lpstr>
      <vt:lpstr>Montserrat</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476</cp:revision>
  <dcterms:created xsi:type="dcterms:W3CDTF">2019-11-18T17:58:36Z</dcterms:created>
  <dcterms:modified xsi:type="dcterms:W3CDTF">2026-03-08T04:01:44Z</dcterms:modified>
</cp:coreProperties>
</file>